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256" r:id="rId2"/>
    <p:sldId id="295" r:id="rId3"/>
    <p:sldId id="296" r:id="rId4"/>
    <p:sldId id="297" r:id="rId5"/>
    <p:sldId id="343" r:id="rId6"/>
    <p:sldId id="344" r:id="rId7"/>
    <p:sldId id="345" r:id="rId8"/>
    <p:sldId id="361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</p:sldIdLst>
  <p:sldSz cx="12192000" cy="6858000"/>
  <p:notesSz cx="12192000" cy="6858000"/>
  <p:embeddedFontLst>
    <p:embeddedFont>
      <p:font typeface="Cambria Math" panose="02040503050406030204" pitchFamily="18" charset="0"/>
      <p:regular r:id="rId19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B1CBA-4DA3-4AD8-A43B-05B50A750C44}" type="datetimeFigureOut">
              <a:rPr lang="en-NZ" smtClean="0"/>
              <a:t>29/07/2026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1B2AA-5DB1-498A-A072-8E62DBE9B28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12085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063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063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063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063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1" y="0"/>
            <a:ext cx="12183888" cy="684988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8492" y="0"/>
            <a:ext cx="2007616" cy="19950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063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32941" y="3036315"/>
            <a:ext cx="6759575" cy="3504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3340112"/>
            <a:ext cx="9182100" cy="2773045"/>
          </a:xfrm>
          <a:prstGeom prst="rect">
            <a:avLst/>
          </a:prstGeom>
          <a:solidFill>
            <a:srgbClr val="F06320">
              <a:alpha val="7999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84074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ENME601</a:t>
            </a:r>
            <a:r>
              <a:rPr sz="2800" b="1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Thermodynamics</a:t>
            </a:r>
            <a:endParaRPr sz="2800" dirty="0">
              <a:latin typeface="Calibri"/>
              <a:cs typeface="Calibri"/>
            </a:endParaRPr>
          </a:p>
          <a:p>
            <a:pPr marL="840740">
              <a:lnSpc>
                <a:spcPct val="100000"/>
              </a:lnSpc>
              <a:spcBef>
                <a:spcPts val="530"/>
              </a:spcBef>
              <a:tabLst>
                <a:tab pos="2115185" algn="l"/>
              </a:tabLst>
            </a:pPr>
            <a:r>
              <a:rPr lang="en-NZ" sz="2400" dirty="0">
                <a:solidFill>
                  <a:srgbClr val="FFFFFF"/>
                </a:solidFill>
                <a:latin typeface="Calibri"/>
                <a:cs typeface="Calibri"/>
              </a:rPr>
              <a:t>Tutorial Session 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400" dirty="0">
              <a:latin typeface="Calibri"/>
              <a:cs typeface="Calibri"/>
            </a:endParaRPr>
          </a:p>
          <a:p>
            <a:pPr marL="84074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Presenter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spc="3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Dr.</a:t>
            </a:r>
            <a:r>
              <a:rPr sz="2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Jay</a:t>
            </a:r>
            <a:r>
              <a:rPr sz="2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Wang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Superheated</a:t>
            </a:r>
            <a:r>
              <a:rPr spc="-150" dirty="0"/>
              <a:t> </a:t>
            </a:r>
            <a:r>
              <a:rPr spc="-20" dirty="0"/>
              <a:t>Vapour</a:t>
            </a:r>
            <a:r>
              <a:rPr spc="-140" dirty="0"/>
              <a:t> </a:t>
            </a:r>
            <a:r>
              <a:rPr spc="-10" dirty="0"/>
              <a:t>Tables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5473" y="1271777"/>
            <a:ext cx="2878835" cy="26568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08175" y="806323"/>
            <a:ext cx="10277475" cy="431228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20"/>
              </a:spcBef>
            </a:pPr>
            <a:r>
              <a:rPr sz="2400" b="1" spc="-20" dirty="0">
                <a:solidFill>
                  <a:srgbClr val="AC0000"/>
                </a:solidFill>
                <a:latin typeface="Calibri"/>
                <a:cs typeface="Calibri"/>
              </a:rPr>
              <a:t>Superheated</a:t>
            </a:r>
            <a:r>
              <a:rPr sz="2400" b="1" spc="-4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latin typeface="Calibri"/>
                <a:cs typeface="Calibri"/>
              </a:rPr>
              <a:t>vapour</a:t>
            </a:r>
            <a:r>
              <a:rPr sz="2400" b="1" spc="-8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latin typeface="Calibri"/>
                <a:cs typeface="Calibri"/>
              </a:rPr>
              <a:t>is</a:t>
            </a:r>
            <a:r>
              <a:rPr sz="2400" b="1" spc="-65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AC0000"/>
                </a:solidFill>
                <a:latin typeface="Calibri"/>
                <a:cs typeface="Calibri"/>
              </a:rPr>
              <a:t>characterised</a:t>
            </a:r>
            <a:r>
              <a:rPr sz="2400" b="1" spc="-7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AC0000"/>
                </a:solidFill>
                <a:latin typeface="Calibri"/>
                <a:cs typeface="Calibri"/>
              </a:rPr>
              <a:t>by</a:t>
            </a:r>
            <a:endParaRPr sz="2400" dirty="0">
              <a:latin typeface="Calibri"/>
              <a:cs typeface="Calibri"/>
            </a:endParaRPr>
          </a:p>
          <a:p>
            <a:pPr marL="264160" indent="-22606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64160" algn="l"/>
              </a:tabLst>
            </a:pPr>
            <a:r>
              <a:rPr sz="2400" dirty="0">
                <a:latin typeface="Calibri"/>
                <a:cs typeface="Calibri"/>
              </a:rPr>
              <a:t>Lower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pressures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&lt;</a:t>
            </a:r>
            <a:r>
              <a:rPr sz="2400" spc="7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625" baseline="-12698" dirty="0">
                <a:latin typeface="Cambria Math"/>
                <a:cs typeface="Cambria Math"/>
              </a:rPr>
              <a:t>sat</a:t>
            </a:r>
            <a:r>
              <a:rPr sz="2625" spc="232" baseline="-12698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𝑇</a:t>
            </a:r>
            <a:r>
              <a:rPr sz="2400" spc="-2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64160" indent="-22606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64160" algn="l"/>
              </a:tabLst>
            </a:pP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temperatures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𝑇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&gt;</a:t>
            </a:r>
            <a:r>
              <a:rPr sz="2400" spc="8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𝑇</a:t>
            </a:r>
            <a:r>
              <a:rPr sz="2625" baseline="-12698" dirty="0">
                <a:latin typeface="Cambria Math"/>
                <a:cs typeface="Cambria Math"/>
              </a:rPr>
              <a:t>sat</a:t>
            </a:r>
            <a:r>
              <a:rPr sz="2625" spc="270" baseline="-12698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𝑃</a:t>
            </a:r>
            <a:r>
              <a:rPr sz="2400" spc="-2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64160" indent="-226060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64160" algn="l"/>
              </a:tabLst>
            </a:pPr>
            <a:r>
              <a:rPr sz="2400" spc="-10" dirty="0">
                <a:latin typeface="Calibri"/>
                <a:cs typeface="Calibri"/>
              </a:rPr>
              <a:t>Higher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volumes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𝑣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&gt;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𝑣</a:t>
            </a:r>
            <a:r>
              <a:rPr sz="2625" baseline="-12698" dirty="0">
                <a:latin typeface="Cambria Math"/>
                <a:cs typeface="Cambria Math"/>
              </a:rPr>
              <a:t>𝑔</a:t>
            </a:r>
            <a:r>
              <a:rPr sz="2625" spc="292" baseline="-12698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𝑃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𝑇</a:t>
            </a:r>
            <a:r>
              <a:rPr sz="2400" spc="-2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64160" indent="-22606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64160" algn="l"/>
              </a:tabLst>
            </a:pP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energies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𝑢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&gt;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𝑢</a:t>
            </a:r>
            <a:r>
              <a:rPr sz="2625" baseline="-12698" dirty="0">
                <a:latin typeface="Cambria Math"/>
                <a:cs typeface="Cambria Math"/>
              </a:rPr>
              <a:t>𝑔</a:t>
            </a:r>
            <a:r>
              <a:rPr sz="2625" spc="307" baseline="-12698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𝑇</a:t>
            </a:r>
            <a:r>
              <a:rPr sz="2400" spc="-2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64160" indent="-22606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264160" algn="l"/>
              </a:tabLst>
            </a:pP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enthalpies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ℎ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&gt;</a:t>
            </a:r>
            <a:r>
              <a:rPr sz="2400" spc="8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ℎ</a:t>
            </a:r>
            <a:r>
              <a:rPr sz="2625" baseline="-12698" dirty="0">
                <a:latin typeface="Cambria Math"/>
                <a:cs typeface="Cambria Math"/>
              </a:rPr>
              <a:t>𝑔</a:t>
            </a:r>
            <a:r>
              <a:rPr sz="2625" spc="352" baseline="-12698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𝑃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𝑇</a:t>
            </a:r>
            <a:r>
              <a:rPr sz="2400" spc="-2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7430134" marR="17780">
              <a:lnSpc>
                <a:spcPct val="88000"/>
              </a:lnSpc>
              <a:spcBef>
                <a:spcPts val="2920"/>
              </a:spcBef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Figure</a:t>
            </a:r>
            <a:r>
              <a:rPr sz="1800" b="1" spc="-10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1F5F"/>
                </a:solidFill>
                <a:latin typeface="Calibri"/>
                <a:cs typeface="Calibri"/>
              </a:rPr>
              <a:t>4–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39:</a:t>
            </a:r>
            <a:r>
              <a:rPr sz="18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specified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P, </a:t>
            </a:r>
            <a:r>
              <a:rPr sz="1800" spc="-20" dirty="0">
                <a:latin typeface="Calibri"/>
                <a:cs typeface="Calibri"/>
              </a:rPr>
              <a:t>superheated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vapour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higher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h</a:t>
            </a:r>
            <a:r>
              <a:rPr sz="1800" i="1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saturated vapour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67400" y="4794250"/>
            <a:ext cx="1377950" cy="406400"/>
            <a:chOff x="5867400" y="4794250"/>
            <a:chExt cx="1377950" cy="406400"/>
          </a:xfrm>
        </p:grpSpPr>
        <p:sp>
          <p:nvSpPr>
            <p:cNvPr id="3" name="object 3"/>
            <p:cNvSpPr/>
            <p:nvPr/>
          </p:nvSpPr>
          <p:spPr>
            <a:xfrm>
              <a:off x="5873750" y="4800600"/>
              <a:ext cx="1365250" cy="393700"/>
            </a:xfrm>
            <a:custGeom>
              <a:avLst/>
              <a:gdLst/>
              <a:ahLst/>
              <a:cxnLst/>
              <a:rect l="l" t="t" r="r" b="b"/>
              <a:pathLst>
                <a:path w="1365250" h="393700">
                  <a:moveTo>
                    <a:pt x="1299590" y="0"/>
                  </a:moveTo>
                  <a:lnTo>
                    <a:pt x="65658" y="0"/>
                  </a:lnTo>
                  <a:lnTo>
                    <a:pt x="40131" y="5207"/>
                  </a:lnTo>
                  <a:lnTo>
                    <a:pt x="19176" y="19177"/>
                  </a:lnTo>
                  <a:lnTo>
                    <a:pt x="5206" y="40132"/>
                  </a:lnTo>
                  <a:lnTo>
                    <a:pt x="0" y="65659"/>
                  </a:lnTo>
                  <a:lnTo>
                    <a:pt x="0" y="328041"/>
                  </a:lnTo>
                  <a:lnTo>
                    <a:pt x="5206" y="353568"/>
                  </a:lnTo>
                  <a:lnTo>
                    <a:pt x="19176" y="374523"/>
                  </a:lnTo>
                  <a:lnTo>
                    <a:pt x="40131" y="388493"/>
                  </a:lnTo>
                  <a:lnTo>
                    <a:pt x="65658" y="393700"/>
                  </a:lnTo>
                  <a:lnTo>
                    <a:pt x="1299590" y="393700"/>
                  </a:lnTo>
                  <a:lnTo>
                    <a:pt x="1325117" y="388493"/>
                  </a:lnTo>
                  <a:lnTo>
                    <a:pt x="1346072" y="374523"/>
                  </a:lnTo>
                  <a:lnTo>
                    <a:pt x="1360042" y="353568"/>
                  </a:lnTo>
                  <a:lnTo>
                    <a:pt x="1365249" y="328041"/>
                  </a:lnTo>
                  <a:lnTo>
                    <a:pt x="1365249" y="65659"/>
                  </a:lnTo>
                  <a:lnTo>
                    <a:pt x="1360042" y="40132"/>
                  </a:lnTo>
                  <a:lnTo>
                    <a:pt x="1346072" y="19177"/>
                  </a:lnTo>
                  <a:lnTo>
                    <a:pt x="1325117" y="5207"/>
                  </a:lnTo>
                  <a:lnTo>
                    <a:pt x="1299590" y="0"/>
                  </a:lnTo>
                  <a:close/>
                </a:path>
              </a:pathLst>
            </a:custGeom>
            <a:solidFill>
              <a:srgbClr val="FFF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873750" y="4800600"/>
              <a:ext cx="1365250" cy="393700"/>
            </a:xfrm>
            <a:custGeom>
              <a:avLst/>
              <a:gdLst/>
              <a:ahLst/>
              <a:cxnLst/>
              <a:rect l="l" t="t" r="r" b="b"/>
              <a:pathLst>
                <a:path w="1365250" h="393700">
                  <a:moveTo>
                    <a:pt x="0" y="65658"/>
                  </a:moveTo>
                  <a:lnTo>
                    <a:pt x="5207" y="40131"/>
                  </a:lnTo>
                  <a:lnTo>
                    <a:pt x="19177" y="19176"/>
                  </a:lnTo>
                  <a:lnTo>
                    <a:pt x="40132" y="5206"/>
                  </a:lnTo>
                  <a:lnTo>
                    <a:pt x="65659" y="0"/>
                  </a:lnTo>
                  <a:lnTo>
                    <a:pt x="1299591" y="0"/>
                  </a:lnTo>
                  <a:lnTo>
                    <a:pt x="1325118" y="5206"/>
                  </a:lnTo>
                  <a:lnTo>
                    <a:pt x="1346073" y="19176"/>
                  </a:lnTo>
                  <a:lnTo>
                    <a:pt x="1360043" y="40131"/>
                  </a:lnTo>
                  <a:lnTo>
                    <a:pt x="1365250" y="65658"/>
                  </a:lnTo>
                  <a:lnTo>
                    <a:pt x="1365250" y="328040"/>
                  </a:lnTo>
                  <a:lnTo>
                    <a:pt x="1360043" y="353567"/>
                  </a:lnTo>
                  <a:lnTo>
                    <a:pt x="1346073" y="374522"/>
                  </a:lnTo>
                  <a:lnTo>
                    <a:pt x="1325118" y="388492"/>
                  </a:lnTo>
                  <a:lnTo>
                    <a:pt x="1299591" y="393699"/>
                  </a:lnTo>
                  <a:lnTo>
                    <a:pt x="65659" y="393699"/>
                  </a:lnTo>
                  <a:lnTo>
                    <a:pt x="40132" y="388492"/>
                  </a:lnTo>
                  <a:lnTo>
                    <a:pt x="19177" y="374522"/>
                  </a:lnTo>
                  <a:lnTo>
                    <a:pt x="5207" y="353567"/>
                  </a:lnTo>
                  <a:lnTo>
                    <a:pt x="0" y="328040"/>
                  </a:lnTo>
                  <a:lnTo>
                    <a:pt x="0" y="65658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Compressed</a:t>
            </a:r>
            <a:r>
              <a:rPr spc="-114" dirty="0"/>
              <a:t> </a:t>
            </a:r>
            <a:r>
              <a:rPr spc="-10" dirty="0"/>
              <a:t>Liquid</a:t>
            </a:r>
          </a:p>
        </p:txBody>
      </p:sp>
      <p:sp>
        <p:nvSpPr>
          <p:cNvPr id="6" name="object 6"/>
          <p:cNvSpPr/>
          <p:nvPr/>
        </p:nvSpPr>
        <p:spPr>
          <a:xfrm>
            <a:off x="8082406" y="6036360"/>
            <a:ext cx="93980" cy="282575"/>
          </a:xfrm>
          <a:custGeom>
            <a:avLst/>
            <a:gdLst/>
            <a:ahLst/>
            <a:cxnLst/>
            <a:rect l="l" t="t" r="r" b="b"/>
            <a:pathLst>
              <a:path w="93979" h="282575">
                <a:moveTo>
                  <a:pt x="3936" y="0"/>
                </a:moveTo>
                <a:lnTo>
                  <a:pt x="0" y="11455"/>
                </a:lnTo>
                <a:lnTo>
                  <a:pt x="16255" y="18554"/>
                </a:lnTo>
                <a:lnTo>
                  <a:pt x="30352" y="28371"/>
                </a:lnTo>
                <a:lnTo>
                  <a:pt x="58927" y="73875"/>
                </a:lnTo>
                <a:lnTo>
                  <a:pt x="67182" y="115354"/>
                </a:lnTo>
                <a:lnTo>
                  <a:pt x="68325" y="139750"/>
                </a:lnTo>
                <a:lnTo>
                  <a:pt x="67309" y="164642"/>
                </a:lnTo>
                <a:lnTo>
                  <a:pt x="58927" y="207581"/>
                </a:lnTo>
                <a:lnTo>
                  <a:pt x="30352" y="253822"/>
                </a:lnTo>
                <a:lnTo>
                  <a:pt x="380" y="270865"/>
                </a:lnTo>
                <a:lnTo>
                  <a:pt x="3936" y="282321"/>
                </a:lnTo>
                <a:lnTo>
                  <a:pt x="42417" y="264261"/>
                </a:lnTo>
                <a:lnTo>
                  <a:pt x="70738" y="232994"/>
                </a:lnTo>
                <a:lnTo>
                  <a:pt x="88137" y="191109"/>
                </a:lnTo>
                <a:lnTo>
                  <a:pt x="93979" y="141236"/>
                </a:lnTo>
                <a:lnTo>
                  <a:pt x="92582" y="115354"/>
                </a:lnTo>
                <a:lnTo>
                  <a:pt x="80898" y="69481"/>
                </a:lnTo>
                <a:lnTo>
                  <a:pt x="57784" y="32131"/>
                </a:lnTo>
                <a:lnTo>
                  <a:pt x="24383" y="7391"/>
                </a:lnTo>
                <a:lnTo>
                  <a:pt x="39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31532" y="6036360"/>
            <a:ext cx="94615" cy="282575"/>
          </a:xfrm>
          <a:custGeom>
            <a:avLst/>
            <a:gdLst/>
            <a:ahLst/>
            <a:cxnLst/>
            <a:rect l="l" t="t" r="r" b="b"/>
            <a:pathLst>
              <a:path w="94615" h="282575">
                <a:moveTo>
                  <a:pt x="90043" y="0"/>
                </a:moveTo>
                <a:lnTo>
                  <a:pt x="51689" y="18097"/>
                </a:lnTo>
                <a:lnTo>
                  <a:pt x="23241" y="49491"/>
                </a:lnTo>
                <a:lnTo>
                  <a:pt x="5842" y="91440"/>
                </a:lnTo>
                <a:lnTo>
                  <a:pt x="0" y="141236"/>
                </a:lnTo>
                <a:lnTo>
                  <a:pt x="1397" y="167170"/>
                </a:lnTo>
                <a:lnTo>
                  <a:pt x="13081" y="213055"/>
                </a:lnTo>
                <a:lnTo>
                  <a:pt x="36068" y="250278"/>
                </a:lnTo>
                <a:lnTo>
                  <a:pt x="69469" y="274942"/>
                </a:lnTo>
                <a:lnTo>
                  <a:pt x="90043" y="282321"/>
                </a:lnTo>
                <a:lnTo>
                  <a:pt x="93599" y="270865"/>
                </a:lnTo>
                <a:lnTo>
                  <a:pt x="77597" y="263740"/>
                </a:lnTo>
                <a:lnTo>
                  <a:pt x="63627" y="253822"/>
                </a:lnTo>
                <a:lnTo>
                  <a:pt x="35179" y="207581"/>
                </a:lnTo>
                <a:lnTo>
                  <a:pt x="26797" y="164642"/>
                </a:lnTo>
                <a:lnTo>
                  <a:pt x="25781" y="139750"/>
                </a:lnTo>
                <a:lnTo>
                  <a:pt x="26797" y="115658"/>
                </a:lnTo>
                <a:lnTo>
                  <a:pt x="35179" y="73875"/>
                </a:lnTo>
                <a:lnTo>
                  <a:pt x="63754" y="28371"/>
                </a:lnTo>
                <a:lnTo>
                  <a:pt x="94107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21130" y="879475"/>
            <a:ext cx="10078085" cy="5506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460" indent="-226060">
              <a:lnSpc>
                <a:spcPts val="2780"/>
              </a:lnSpc>
              <a:spcBef>
                <a:spcPts val="100"/>
              </a:spcBef>
              <a:buFont typeface="Arial"/>
              <a:buChar char="•"/>
              <a:tabLst>
                <a:tab pos="25146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pressure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greater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625" baseline="-12698" dirty="0">
                <a:latin typeface="Cambria Math"/>
                <a:cs typeface="Cambria Math"/>
              </a:rPr>
              <a:t>𝑠𝑎𝑡</a:t>
            </a:r>
            <a:r>
              <a:rPr sz="2625" spc="337" baseline="-12698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substance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temperature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𝑇</a:t>
            </a:r>
            <a:endParaRPr sz="2400" dirty="0">
              <a:latin typeface="Cambria Math"/>
              <a:cs typeface="Cambria Math"/>
            </a:endParaRPr>
          </a:p>
          <a:p>
            <a:pPr marL="254000">
              <a:lnSpc>
                <a:spcPts val="2780"/>
              </a:lnSpc>
            </a:pPr>
            <a:r>
              <a:rPr sz="2400" dirty="0">
                <a:latin typeface="Calibri"/>
                <a:cs typeface="Calibri"/>
              </a:rPr>
              <a:t>then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AC0000"/>
                </a:solidFill>
                <a:latin typeface="Calibri"/>
                <a:cs typeface="Calibri"/>
              </a:rPr>
              <a:t>compressed</a:t>
            </a:r>
            <a:r>
              <a:rPr sz="2400" b="1" spc="-8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latin typeface="Calibri"/>
                <a:cs typeface="Calibri"/>
              </a:rPr>
              <a:t>liquid</a:t>
            </a:r>
            <a:r>
              <a:rPr sz="2400" b="1" spc="-65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AC0000"/>
                </a:solidFill>
                <a:latin typeface="Calibri"/>
                <a:cs typeface="Calibri"/>
              </a:rPr>
              <a:t>condition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51460" indent="-226060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51460" algn="l"/>
              </a:tabLst>
            </a:pPr>
            <a:r>
              <a:rPr sz="2400" dirty="0">
                <a:latin typeface="Calibri"/>
                <a:cs typeface="Calibri"/>
              </a:rPr>
              <a:t>At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pressures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common)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A7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used.</a:t>
            </a:r>
            <a:endParaRPr sz="2400" dirty="0">
              <a:latin typeface="Calibri"/>
              <a:cs typeface="Calibri"/>
            </a:endParaRPr>
          </a:p>
          <a:p>
            <a:pPr marL="250825" marR="686435" indent="-226060">
              <a:lnSpc>
                <a:spcPts val="2590"/>
              </a:lnSpc>
              <a:spcBef>
                <a:spcPts val="1050"/>
              </a:spcBef>
              <a:buFont typeface="Arial"/>
              <a:buChar char="•"/>
              <a:tabLst>
                <a:tab pos="254000" algn="l"/>
              </a:tabLst>
            </a:pPr>
            <a:r>
              <a:rPr sz="2400" dirty="0">
                <a:latin typeface="Calibri"/>
                <a:cs typeface="Calibri"/>
              </a:rPr>
              <a:t>At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lower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pressures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properties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compressed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liquid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relatively 	</a:t>
            </a:r>
            <a:r>
              <a:rPr sz="2400" spc="-20" dirty="0">
                <a:latin typeface="Calibri"/>
                <a:cs typeface="Calibri"/>
              </a:rPr>
              <a:t>independent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pressure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AC0000"/>
                </a:solidFill>
                <a:latin typeface="Calibri"/>
                <a:cs typeface="Calibri"/>
              </a:rPr>
              <a:t>strongly</a:t>
            </a:r>
            <a:r>
              <a:rPr sz="2400" b="1" spc="-95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latin typeface="Calibri"/>
                <a:cs typeface="Calibri"/>
              </a:rPr>
              <a:t>dependent</a:t>
            </a:r>
            <a:r>
              <a:rPr sz="2400" b="1" spc="-5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latin typeface="Calibri"/>
                <a:cs typeface="Calibri"/>
              </a:rPr>
              <a:t>on</a:t>
            </a:r>
            <a:r>
              <a:rPr sz="2400" b="1" spc="-12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AC0000"/>
                </a:solidFill>
                <a:latin typeface="Calibri"/>
                <a:cs typeface="Calibri"/>
              </a:rPr>
              <a:t>temperature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50825" marR="17780" indent="-226060">
              <a:lnSpc>
                <a:spcPts val="2700"/>
              </a:lnSpc>
              <a:spcBef>
                <a:spcPts val="735"/>
              </a:spcBef>
              <a:buFont typeface="Arial"/>
              <a:buChar char="•"/>
              <a:tabLst>
                <a:tab pos="254000" algn="l"/>
              </a:tabLst>
            </a:pP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As</a:t>
            </a:r>
            <a:r>
              <a:rPr sz="2400" spc="-7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an</a:t>
            </a:r>
            <a:r>
              <a:rPr sz="2400" spc="-8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20" dirty="0">
                <a:highlight>
                  <a:srgbClr val="FFFF00"/>
                </a:highlight>
                <a:latin typeface="Calibri"/>
                <a:cs typeface="Calibri"/>
              </a:rPr>
              <a:t>approximation</a:t>
            </a:r>
            <a:r>
              <a:rPr sz="2400" spc="-8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we</a:t>
            </a:r>
            <a:r>
              <a:rPr sz="2400" spc="-6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can</a:t>
            </a:r>
            <a:r>
              <a:rPr sz="2400" spc="-7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treat</a:t>
            </a:r>
            <a:r>
              <a:rPr sz="2400" b="1" spc="-50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a</a:t>
            </a:r>
            <a:r>
              <a:rPr sz="2400" b="1" spc="-65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compressed</a:t>
            </a:r>
            <a:r>
              <a:rPr sz="2400" b="1" spc="-90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liquid</a:t>
            </a:r>
            <a:r>
              <a:rPr sz="2400" b="1" spc="-70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like</a:t>
            </a:r>
            <a:r>
              <a:rPr sz="2400" b="1" spc="-75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a</a:t>
            </a:r>
            <a:r>
              <a:rPr sz="2400" b="1" spc="-65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saturated</a:t>
            </a:r>
            <a:r>
              <a:rPr sz="2400" b="1" spc="-35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liquid</a:t>
            </a:r>
            <a:r>
              <a:rPr sz="2400" b="1" spc="-60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at 	</a:t>
            </a:r>
            <a:r>
              <a:rPr sz="2400" b="1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sz="2400" b="1" spc="-95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same</a:t>
            </a:r>
            <a:r>
              <a:rPr sz="2400" b="1" spc="-125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AC0000"/>
                </a:solidFill>
                <a:highlight>
                  <a:srgbClr val="FFFF00"/>
                </a:highlight>
                <a:latin typeface="Calibri"/>
                <a:cs typeface="Calibri"/>
              </a:rPr>
              <a:t>temperature.</a:t>
            </a:r>
            <a:endParaRPr sz="24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250825" marR="193675" indent="-226060" algn="just">
              <a:lnSpc>
                <a:spcPct val="90200"/>
              </a:lnSpc>
              <a:spcBef>
                <a:spcPts val="955"/>
              </a:spcBef>
              <a:buFont typeface="Arial"/>
              <a:buChar char="•"/>
              <a:tabLst>
                <a:tab pos="254000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property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(=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𝑣,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𝑢,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ℎ,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𝑠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highlight>
                  <a:srgbClr val="FFFF00"/>
                </a:highlight>
                <a:latin typeface="Calibri"/>
                <a:cs typeface="Calibri"/>
              </a:rPr>
              <a:t>compressed</a:t>
            </a:r>
            <a:r>
              <a:rPr sz="2400" spc="-5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liquid</a:t>
            </a:r>
            <a:r>
              <a:rPr sz="2400" spc="-3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pressure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𝑃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temperature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𝑇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highlight>
                  <a:srgbClr val="FFFF00"/>
                </a:highlight>
                <a:latin typeface="Calibri"/>
                <a:cs typeface="Calibri"/>
              </a:rPr>
              <a:t>saturated</a:t>
            </a:r>
            <a:r>
              <a:rPr sz="2400" spc="-6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liquid</a:t>
            </a:r>
            <a:r>
              <a:rPr sz="2400" spc="-4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value</a:t>
            </a:r>
            <a:r>
              <a:rPr sz="2400" spc="-5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	</a:t>
            </a:r>
            <a:r>
              <a:rPr sz="2400" dirty="0">
                <a:latin typeface="Calibri"/>
                <a:cs typeface="Calibri"/>
              </a:rPr>
              <a:t>property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temperature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𝑇</a:t>
            </a:r>
            <a:r>
              <a:rPr sz="2400" spc="-2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257810" algn="ctr">
              <a:lnSpc>
                <a:spcPts val="2680"/>
              </a:lnSpc>
            </a:pP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≈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𝑦</a:t>
            </a:r>
            <a:r>
              <a:rPr sz="2625" spc="-30" baseline="-12698" dirty="0">
                <a:latin typeface="Cambria Math"/>
                <a:cs typeface="Cambria Math"/>
              </a:rPr>
              <a:t>𝑓@𝑇</a:t>
            </a:r>
            <a:endParaRPr sz="2625" baseline="-12698" dirty="0">
              <a:latin typeface="Cambria Math"/>
              <a:cs typeface="Cambria Math"/>
            </a:endParaRPr>
          </a:p>
          <a:p>
            <a:pPr marL="250825" marR="334010" indent="-226060">
              <a:lnSpc>
                <a:spcPts val="2580"/>
              </a:lnSpc>
              <a:spcBef>
                <a:spcPts val="1190"/>
              </a:spcBef>
              <a:buFont typeface="Arial"/>
              <a:buChar char="•"/>
              <a:tabLst>
                <a:tab pos="2540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enthalpy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ℎ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 accurate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approximation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used.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(We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above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approximation).</a:t>
            </a:r>
            <a:endParaRPr sz="2400" dirty="0">
              <a:latin typeface="Calibri"/>
              <a:cs typeface="Calibri"/>
            </a:endParaRPr>
          </a:p>
          <a:p>
            <a:pPr marL="141605" algn="ctr">
              <a:lnSpc>
                <a:spcPct val="100000"/>
              </a:lnSpc>
              <a:spcBef>
                <a:spcPts val="455"/>
              </a:spcBef>
              <a:tabLst>
                <a:tab pos="2182495" algn="l"/>
              </a:tabLst>
            </a:pPr>
            <a:r>
              <a:rPr sz="2400" dirty="0">
                <a:latin typeface="Cambria Math"/>
                <a:cs typeface="Cambria Math"/>
              </a:rPr>
              <a:t>ℎ</a:t>
            </a:r>
            <a:r>
              <a:rPr sz="2400" spc="1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≈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ℎ</a:t>
            </a:r>
            <a:r>
              <a:rPr sz="2625" baseline="-12698" dirty="0">
                <a:latin typeface="Cambria Math"/>
                <a:cs typeface="Cambria Math"/>
              </a:rPr>
              <a:t>𝑓@ 𝑇</a:t>
            </a:r>
            <a:r>
              <a:rPr sz="2625" spc="412" baseline="-12698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3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𝑣</a:t>
            </a:r>
            <a:r>
              <a:rPr sz="2625" spc="-37" baseline="-12698" dirty="0">
                <a:latin typeface="Cambria Math"/>
                <a:cs typeface="Cambria Math"/>
              </a:rPr>
              <a:t>𝑓</a:t>
            </a:r>
            <a:r>
              <a:rPr sz="2625" baseline="-12698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400" spc="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𝑃</a:t>
            </a:r>
            <a:r>
              <a:rPr sz="2625" spc="-30" baseline="-12698" dirty="0">
                <a:latin typeface="Cambria Math"/>
                <a:cs typeface="Cambria Math"/>
              </a:rPr>
              <a:t>sat</a:t>
            </a:r>
            <a:endParaRPr sz="2625" baseline="-12698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Compressed</a:t>
            </a:r>
            <a:r>
              <a:rPr spc="-114" dirty="0"/>
              <a:t> </a:t>
            </a:r>
            <a:r>
              <a:rPr spc="-10" dirty="0"/>
              <a:t>Liquid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1130" y="806323"/>
            <a:ext cx="6593840" cy="297497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20"/>
              </a:spcBef>
            </a:pPr>
            <a:r>
              <a:rPr sz="2400" b="1" spc="-10" dirty="0">
                <a:solidFill>
                  <a:srgbClr val="AC0000"/>
                </a:solidFill>
                <a:latin typeface="Calibri"/>
                <a:cs typeface="Calibri"/>
              </a:rPr>
              <a:t>Compressed</a:t>
            </a:r>
            <a:r>
              <a:rPr sz="2400" b="1" spc="-9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latin typeface="Calibri"/>
                <a:cs typeface="Calibri"/>
              </a:rPr>
              <a:t>liquids</a:t>
            </a:r>
            <a:r>
              <a:rPr sz="2400" b="1" spc="-65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AC0000"/>
                </a:solidFill>
                <a:latin typeface="Calibri"/>
                <a:cs typeface="Calibri"/>
              </a:rPr>
              <a:t>are</a:t>
            </a:r>
            <a:r>
              <a:rPr sz="2400" b="1" spc="-75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AC0000"/>
                </a:solidFill>
                <a:latin typeface="Calibri"/>
                <a:cs typeface="Calibri"/>
              </a:rPr>
              <a:t>characterised</a:t>
            </a:r>
            <a:r>
              <a:rPr sz="2400" b="1" spc="-10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AC0000"/>
                </a:solidFill>
                <a:latin typeface="Calibri"/>
                <a:cs typeface="Calibri"/>
              </a:rPr>
              <a:t>by:</a:t>
            </a:r>
            <a:endParaRPr sz="2400" dirty="0">
              <a:latin typeface="Calibri"/>
              <a:cs typeface="Calibri"/>
            </a:endParaRPr>
          </a:p>
          <a:p>
            <a:pPr marL="251460" indent="-22606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51460" algn="l"/>
              </a:tabLst>
            </a:pP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pressures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&gt;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625" baseline="-12698" dirty="0">
                <a:latin typeface="Cambria Math"/>
                <a:cs typeface="Cambria Math"/>
              </a:rPr>
              <a:t>sat</a:t>
            </a:r>
            <a:r>
              <a:rPr sz="2625" spc="262" baseline="-12698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𝑇</a:t>
            </a:r>
            <a:r>
              <a:rPr sz="2400" spc="-2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51460" indent="-22606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51460" algn="l"/>
              </a:tabLst>
            </a:pPr>
            <a:r>
              <a:rPr sz="2400" dirty="0">
                <a:latin typeface="Calibri"/>
                <a:cs typeface="Calibri"/>
              </a:rPr>
              <a:t>Lower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temperatures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𝑇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&lt;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𝑇</a:t>
            </a:r>
            <a:r>
              <a:rPr sz="2625" baseline="-12698" dirty="0">
                <a:latin typeface="Cambria Math"/>
                <a:cs typeface="Cambria Math"/>
              </a:rPr>
              <a:t>sat</a:t>
            </a:r>
            <a:r>
              <a:rPr sz="2625" spc="225" baseline="-12698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𝑃</a:t>
            </a:r>
            <a:r>
              <a:rPr sz="2400" spc="-2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51460" indent="-226060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51460" algn="l"/>
              </a:tabLst>
            </a:pPr>
            <a:r>
              <a:rPr sz="2400" dirty="0">
                <a:latin typeface="Calibri"/>
                <a:cs typeface="Calibri"/>
              </a:rPr>
              <a:t>Lower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volumes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𝑣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𝑣</a:t>
            </a:r>
            <a:r>
              <a:rPr sz="2625" baseline="-12698" dirty="0">
                <a:latin typeface="Cambria Math"/>
                <a:cs typeface="Cambria Math"/>
              </a:rPr>
              <a:t>𝑓</a:t>
            </a:r>
            <a:r>
              <a:rPr sz="2625" spc="270" baseline="-12698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𝑇</a:t>
            </a:r>
            <a:r>
              <a:rPr sz="2400" spc="-2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51460" indent="-22606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51460" algn="l"/>
              </a:tabLst>
            </a:pPr>
            <a:r>
              <a:rPr sz="2400" dirty="0">
                <a:latin typeface="Calibri"/>
                <a:cs typeface="Calibri"/>
              </a:rPr>
              <a:t>Lower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internal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energies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𝑢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𝑢</a:t>
            </a:r>
            <a:r>
              <a:rPr sz="2625" baseline="-12698" dirty="0">
                <a:latin typeface="Cambria Math"/>
                <a:cs typeface="Cambria Math"/>
              </a:rPr>
              <a:t>𝑓</a:t>
            </a:r>
            <a:r>
              <a:rPr sz="2625" spc="322" baseline="-12698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𝑃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𝑇</a:t>
            </a:r>
            <a:r>
              <a:rPr sz="2400" spc="-2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51460" indent="-22606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251460" algn="l"/>
              </a:tabLst>
            </a:pPr>
            <a:r>
              <a:rPr sz="2400" dirty="0">
                <a:latin typeface="Calibri"/>
                <a:cs typeface="Calibri"/>
              </a:rPr>
              <a:t>Lower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enthalpies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ℎ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ℎ</a:t>
            </a:r>
            <a:r>
              <a:rPr sz="2625" baseline="-12698" dirty="0">
                <a:latin typeface="Cambria Math"/>
                <a:cs typeface="Cambria Math"/>
              </a:rPr>
              <a:t>𝑓</a:t>
            </a:r>
            <a:r>
              <a:rPr sz="2625" spc="322" baseline="-12698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𝑇</a:t>
            </a:r>
            <a:r>
              <a:rPr sz="2400" spc="-2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9622" y="1418082"/>
            <a:ext cx="3315080" cy="37075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30894" y="5185409"/>
            <a:ext cx="2959100" cy="56959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2120"/>
              </a:lnSpc>
              <a:spcBef>
                <a:spcPts val="200"/>
              </a:spcBef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Figure</a:t>
            </a:r>
            <a:r>
              <a:rPr sz="18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1F5F"/>
                </a:solidFill>
                <a:latin typeface="Calibri"/>
                <a:cs typeface="Calibri"/>
              </a:rPr>
              <a:t>4–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41:</a:t>
            </a:r>
            <a:r>
              <a:rPr sz="18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compressed </a:t>
            </a:r>
            <a:r>
              <a:rPr sz="1800" dirty="0">
                <a:latin typeface="Calibri"/>
                <a:cs typeface="Calibri"/>
              </a:rPr>
              <a:t>liquid state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34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𝑇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𝑢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libri"/>
                <a:cs typeface="Calibri"/>
              </a:rPr>
              <a:t>diagram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4000" y="4340097"/>
            <a:ext cx="6362572" cy="190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909FF"/>
                </a:solidFill>
                <a:latin typeface="Calibri"/>
                <a:cs typeface="Calibri"/>
              </a:rPr>
              <a:t>For</a:t>
            </a:r>
            <a:r>
              <a:rPr sz="2400" spc="-85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909FF"/>
                </a:solidFill>
                <a:latin typeface="Calibri"/>
                <a:cs typeface="Calibri"/>
              </a:rPr>
              <a:t>a</a:t>
            </a:r>
            <a:r>
              <a:rPr sz="2400" spc="-90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909FF"/>
                </a:solidFill>
                <a:highlight>
                  <a:srgbClr val="FFFF00"/>
                </a:highlight>
                <a:latin typeface="Calibri"/>
                <a:cs typeface="Calibri"/>
              </a:rPr>
              <a:t>compressed</a:t>
            </a:r>
            <a:r>
              <a:rPr sz="2400" spc="-75" dirty="0">
                <a:solidFill>
                  <a:srgbClr val="0909FF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909FF"/>
                </a:solidFill>
                <a:highlight>
                  <a:srgbClr val="FFFF00"/>
                </a:highlight>
                <a:latin typeface="Calibri"/>
                <a:cs typeface="Calibri"/>
              </a:rPr>
              <a:t>liquid</a:t>
            </a:r>
            <a:r>
              <a:rPr sz="2400" spc="-60" dirty="0">
                <a:solidFill>
                  <a:srgbClr val="0909FF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909FF"/>
                </a:solidFill>
                <a:latin typeface="Calibri"/>
                <a:cs typeface="Calibri"/>
              </a:rPr>
              <a:t>at</a:t>
            </a:r>
            <a:r>
              <a:rPr sz="2400" spc="-80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909FF"/>
                </a:solidFill>
                <a:latin typeface="Calibri"/>
                <a:cs typeface="Calibri"/>
              </a:rPr>
              <a:t>a</a:t>
            </a:r>
            <a:r>
              <a:rPr sz="2400" spc="-80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909FF"/>
                </a:solidFill>
                <a:latin typeface="Calibri"/>
                <a:cs typeface="Calibri"/>
              </a:rPr>
              <a:t>given</a:t>
            </a:r>
            <a:r>
              <a:rPr sz="2400" spc="-75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909FF"/>
                </a:solidFill>
                <a:latin typeface="Calibri"/>
                <a:cs typeface="Calibri"/>
              </a:rPr>
              <a:t>temperature,</a:t>
            </a:r>
            <a:r>
              <a:rPr sz="2400" spc="-70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909FF"/>
                </a:solidFill>
                <a:latin typeface="Cambria Math"/>
                <a:cs typeface="Cambria Math"/>
              </a:rPr>
              <a:t>𝑇</a:t>
            </a:r>
            <a:endParaRPr sz="240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solidFill>
                  <a:srgbClr val="0909FF"/>
                </a:solidFill>
                <a:latin typeface="Calibri"/>
                <a:cs typeface="Calibri"/>
              </a:rPr>
              <a:t>and</a:t>
            </a:r>
            <a:r>
              <a:rPr sz="2400" spc="-85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909FF"/>
                </a:solidFill>
                <a:latin typeface="Calibri"/>
                <a:cs typeface="Calibri"/>
              </a:rPr>
              <a:t>pressure,</a:t>
            </a:r>
            <a:r>
              <a:rPr sz="2400" spc="-65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𝑃</a:t>
            </a:r>
            <a:r>
              <a:rPr sz="2400" spc="-25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0909FF"/>
                </a:solid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112395" algn="ctr">
              <a:lnSpc>
                <a:spcPct val="100000"/>
              </a:lnSpc>
            </a:pP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𝑣</a:t>
            </a:r>
            <a:r>
              <a:rPr sz="2400" spc="140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=</a:t>
            </a:r>
            <a:r>
              <a:rPr sz="2400" spc="70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𝑣</a:t>
            </a:r>
            <a:r>
              <a:rPr sz="2625" baseline="-12698" dirty="0">
                <a:solidFill>
                  <a:srgbClr val="0909FF"/>
                </a:solidFill>
                <a:latin typeface="Cambria Math"/>
                <a:cs typeface="Cambria Math"/>
              </a:rPr>
              <a:t>𝑓</a:t>
            </a:r>
            <a:r>
              <a:rPr sz="2625" spc="345" baseline="-12698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909FF"/>
                </a:solidFill>
                <a:latin typeface="Calibri"/>
                <a:cs typeface="Calibri"/>
              </a:rPr>
              <a:t>at</a:t>
            </a:r>
            <a:r>
              <a:rPr sz="2400" spc="-65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909FF"/>
                </a:solidFill>
                <a:latin typeface="Calibri"/>
                <a:cs typeface="Calibri"/>
              </a:rPr>
              <a:t>temperature</a:t>
            </a:r>
            <a:r>
              <a:rPr sz="2400" spc="-60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𝑇</a:t>
            </a:r>
            <a:r>
              <a:rPr sz="2400" spc="20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909FF"/>
                </a:solidFill>
                <a:latin typeface="Calibri"/>
                <a:cs typeface="Calibri"/>
              </a:rPr>
              <a:t>(table</a:t>
            </a:r>
            <a:r>
              <a:rPr sz="2400" spc="-90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909FF"/>
                </a:solidFill>
                <a:latin typeface="Calibri"/>
                <a:cs typeface="Calibri"/>
              </a:rPr>
              <a:t>A-4)</a:t>
            </a:r>
            <a:endParaRPr sz="2400" dirty="0">
              <a:latin typeface="Calibri"/>
              <a:cs typeface="Calibri"/>
            </a:endParaRPr>
          </a:p>
          <a:p>
            <a:pPr marL="111125" algn="ctr">
              <a:lnSpc>
                <a:spcPct val="100000"/>
              </a:lnSpc>
              <a:spcBef>
                <a:spcPts val="190"/>
              </a:spcBef>
            </a:pP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𝑢</a:t>
            </a:r>
            <a:r>
              <a:rPr sz="2400" spc="135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=</a:t>
            </a:r>
            <a:r>
              <a:rPr sz="2400" spc="90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𝑢</a:t>
            </a:r>
            <a:r>
              <a:rPr sz="2625" baseline="-12698" dirty="0">
                <a:solidFill>
                  <a:srgbClr val="0909FF"/>
                </a:solidFill>
                <a:latin typeface="Cambria Math"/>
                <a:cs typeface="Cambria Math"/>
              </a:rPr>
              <a:t>𝑓</a:t>
            </a:r>
            <a:r>
              <a:rPr sz="2625" spc="375" baseline="-12698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909FF"/>
                </a:solidFill>
                <a:latin typeface="Calibri"/>
                <a:cs typeface="Calibri"/>
              </a:rPr>
              <a:t>at</a:t>
            </a:r>
            <a:r>
              <a:rPr sz="2400" spc="-50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909FF"/>
                </a:solidFill>
                <a:latin typeface="Calibri"/>
                <a:cs typeface="Calibri"/>
              </a:rPr>
              <a:t>temperature</a:t>
            </a:r>
            <a:r>
              <a:rPr sz="2400" spc="-55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𝑇</a:t>
            </a:r>
            <a:r>
              <a:rPr sz="2400" spc="25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909FF"/>
                </a:solidFill>
                <a:latin typeface="Calibri"/>
                <a:cs typeface="Calibri"/>
              </a:rPr>
              <a:t>(table</a:t>
            </a:r>
            <a:r>
              <a:rPr sz="2400" spc="-70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909FF"/>
                </a:solidFill>
                <a:latin typeface="Calibri"/>
                <a:cs typeface="Calibri"/>
              </a:rPr>
              <a:t>A-4)</a:t>
            </a:r>
            <a:endParaRPr sz="2400" dirty="0">
              <a:latin typeface="Calibri"/>
              <a:cs typeface="Calibri"/>
            </a:endParaRPr>
          </a:p>
          <a:p>
            <a:pPr marL="111125" algn="ctr">
              <a:lnSpc>
                <a:spcPct val="100000"/>
              </a:lnSpc>
              <a:spcBef>
                <a:spcPts val="204"/>
              </a:spcBef>
            </a:pP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ℎ</a:t>
            </a:r>
            <a:r>
              <a:rPr sz="2400" spc="120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=</a:t>
            </a:r>
            <a:r>
              <a:rPr sz="2400" spc="80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ℎ</a:t>
            </a:r>
            <a:r>
              <a:rPr sz="2625" baseline="-12698" dirty="0">
                <a:solidFill>
                  <a:srgbClr val="0909FF"/>
                </a:solidFill>
                <a:latin typeface="Cambria Math"/>
                <a:cs typeface="Cambria Math"/>
              </a:rPr>
              <a:t>𝑓</a:t>
            </a:r>
            <a:r>
              <a:rPr sz="2625" spc="375" baseline="-12698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909FF"/>
                </a:solidFill>
                <a:latin typeface="Calibri"/>
                <a:cs typeface="Calibri"/>
              </a:rPr>
              <a:t>at</a:t>
            </a:r>
            <a:r>
              <a:rPr sz="2400" spc="-70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909FF"/>
                </a:solidFill>
                <a:latin typeface="Calibri"/>
                <a:cs typeface="Calibri"/>
              </a:rPr>
              <a:t>temperature</a:t>
            </a:r>
            <a:r>
              <a:rPr sz="2400" spc="-65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909FF"/>
                </a:solidFill>
                <a:latin typeface="Cambria Math"/>
                <a:cs typeface="Cambria Math"/>
              </a:rPr>
              <a:t>𝑇</a:t>
            </a:r>
            <a:r>
              <a:rPr sz="2400" spc="15" dirty="0">
                <a:solidFill>
                  <a:srgbClr val="0909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909FF"/>
                </a:solidFill>
                <a:latin typeface="Calibri"/>
                <a:cs typeface="Calibri"/>
              </a:rPr>
              <a:t>(table</a:t>
            </a:r>
            <a:r>
              <a:rPr sz="2400" spc="-75" dirty="0">
                <a:solidFill>
                  <a:srgbClr val="0909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909FF"/>
                </a:solidFill>
                <a:latin typeface="Calibri"/>
                <a:cs typeface="Calibri"/>
              </a:rPr>
              <a:t>A-4)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32941" y="220802"/>
            <a:ext cx="7871459" cy="494366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90"/>
              </a:spcBef>
            </a:pPr>
            <a:r>
              <a:rPr sz="2400" spc="-10" dirty="0">
                <a:latin typeface="Times New Roman"/>
                <a:cs typeface="Times New Roman"/>
              </a:rPr>
              <a:t>Interpolation</a:t>
            </a:r>
            <a:r>
              <a:rPr lang="en-NZ" sz="2400" spc="-10" dirty="0">
                <a:latin typeface="Times New Roman"/>
                <a:cs typeface="Times New Roman"/>
              </a:rPr>
              <a:t> (1)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85215" y="1406131"/>
            <a:ext cx="10021570" cy="2997200"/>
            <a:chOff x="437883" y="1464666"/>
            <a:chExt cx="10021570" cy="2997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165" y="1464666"/>
              <a:ext cx="9629818" cy="299684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2170" y="3428974"/>
              <a:ext cx="9738360" cy="462280"/>
            </a:xfrm>
            <a:custGeom>
              <a:avLst/>
              <a:gdLst/>
              <a:ahLst/>
              <a:cxnLst/>
              <a:rect l="l" t="t" r="r" b="b"/>
              <a:pathLst>
                <a:path w="9738360" h="462279">
                  <a:moveTo>
                    <a:pt x="0" y="461670"/>
                  </a:moveTo>
                  <a:lnTo>
                    <a:pt x="9737852" y="461670"/>
                  </a:lnTo>
                  <a:lnTo>
                    <a:pt x="9737852" y="0"/>
                  </a:lnTo>
                  <a:lnTo>
                    <a:pt x="0" y="0"/>
                  </a:lnTo>
                  <a:lnTo>
                    <a:pt x="0" y="461670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35082" y="3041650"/>
              <a:ext cx="524510" cy="448945"/>
            </a:xfrm>
            <a:custGeom>
              <a:avLst/>
              <a:gdLst/>
              <a:ahLst/>
              <a:cxnLst/>
              <a:rect l="l" t="t" r="r" b="b"/>
              <a:pathLst>
                <a:path w="524509" h="448945">
                  <a:moveTo>
                    <a:pt x="0" y="321817"/>
                  </a:moveTo>
                  <a:lnTo>
                    <a:pt x="16764" y="448437"/>
                  </a:lnTo>
                  <a:lnTo>
                    <a:pt x="101202" y="365760"/>
                  </a:lnTo>
                  <a:lnTo>
                    <a:pt x="65405" y="365760"/>
                  </a:lnTo>
                  <a:lnTo>
                    <a:pt x="30225" y="351154"/>
                  </a:lnTo>
                  <a:lnTo>
                    <a:pt x="37087" y="334587"/>
                  </a:lnTo>
                  <a:lnTo>
                    <a:pt x="0" y="321817"/>
                  </a:lnTo>
                  <a:close/>
                </a:path>
                <a:path w="524509" h="448945">
                  <a:moveTo>
                    <a:pt x="37087" y="334587"/>
                  </a:moveTo>
                  <a:lnTo>
                    <a:pt x="30225" y="351154"/>
                  </a:lnTo>
                  <a:lnTo>
                    <a:pt x="65405" y="365760"/>
                  </a:lnTo>
                  <a:lnTo>
                    <a:pt x="73164" y="347008"/>
                  </a:lnTo>
                  <a:lnTo>
                    <a:pt x="37087" y="334587"/>
                  </a:lnTo>
                  <a:close/>
                </a:path>
                <a:path w="524509" h="448945">
                  <a:moveTo>
                    <a:pt x="73164" y="347008"/>
                  </a:moveTo>
                  <a:lnTo>
                    <a:pt x="65405" y="365760"/>
                  </a:lnTo>
                  <a:lnTo>
                    <a:pt x="101202" y="365760"/>
                  </a:lnTo>
                  <a:lnTo>
                    <a:pt x="108076" y="359028"/>
                  </a:lnTo>
                  <a:lnTo>
                    <a:pt x="73164" y="347008"/>
                  </a:lnTo>
                  <a:close/>
                </a:path>
                <a:path w="524509" h="448945">
                  <a:moveTo>
                    <a:pt x="520826" y="0"/>
                  </a:moveTo>
                  <a:lnTo>
                    <a:pt x="474218" y="4952"/>
                  </a:lnTo>
                  <a:lnTo>
                    <a:pt x="428498" y="13715"/>
                  </a:lnTo>
                  <a:lnTo>
                    <a:pt x="383794" y="26035"/>
                  </a:lnTo>
                  <a:lnTo>
                    <a:pt x="340741" y="41783"/>
                  </a:lnTo>
                  <a:lnTo>
                    <a:pt x="299339" y="60705"/>
                  </a:lnTo>
                  <a:lnTo>
                    <a:pt x="259588" y="82803"/>
                  </a:lnTo>
                  <a:lnTo>
                    <a:pt x="221869" y="107823"/>
                  </a:lnTo>
                  <a:lnTo>
                    <a:pt x="186309" y="135762"/>
                  </a:lnTo>
                  <a:lnTo>
                    <a:pt x="153035" y="166370"/>
                  </a:lnTo>
                  <a:lnTo>
                    <a:pt x="122174" y="199644"/>
                  </a:lnTo>
                  <a:lnTo>
                    <a:pt x="93980" y="235076"/>
                  </a:lnTo>
                  <a:lnTo>
                    <a:pt x="68580" y="272923"/>
                  </a:lnTo>
                  <a:lnTo>
                    <a:pt x="45847" y="313436"/>
                  </a:lnTo>
                  <a:lnTo>
                    <a:pt x="37087" y="334587"/>
                  </a:lnTo>
                  <a:lnTo>
                    <a:pt x="73164" y="347008"/>
                  </a:lnTo>
                  <a:lnTo>
                    <a:pt x="80645" y="328929"/>
                  </a:lnTo>
                  <a:lnTo>
                    <a:pt x="80772" y="328929"/>
                  </a:lnTo>
                  <a:lnTo>
                    <a:pt x="101142" y="292735"/>
                  </a:lnTo>
                  <a:lnTo>
                    <a:pt x="123624" y="259209"/>
                  </a:lnTo>
                  <a:lnTo>
                    <a:pt x="152174" y="223206"/>
                  </a:lnTo>
                  <a:lnTo>
                    <a:pt x="178153" y="195164"/>
                  </a:lnTo>
                  <a:lnTo>
                    <a:pt x="179569" y="193799"/>
                  </a:lnTo>
                  <a:lnTo>
                    <a:pt x="179647" y="193619"/>
                  </a:lnTo>
                  <a:lnTo>
                    <a:pt x="180076" y="193180"/>
                  </a:lnTo>
                  <a:lnTo>
                    <a:pt x="180215" y="193180"/>
                  </a:lnTo>
                  <a:lnTo>
                    <a:pt x="194672" y="179311"/>
                  </a:lnTo>
                  <a:lnTo>
                    <a:pt x="227580" y="151257"/>
                  </a:lnTo>
                  <a:lnTo>
                    <a:pt x="260742" y="127272"/>
                  </a:lnTo>
                  <a:lnTo>
                    <a:pt x="297246" y="104874"/>
                  </a:lnTo>
                  <a:lnTo>
                    <a:pt x="336223" y="85191"/>
                  </a:lnTo>
                  <a:lnTo>
                    <a:pt x="355629" y="76910"/>
                  </a:lnTo>
                  <a:lnTo>
                    <a:pt x="374695" y="69541"/>
                  </a:lnTo>
                  <a:lnTo>
                    <a:pt x="395859" y="62229"/>
                  </a:lnTo>
                  <a:lnTo>
                    <a:pt x="415257" y="56400"/>
                  </a:lnTo>
                  <a:lnTo>
                    <a:pt x="436739" y="50872"/>
                  </a:lnTo>
                  <a:lnTo>
                    <a:pt x="437007" y="50872"/>
                  </a:lnTo>
                  <a:lnTo>
                    <a:pt x="458130" y="46354"/>
                  </a:lnTo>
                  <a:lnTo>
                    <a:pt x="457962" y="46354"/>
                  </a:lnTo>
                  <a:lnTo>
                    <a:pt x="479568" y="42672"/>
                  </a:lnTo>
                  <a:lnTo>
                    <a:pt x="479424" y="42672"/>
                  </a:lnTo>
                  <a:lnTo>
                    <a:pt x="500761" y="39970"/>
                  </a:lnTo>
                  <a:lnTo>
                    <a:pt x="500225" y="39970"/>
                  </a:lnTo>
                  <a:lnTo>
                    <a:pt x="524128" y="37846"/>
                  </a:lnTo>
                  <a:lnTo>
                    <a:pt x="520826" y="0"/>
                  </a:lnTo>
                  <a:close/>
                </a:path>
                <a:path w="524509" h="448945">
                  <a:moveTo>
                    <a:pt x="80772" y="328929"/>
                  </a:moveTo>
                  <a:lnTo>
                    <a:pt x="80645" y="328929"/>
                  </a:lnTo>
                  <a:lnTo>
                    <a:pt x="80222" y="329951"/>
                  </a:lnTo>
                  <a:lnTo>
                    <a:pt x="80772" y="328929"/>
                  </a:lnTo>
                  <a:close/>
                </a:path>
                <a:path w="524509" h="448945">
                  <a:moveTo>
                    <a:pt x="179746" y="193619"/>
                  </a:moveTo>
                  <a:lnTo>
                    <a:pt x="179473" y="193799"/>
                  </a:lnTo>
                  <a:lnTo>
                    <a:pt x="178153" y="195164"/>
                  </a:lnTo>
                  <a:lnTo>
                    <a:pt x="179611" y="193799"/>
                  </a:lnTo>
                  <a:lnTo>
                    <a:pt x="179757" y="193619"/>
                  </a:lnTo>
                  <a:close/>
                </a:path>
                <a:path w="524509" h="448945">
                  <a:moveTo>
                    <a:pt x="180215" y="193180"/>
                  </a:moveTo>
                  <a:lnTo>
                    <a:pt x="180076" y="193180"/>
                  </a:lnTo>
                  <a:lnTo>
                    <a:pt x="179746" y="193619"/>
                  </a:lnTo>
                  <a:lnTo>
                    <a:pt x="180215" y="193180"/>
                  </a:lnTo>
                  <a:close/>
                </a:path>
                <a:path w="524509" h="448945">
                  <a:moveTo>
                    <a:pt x="355624" y="76910"/>
                  </a:moveTo>
                  <a:lnTo>
                    <a:pt x="354818" y="77171"/>
                  </a:lnTo>
                  <a:lnTo>
                    <a:pt x="353667" y="77668"/>
                  </a:lnTo>
                  <a:lnTo>
                    <a:pt x="355624" y="76910"/>
                  </a:lnTo>
                  <a:close/>
                </a:path>
                <a:path w="524509" h="448945">
                  <a:moveTo>
                    <a:pt x="437007" y="50872"/>
                  </a:moveTo>
                  <a:lnTo>
                    <a:pt x="436739" y="50872"/>
                  </a:lnTo>
                  <a:lnTo>
                    <a:pt x="435419" y="51212"/>
                  </a:lnTo>
                  <a:lnTo>
                    <a:pt x="437007" y="50872"/>
                  </a:lnTo>
                  <a:close/>
                </a:path>
                <a:path w="524509" h="448945">
                  <a:moveTo>
                    <a:pt x="503982" y="39636"/>
                  </a:moveTo>
                  <a:lnTo>
                    <a:pt x="500225" y="39970"/>
                  </a:lnTo>
                  <a:lnTo>
                    <a:pt x="500537" y="39970"/>
                  </a:lnTo>
                  <a:lnTo>
                    <a:pt x="503982" y="39636"/>
                  </a:lnTo>
                  <a:close/>
                </a:path>
                <a:path w="524509" h="448945">
                  <a:moveTo>
                    <a:pt x="503982" y="39636"/>
                  </a:moveTo>
                  <a:lnTo>
                    <a:pt x="500537" y="39970"/>
                  </a:lnTo>
                  <a:lnTo>
                    <a:pt x="501280" y="39970"/>
                  </a:lnTo>
                  <a:lnTo>
                    <a:pt x="503982" y="3963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19400" y="5781787"/>
            <a:ext cx="2109470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65"/>
              </a:lnSpc>
            </a:pPr>
            <a:r>
              <a:rPr sz="2000" b="1" dirty="0">
                <a:latin typeface="Times New Roman"/>
                <a:cs typeface="Times New Roman"/>
              </a:rPr>
              <a:t>linear</a:t>
            </a:r>
            <a:r>
              <a:rPr sz="2000" b="1" spc="4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relationship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2478" y="4666092"/>
            <a:ext cx="9103360" cy="1397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Steam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don’t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properties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possible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temperature/pressure.</a:t>
            </a:r>
            <a:endParaRPr sz="20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interpolation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temperatures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fall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entries.</a:t>
            </a:r>
            <a:endParaRPr sz="20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99085" algn="l"/>
                <a:tab pos="3501390" algn="l"/>
              </a:tabLst>
            </a:pPr>
            <a:r>
              <a:rPr sz="2000" spc="-10" dirty="0">
                <a:latin typeface="Times New Roman"/>
                <a:cs typeface="Times New Roman"/>
              </a:rPr>
              <a:t>Assuming</a:t>
            </a:r>
            <a:r>
              <a:rPr sz="2000" dirty="0">
                <a:latin typeface="Times New Roman"/>
                <a:cs typeface="Times New Roman"/>
              </a:rPr>
              <a:t>	between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points.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24540" y="2409710"/>
            <a:ext cx="1267460" cy="573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55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𝐅𝐢𝐧𝐝</a:t>
            </a:r>
            <a:r>
              <a:rPr sz="1800" spc="-8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𝐏</a:t>
            </a:r>
            <a:r>
              <a:rPr sz="1950" baseline="-14957" dirty="0">
                <a:solidFill>
                  <a:srgbClr val="C00000"/>
                </a:solidFill>
                <a:latin typeface="Cambria Math"/>
                <a:cs typeface="Cambria Math"/>
              </a:rPr>
              <a:t>𝐬𝐚𝐭</a:t>
            </a:r>
            <a:r>
              <a:rPr sz="1950" spc="165" baseline="-14957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Cambria Math"/>
                <a:cs typeface="Cambria Math"/>
              </a:rPr>
              <a:t>𝐚𝐭</a:t>
            </a:r>
            <a:endParaRPr sz="1800" dirty="0">
              <a:latin typeface="Cambria Math"/>
              <a:cs typeface="Cambria Math"/>
            </a:endParaRPr>
          </a:p>
          <a:p>
            <a:pPr marL="66675">
              <a:lnSpc>
                <a:spcPts val="2155"/>
              </a:lnSpc>
            </a:pP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𝐓</a:t>
            </a:r>
            <a:r>
              <a:rPr sz="1800" spc="9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mbria Math"/>
                <a:cs typeface="Cambria Math"/>
              </a:rPr>
              <a:t>𝟐𝟎𝟖℃?</a:t>
            </a:r>
            <a:endParaRPr sz="18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0725" y="1512419"/>
            <a:ext cx="5497195" cy="3011170"/>
            <a:chOff x="560176" y="1464666"/>
            <a:chExt cx="5497195" cy="30111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176" y="1464666"/>
              <a:ext cx="5378355" cy="29968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3044" y="2381503"/>
              <a:ext cx="5409565" cy="2080260"/>
            </a:xfrm>
            <a:custGeom>
              <a:avLst/>
              <a:gdLst/>
              <a:ahLst/>
              <a:cxnLst/>
              <a:rect l="l" t="t" r="r" b="b"/>
              <a:pathLst>
                <a:path w="5409565" h="2080260">
                  <a:moveTo>
                    <a:pt x="0" y="1509141"/>
                  </a:moveTo>
                  <a:lnTo>
                    <a:pt x="5409565" y="1509141"/>
                  </a:lnTo>
                  <a:lnTo>
                    <a:pt x="5409565" y="1047470"/>
                  </a:lnTo>
                  <a:lnTo>
                    <a:pt x="0" y="1047470"/>
                  </a:lnTo>
                  <a:lnTo>
                    <a:pt x="0" y="1509141"/>
                  </a:lnTo>
                  <a:close/>
                </a:path>
                <a:path w="5409565" h="2080260">
                  <a:moveTo>
                    <a:pt x="693343" y="2080006"/>
                  </a:moveTo>
                  <a:lnTo>
                    <a:pt x="1266101" y="2080006"/>
                  </a:lnTo>
                  <a:lnTo>
                    <a:pt x="1266101" y="0"/>
                  </a:lnTo>
                  <a:lnTo>
                    <a:pt x="693343" y="0"/>
                  </a:lnTo>
                  <a:lnTo>
                    <a:pt x="693343" y="2080006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41705" y="137796"/>
            <a:ext cx="7871459" cy="1140824"/>
          </a:xfrm>
          <a:prstGeom prst="rect">
            <a:avLst/>
          </a:prstGeom>
        </p:spPr>
        <p:txBody>
          <a:bodyPr vert="horz" wrap="square" lIns="0" tIns="123951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375"/>
              </a:spcBef>
            </a:pPr>
            <a:r>
              <a:rPr sz="3600" baseline="-4629" dirty="0">
                <a:latin typeface="Times New Roman"/>
                <a:cs typeface="Times New Roman"/>
              </a:rPr>
              <a:t>Interpolation</a:t>
            </a:r>
            <a:r>
              <a:rPr sz="3600" spc="195" baseline="-4629" dirty="0">
                <a:latin typeface="Times New Roman"/>
                <a:cs typeface="Times New Roman"/>
              </a:rPr>
              <a:t> </a:t>
            </a:r>
            <a:r>
              <a:rPr lang="en-NZ" sz="3600" spc="195" baseline="-4629" dirty="0">
                <a:latin typeface="Times New Roman"/>
                <a:cs typeface="Times New Roman"/>
              </a:rPr>
              <a:t>(2)</a:t>
            </a:r>
            <a:br>
              <a:rPr lang="en-NZ" sz="3600" spc="195" baseline="-4629" dirty="0">
                <a:latin typeface="Times New Roman"/>
                <a:cs typeface="Times New Roman"/>
              </a:rPr>
            </a:br>
            <a:br>
              <a:rPr lang="en-NZ" sz="3600" spc="195" baseline="-4629" dirty="0">
                <a:latin typeface="Times New Roman"/>
                <a:cs typeface="Times New Roman"/>
              </a:rPr>
            </a:b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Example: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𝐅𝐢𝐧𝐝</a:t>
            </a:r>
            <a:r>
              <a:rPr sz="1800" spc="-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𝐏</a:t>
            </a:r>
            <a:r>
              <a:rPr sz="1950" baseline="-14957" dirty="0">
                <a:solidFill>
                  <a:srgbClr val="C00000"/>
                </a:solidFill>
                <a:latin typeface="Cambria Math"/>
                <a:cs typeface="Cambria Math"/>
              </a:rPr>
              <a:t>𝐬𝐚𝐭</a:t>
            </a:r>
            <a:r>
              <a:rPr sz="1950" spc="240" baseline="-14957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𝐚𝐭</a:t>
            </a:r>
            <a:r>
              <a:rPr sz="1800" spc="-1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𝐓</a:t>
            </a:r>
            <a:r>
              <a:rPr sz="1800" spc="6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1800" spc="8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mbria Math"/>
                <a:cs typeface="Cambria Math"/>
              </a:rPr>
              <a:t>𝟐𝟎𝟖℃?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8421" y="4734180"/>
            <a:ext cx="915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imes New Roman"/>
                <a:cs typeface="Times New Roman"/>
              </a:rPr>
              <a:t>Take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two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5824" y="4774819"/>
            <a:ext cx="72009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800" b="1" spc="-10" dirty="0">
                <a:latin typeface="Times New Roman"/>
                <a:cs typeface="Times New Roman"/>
              </a:rPr>
              <a:t>nearest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06775" y="4734180"/>
            <a:ext cx="1226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table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entries</a:t>
            </a:r>
            <a:endParaRPr sz="1800" dirty="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29296" y="3506851"/>
            <a:ext cx="400050" cy="257175"/>
            <a:chOff x="6238747" y="3459098"/>
            <a:chExt cx="400050" cy="257175"/>
          </a:xfrm>
        </p:grpSpPr>
        <p:sp>
          <p:nvSpPr>
            <p:cNvPr id="10" name="object 10"/>
            <p:cNvSpPr/>
            <p:nvPr/>
          </p:nvSpPr>
          <p:spPr>
            <a:xfrm>
              <a:off x="6245097" y="3465448"/>
              <a:ext cx="387350" cy="244475"/>
            </a:xfrm>
            <a:custGeom>
              <a:avLst/>
              <a:gdLst/>
              <a:ahLst/>
              <a:cxnLst/>
              <a:rect l="l" t="t" r="r" b="b"/>
              <a:pathLst>
                <a:path w="387350" h="244475">
                  <a:moveTo>
                    <a:pt x="264668" y="0"/>
                  </a:moveTo>
                  <a:lnTo>
                    <a:pt x="264668" y="61087"/>
                  </a:lnTo>
                  <a:lnTo>
                    <a:pt x="0" y="61087"/>
                  </a:lnTo>
                  <a:lnTo>
                    <a:pt x="0" y="183261"/>
                  </a:lnTo>
                  <a:lnTo>
                    <a:pt x="264668" y="183261"/>
                  </a:lnTo>
                  <a:lnTo>
                    <a:pt x="264668" y="244348"/>
                  </a:lnTo>
                  <a:lnTo>
                    <a:pt x="386842" y="122174"/>
                  </a:lnTo>
                  <a:lnTo>
                    <a:pt x="264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45097" y="3465448"/>
              <a:ext cx="387350" cy="244475"/>
            </a:xfrm>
            <a:custGeom>
              <a:avLst/>
              <a:gdLst/>
              <a:ahLst/>
              <a:cxnLst/>
              <a:rect l="l" t="t" r="r" b="b"/>
              <a:pathLst>
                <a:path w="387350" h="244475">
                  <a:moveTo>
                    <a:pt x="0" y="61087"/>
                  </a:moveTo>
                  <a:lnTo>
                    <a:pt x="264668" y="61087"/>
                  </a:lnTo>
                  <a:lnTo>
                    <a:pt x="264668" y="0"/>
                  </a:lnTo>
                  <a:lnTo>
                    <a:pt x="386842" y="122174"/>
                  </a:lnTo>
                  <a:lnTo>
                    <a:pt x="264668" y="244348"/>
                  </a:lnTo>
                  <a:lnTo>
                    <a:pt x="264668" y="183261"/>
                  </a:lnTo>
                  <a:lnTo>
                    <a:pt x="0" y="183261"/>
                  </a:lnTo>
                  <a:lnTo>
                    <a:pt x="0" y="61087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761904"/>
              </p:ext>
            </p:extLst>
          </p:nvPr>
        </p:nvGraphicFramePr>
        <p:xfrm>
          <a:off x="1674114" y="5107432"/>
          <a:ext cx="4328160" cy="1732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Temp,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Cambria Math"/>
                          <a:cs typeface="Cambria Math"/>
                        </a:rPr>
                        <a:t>℃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dirty="0">
                          <a:latin typeface="Cambria Math"/>
                          <a:cs typeface="Cambria Math"/>
                        </a:rPr>
                        <a:t>P</a:t>
                      </a:r>
                      <a:r>
                        <a:rPr sz="1950" baseline="-14957" dirty="0">
                          <a:latin typeface="Cambria Math"/>
                          <a:cs typeface="Cambria Math"/>
                        </a:rPr>
                        <a:t>sat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kPa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205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sz="1800" spc="-20" dirty="0">
                          <a:latin typeface="Cambria Math"/>
                          <a:cs typeface="Cambria Math"/>
                        </a:rPr>
                        <a:t>T</a:t>
                      </a:r>
                      <a:r>
                        <a:rPr sz="1950" spc="-30" baseline="-14957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800" spc="-20" dirty="0">
                          <a:latin typeface="Cambria Math"/>
                          <a:cs typeface="Cambria Math"/>
                        </a:rPr>
                        <a:t>)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1724.3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800" spc="-20" dirty="0">
                          <a:latin typeface="Cambria Math"/>
                          <a:cs typeface="Cambria Math"/>
                        </a:rPr>
                        <a:t>P</a:t>
                      </a:r>
                      <a:r>
                        <a:rPr sz="1950" spc="-30" baseline="-14957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800" spc="-20" dirty="0">
                          <a:latin typeface="Cambria Math"/>
                          <a:cs typeface="Cambria Math"/>
                        </a:rPr>
                        <a:t>)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208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800" spc="-25" dirty="0">
                          <a:latin typeface="Cambria Math"/>
                          <a:cs typeface="Cambria Math"/>
                        </a:rPr>
                        <a:t>T)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?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800" spc="-25" dirty="0">
                          <a:latin typeface="Cambria Math"/>
                          <a:cs typeface="Cambria Math"/>
                        </a:rPr>
                        <a:t>P)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210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sz="1800" spc="-20" dirty="0">
                          <a:latin typeface="Cambria Math"/>
                          <a:cs typeface="Cambria Math"/>
                        </a:rPr>
                        <a:t>T</a:t>
                      </a:r>
                      <a:r>
                        <a:rPr sz="1950" spc="-30" baseline="-14957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800" spc="-20" dirty="0">
                          <a:latin typeface="Cambria Math"/>
                          <a:cs typeface="Cambria Math"/>
                        </a:rPr>
                        <a:t>)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1907.7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800" spc="-20" dirty="0">
                          <a:latin typeface="Cambria Math"/>
                          <a:cs typeface="Cambria Math"/>
                        </a:rPr>
                        <a:t>P</a:t>
                      </a:r>
                      <a:r>
                        <a:rPr sz="1950" spc="-30" baseline="-14957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800" spc="-20" dirty="0">
                          <a:latin typeface="Cambria Math"/>
                          <a:cs typeface="Cambria Math"/>
                        </a:rPr>
                        <a:t>)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800" y="1250316"/>
            <a:ext cx="3736594" cy="362331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276588" y="4423906"/>
            <a:ext cx="338455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499979" y="4423906"/>
            <a:ext cx="338455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05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70417" y="2244586"/>
            <a:ext cx="338455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70417" y="3238869"/>
            <a:ext cx="338455" cy="3695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918702" y="5479543"/>
            <a:ext cx="721360" cy="15240"/>
          </a:xfrm>
          <a:custGeom>
            <a:avLst/>
            <a:gdLst/>
            <a:ahLst/>
            <a:cxnLst/>
            <a:rect l="l" t="t" r="r" b="b"/>
            <a:pathLst>
              <a:path w="721359" h="15239">
                <a:moveTo>
                  <a:pt x="720851" y="0"/>
                </a:moveTo>
                <a:lnTo>
                  <a:pt x="0" y="0"/>
                </a:lnTo>
                <a:lnTo>
                  <a:pt x="0" y="15240"/>
                </a:lnTo>
                <a:lnTo>
                  <a:pt x="720851" y="15240"/>
                </a:lnTo>
                <a:lnTo>
                  <a:pt x="7208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936733" y="5479543"/>
            <a:ext cx="723900" cy="15240"/>
          </a:xfrm>
          <a:custGeom>
            <a:avLst/>
            <a:gdLst/>
            <a:ahLst/>
            <a:cxnLst/>
            <a:rect l="l" t="t" r="r" b="b"/>
            <a:pathLst>
              <a:path w="723900" h="15239">
                <a:moveTo>
                  <a:pt x="723900" y="0"/>
                </a:moveTo>
                <a:lnTo>
                  <a:pt x="0" y="0"/>
                </a:lnTo>
                <a:lnTo>
                  <a:pt x="0" y="15240"/>
                </a:lnTo>
                <a:lnTo>
                  <a:pt x="723900" y="15240"/>
                </a:lnTo>
                <a:lnTo>
                  <a:pt x="723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508745" y="5191532"/>
            <a:ext cx="2562860" cy="61404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9105">
              <a:lnSpc>
                <a:spcPts val="1845"/>
              </a:lnSpc>
            </a:pPr>
            <a:r>
              <a:rPr sz="1800" dirty="0">
                <a:latin typeface="Cambria Math"/>
                <a:cs typeface="Cambria Math"/>
              </a:rPr>
              <a:t>𝑥</a:t>
            </a:r>
            <a:r>
              <a:rPr sz="1800" spc="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 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262" baseline="-14957" dirty="0">
                <a:latin typeface="Cambria Math"/>
                <a:cs typeface="Cambria Math"/>
              </a:rPr>
              <a:t>  </a:t>
            </a:r>
            <a:r>
              <a:rPr sz="2700" baseline="-41666" dirty="0">
                <a:latin typeface="Cambria Math"/>
                <a:cs typeface="Cambria Math"/>
              </a:rPr>
              <a:t>=</a:t>
            </a:r>
            <a:r>
              <a:rPr sz="2700" spc="697" baseline="-41666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𝑦</a:t>
            </a:r>
            <a:r>
              <a:rPr sz="1800" spc="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 marL="410845">
              <a:lnSpc>
                <a:spcPct val="100000"/>
              </a:lnSpc>
              <a:spcBef>
                <a:spcPts val="405"/>
              </a:spcBef>
              <a:tabLst>
                <a:tab pos="1428750" algn="l"/>
              </a:tabLst>
            </a:pP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950" spc="254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1800" dirty="0">
                <a:latin typeface="Cambria Math"/>
                <a:cs typeface="Cambria Math"/>
              </a:rPr>
              <a:t>𝑦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950" spc="24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1143000"/>
            <a:ext cx="6346335" cy="11736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2825" y="2878460"/>
            <a:ext cx="3041512" cy="225347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849158" y="2995358"/>
            <a:ext cx="2862580" cy="2197100"/>
            <a:chOff x="956094" y="3386899"/>
            <a:chExt cx="2862580" cy="2197100"/>
          </a:xfrm>
        </p:grpSpPr>
        <p:sp>
          <p:nvSpPr>
            <p:cNvPr id="6" name="object 6"/>
            <p:cNvSpPr/>
            <p:nvPr/>
          </p:nvSpPr>
          <p:spPr>
            <a:xfrm>
              <a:off x="3432428" y="3401186"/>
              <a:ext cx="372110" cy="2168525"/>
            </a:xfrm>
            <a:custGeom>
              <a:avLst/>
              <a:gdLst/>
              <a:ahLst/>
              <a:cxnLst/>
              <a:rect l="l" t="t" r="r" b="b"/>
              <a:pathLst>
                <a:path w="372110" h="2168525">
                  <a:moveTo>
                    <a:pt x="371729" y="2168398"/>
                  </a:moveTo>
                  <a:lnTo>
                    <a:pt x="329126" y="2162000"/>
                  </a:lnTo>
                  <a:lnTo>
                    <a:pt x="290018" y="2143777"/>
                  </a:lnTo>
                  <a:lnTo>
                    <a:pt x="255519" y="2115183"/>
                  </a:lnTo>
                  <a:lnTo>
                    <a:pt x="226746" y="2077674"/>
                  </a:lnTo>
                  <a:lnTo>
                    <a:pt x="204812" y="2032706"/>
                  </a:lnTo>
                  <a:lnTo>
                    <a:pt x="190835" y="1981732"/>
                  </a:lnTo>
                  <a:lnTo>
                    <a:pt x="185928" y="1926209"/>
                  </a:lnTo>
                  <a:lnTo>
                    <a:pt x="185928" y="1326388"/>
                  </a:lnTo>
                  <a:lnTo>
                    <a:pt x="181020" y="1270864"/>
                  </a:lnTo>
                  <a:lnTo>
                    <a:pt x="167040" y="1219890"/>
                  </a:lnTo>
                  <a:lnTo>
                    <a:pt x="145099" y="1174922"/>
                  </a:lnTo>
                  <a:lnTo>
                    <a:pt x="116312" y="1137413"/>
                  </a:lnTo>
                  <a:lnTo>
                    <a:pt x="81791" y="1108819"/>
                  </a:lnTo>
                  <a:lnTo>
                    <a:pt x="42649" y="1090596"/>
                  </a:lnTo>
                  <a:lnTo>
                    <a:pt x="0" y="1084199"/>
                  </a:lnTo>
                  <a:lnTo>
                    <a:pt x="42649" y="1077808"/>
                  </a:lnTo>
                  <a:lnTo>
                    <a:pt x="81791" y="1059603"/>
                  </a:lnTo>
                  <a:lnTo>
                    <a:pt x="116312" y="1031034"/>
                  </a:lnTo>
                  <a:lnTo>
                    <a:pt x="145099" y="993552"/>
                  </a:lnTo>
                  <a:lnTo>
                    <a:pt x="167040" y="948608"/>
                  </a:lnTo>
                  <a:lnTo>
                    <a:pt x="181020" y="897653"/>
                  </a:lnTo>
                  <a:lnTo>
                    <a:pt x="185928" y="842137"/>
                  </a:lnTo>
                  <a:lnTo>
                    <a:pt x="185928" y="242188"/>
                  </a:lnTo>
                  <a:lnTo>
                    <a:pt x="190835" y="186665"/>
                  </a:lnTo>
                  <a:lnTo>
                    <a:pt x="204812" y="135691"/>
                  </a:lnTo>
                  <a:lnTo>
                    <a:pt x="226746" y="90723"/>
                  </a:lnTo>
                  <a:lnTo>
                    <a:pt x="255519" y="53214"/>
                  </a:lnTo>
                  <a:lnTo>
                    <a:pt x="290018" y="24620"/>
                  </a:lnTo>
                  <a:lnTo>
                    <a:pt x="329126" y="6397"/>
                  </a:lnTo>
                  <a:lnTo>
                    <a:pt x="37172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6094" y="3993438"/>
              <a:ext cx="2467355" cy="543001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32128" y="3468499"/>
            <a:ext cx="1590861" cy="7906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637523" y="3633088"/>
            <a:ext cx="406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latin typeface="Times New Roman"/>
                <a:cs typeface="Times New Roman"/>
              </a:rPr>
              <a:t>or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E7D04E9-0207-5ACF-AAE1-661B48263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E6EF4B-1ABF-6F2F-9F6C-B98DC34133F3}"/>
              </a:ext>
            </a:extLst>
          </p:cNvPr>
          <p:cNvSpPr txBox="1"/>
          <p:nvPr/>
        </p:nvSpPr>
        <p:spPr>
          <a:xfrm>
            <a:off x="1295400" y="207081"/>
            <a:ext cx="1127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3200" b="1" dirty="0">
                <a:solidFill>
                  <a:schemeClr val="accent6">
                    <a:lumMod val="75000"/>
                  </a:schemeClr>
                </a:solidFill>
              </a:rPr>
              <a:t>QUALITY (DRYNESS FRACTION)</a:t>
            </a:r>
            <a:endParaRPr lang="en-NZ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D482-5519-C5F2-4976-9A76F93EA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590800"/>
            <a:ext cx="7871459" cy="492443"/>
          </a:xfrm>
        </p:spPr>
        <p:txBody>
          <a:bodyPr/>
          <a:lstStyle/>
          <a:p>
            <a:r>
              <a:rPr lang="en-NZ" dirty="0"/>
              <a:t>Tutorial Questions (Week 3) Q1-Q8 Guidelines </a:t>
            </a:r>
          </a:p>
        </p:txBody>
      </p:sp>
    </p:spTree>
    <p:extLst>
      <p:ext uri="{BB962C8B-B14F-4D97-AF65-F5344CB8AC3E}">
        <p14:creationId xmlns:p14="http://schemas.microsoft.com/office/powerpoint/2010/main" val="3065097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0E739-6D56-1543-E908-AB59EFD4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F421D-1BCC-A0E0-8A8B-9327E97EF562}"/>
              </a:ext>
            </a:extLst>
          </p:cNvPr>
          <p:cNvSpPr txBox="1"/>
          <p:nvPr/>
        </p:nvSpPr>
        <p:spPr>
          <a:xfrm>
            <a:off x="1219200" y="914400"/>
            <a:ext cx="10896600" cy="782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Q1)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Find the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saturation pressure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for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water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if its temperature is measured to be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100°C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Also, find the </a:t>
            </a:r>
            <a:r>
              <a:rPr lang="en-NZ" sz="20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specific volume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NZ" sz="20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enthalpy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and </a:t>
            </a:r>
            <a:r>
              <a:rPr lang="en-NZ" sz="20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internal energy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for the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saturated liquid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at this temperature.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A3D4B-B3F6-9316-343F-725985C24E2D}"/>
              </a:ext>
            </a:extLst>
          </p:cNvPr>
          <p:cNvSpPr txBox="1"/>
          <p:nvPr/>
        </p:nvSpPr>
        <p:spPr>
          <a:xfrm>
            <a:off x="5368670" y="3048000"/>
            <a:ext cx="3300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800" dirty="0"/>
              <a:t>Use Table A4 </a:t>
            </a:r>
          </a:p>
        </p:txBody>
      </p:sp>
    </p:spTree>
    <p:extLst>
      <p:ext uri="{BB962C8B-B14F-4D97-AF65-F5344CB8AC3E}">
        <p14:creationId xmlns:p14="http://schemas.microsoft.com/office/powerpoint/2010/main" val="339434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D7D3-E0E6-F0B6-79B3-EDE7F7A5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92C7-3694-0A16-6DA3-8A5CDF1E7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577A8-C87C-69EC-AF39-5214AC60C0E7}"/>
              </a:ext>
            </a:extLst>
          </p:cNvPr>
          <p:cNvSpPr txBox="1"/>
          <p:nvPr/>
        </p:nvSpPr>
        <p:spPr>
          <a:xfrm>
            <a:off x="1295400" y="1143000"/>
            <a:ext cx="10454259" cy="782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Q2)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Find the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saturation temperature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for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R-134a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if its pressure is measured to be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500 kPa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Also, find the specific volume, enthalpy, and internal energy of the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saturated vapour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at this pressure.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1562AC-FA44-2C36-016B-990C6AD1D37D}"/>
              </a:ext>
            </a:extLst>
          </p:cNvPr>
          <p:cNvSpPr txBox="1"/>
          <p:nvPr/>
        </p:nvSpPr>
        <p:spPr>
          <a:xfrm>
            <a:off x="4953000" y="3167390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800" dirty="0"/>
              <a:t>Use Table A-12</a:t>
            </a:r>
          </a:p>
        </p:txBody>
      </p:sp>
    </p:spTree>
    <p:extLst>
      <p:ext uri="{BB962C8B-B14F-4D97-AF65-F5344CB8AC3E}">
        <p14:creationId xmlns:p14="http://schemas.microsoft.com/office/powerpoint/2010/main" val="16285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2ECA5-2A94-EE81-8263-7EAE389A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ED07-D455-4696-CE50-264D26B8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AFCC6-59E0-3194-B41C-76C28FD504DF}"/>
              </a:ext>
            </a:extLst>
          </p:cNvPr>
          <p:cNvSpPr txBox="1"/>
          <p:nvPr/>
        </p:nvSpPr>
        <p:spPr>
          <a:xfrm>
            <a:off x="1411604" y="1143000"/>
            <a:ext cx="10627995" cy="782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Q3)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The temperature in a vessel filled with water is measured to be 222.5°C. Using the interpolation method, find the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saturation pressure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at this temperature.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FAAB5-AA7B-F6AC-4AD1-E21BAC3CFDE1}"/>
              </a:ext>
            </a:extLst>
          </p:cNvPr>
          <p:cNvSpPr txBox="1"/>
          <p:nvPr/>
        </p:nvSpPr>
        <p:spPr>
          <a:xfrm>
            <a:off x="3962400" y="3198167"/>
            <a:ext cx="670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800" dirty="0"/>
              <a:t>Use Table A4, and then Interpolate </a:t>
            </a:r>
          </a:p>
        </p:txBody>
      </p:sp>
    </p:spTree>
    <p:extLst>
      <p:ext uri="{BB962C8B-B14F-4D97-AF65-F5344CB8AC3E}">
        <p14:creationId xmlns:p14="http://schemas.microsoft.com/office/powerpoint/2010/main" val="3577618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56E4-E7B3-ED67-731F-0B716636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6BD0-B83D-6344-D5F8-F1D88573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81A7E-FF40-466A-F4D5-D0605EAA1112}"/>
              </a:ext>
            </a:extLst>
          </p:cNvPr>
          <p:cNvSpPr txBox="1"/>
          <p:nvPr/>
        </p:nvSpPr>
        <p:spPr>
          <a:xfrm>
            <a:off x="1442084" y="990600"/>
            <a:ext cx="10521315" cy="78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Q4)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container is filled with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superheated steam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at a pressure of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0.3 MPa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and a temperature of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325°C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Determine the steam’s specific volume, specific internal energy, and specific enthalpy.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FA21CB-994D-9E18-8AF3-B04154AEC9DB}"/>
                  </a:ext>
                </a:extLst>
              </p:cNvPr>
              <p:cNvSpPr txBox="1"/>
              <p:nvPr/>
            </p:nvSpPr>
            <p:spPr>
              <a:xfrm>
                <a:off x="2740341" y="3167390"/>
                <a:ext cx="7924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NZ" sz="2800" dirty="0"/>
                  <a:t>Use Table A6, and the interpolate (due to 325</a:t>
                </a:r>
                <a14:m>
                  <m:oMath xmlns:m="http://schemas.openxmlformats.org/officeDocument/2006/math">
                    <m:r>
                      <a:rPr lang="en-NZ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NZ" sz="2800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FA21CB-994D-9E18-8AF3-B04154AEC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341" y="3167390"/>
                <a:ext cx="7924800" cy="523220"/>
              </a:xfrm>
              <a:prstGeom prst="rect">
                <a:avLst/>
              </a:prstGeom>
              <a:blipFill>
                <a:blip r:embed="rId2"/>
                <a:stretch>
                  <a:fillRect l="-1615" t="-12941" r="-231" b="-3294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5693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5704A-36C9-D6A7-0506-1000A8EF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CA07-E689-9B59-A492-E5B50813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7FAF3-9D0C-C586-34BC-8D27FE385334}"/>
              </a:ext>
            </a:extLst>
          </p:cNvPr>
          <p:cNvSpPr txBox="1"/>
          <p:nvPr/>
        </p:nvSpPr>
        <p:spPr>
          <a:xfrm>
            <a:off x="1219200" y="1066800"/>
            <a:ext cx="10820400" cy="782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Q5)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The temperature in a container filled with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saturated water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is measured to be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90°C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Determine its quality if the water has a specific volume of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 m³/kg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BB2DB-F50C-8650-1BF0-5374C2A2B893}"/>
              </a:ext>
            </a:extLst>
          </p:cNvPr>
          <p:cNvSpPr txBox="1"/>
          <p:nvPr/>
        </p:nvSpPr>
        <p:spPr>
          <a:xfrm>
            <a:off x="2362200" y="2286000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/>
              <a:t>Use Table A4, to find out V</a:t>
            </a:r>
            <a:r>
              <a:rPr lang="en-NZ" sz="2400" baseline="-25000" dirty="0"/>
              <a:t>f</a:t>
            </a:r>
            <a:r>
              <a:rPr lang="en-NZ" sz="2400" dirty="0"/>
              <a:t> and V</a:t>
            </a:r>
            <a:r>
              <a:rPr lang="en-NZ" sz="2400" baseline="-25000" dirty="0"/>
              <a:t>g</a:t>
            </a:r>
            <a:r>
              <a:rPr lang="en-NZ" sz="2400" dirty="0"/>
              <a:t> (at 90</a:t>
            </a:r>
            <a:r>
              <a:rPr lang="en-NZ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NZ" sz="2400" dirty="0"/>
              <a:t>°C) </a:t>
            </a:r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0C5825C2-93EE-3F3C-5C4B-0B2EED9A67C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1469" y="3520414"/>
            <a:ext cx="2738531" cy="143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11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A70F0-A94E-9447-0F87-54D61CE49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C22B-F27D-CF6E-FE11-CB031C6B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1BAA85-ED19-FDA4-0FDF-93BB918D7F9B}"/>
              </a:ext>
            </a:extLst>
          </p:cNvPr>
          <p:cNvSpPr txBox="1"/>
          <p:nvPr/>
        </p:nvSpPr>
        <p:spPr>
          <a:xfrm>
            <a:off x="1432940" y="990600"/>
            <a:ext cx="10682859" cy="14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Q6)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temperature of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water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in a piston–cylinder is measured to be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200°C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and its pressure is measured to be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400 kPa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Determine which phase the water is in, and which table should be used to find its properties. What table should be used if the pressure is maintained at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400 kPa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but the temperature is lowered to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100°C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DED8ED-52E2-D217-A30F-D3766E903436}"/>
                  </a:ext>
                </a:extLst>
              </p:cNvPr>
              <p:cNvSpPr txBox="1"/>
              <p:nvPr/>
            </p:nvSpPr>
            <p:spPr>
              <a:xfrm>
                <a:off x="1432940" y="2798644"/>
                <a:ext cx="94488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NZ" dirty="0"/>
                  <a:t>Case 1: T</a:t>
                </a:r>
                <a:r>
                  <a:rPr lang="en-NZ" baseline="-25000" dirty="0"/>
                  <a:t>1</a:t>
                </a:r>
                <a:r>
                  <a:rPr lang="en-NZ" dirty="0"/>
                  <a:t>=200 </a:t>
                </a:r>
                <a14:m>
                  <m:oMath xmlns:m="http://schemas.openxmlformats.org/officeDocument/2006/math">
                    <m:r>
                      <a:rPr lang="en-NZ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m:rPr>
                        <m:sty m:val="p"/>
                      </m:rPr>
                      <a:rPr lang="en-NZ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NZ" dirty="0"/>
                  <a:t>, P</a:t>
                </a:r>
                <a:r>
                  <a:rPr lang="en-NZ" baseline="-25000" dirty="0"/>
                  <a:t>1</a:t>
                </a:r>
                <a:r>
                  <a:rPr lang="en-NZ" dirty="0"/>
                  <a:t>=400 Kpa</a:t>
                </a:r>
              </a:p>
              <a:p>
                <a:endParaRPr lang="en-NZ" dirty="0"/>
              </a:p>
              <a:p>
                <a:r>
                  <a:rPr lang="en-NZ" dirty="0"/>
                  <a:t>Way 1: Based on the pressure P</a:t>
                </a:r>
                <a:r>
                  <a:rPr lang="en-NZ" baseline="-25000" dirty="0"/>
                  <a:t>1</a:t>
                </a:r>
                <a:r>
                  <a:rPr lang="en-NZ" dirty="0"/>
                  <a:t>,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n-NZ" dirty="0"/>
                  <a:t>(Use Table 5)</a:t>
                </a:r>
              </a:p>
              <a:p>
                <a:r>
                  <a:rPr lang="en-NZ" dirty="0"/>
                  <a:t>Way 2: Based on the temperature T</a:t>
                </a:r>
                <a:r>
                  <a:rPr lang="en-NZ" baseline="-25000" dirty="0"/>
                  <a:t>1</a:t>
                </a:r>
                <a:r>
                  <a:rPr lang="en-NZ" dirty="0"/>
                  <a:t>,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n-NZ" dirty="0"/>
                  <a:t>  (Use Table A4)</a:t>
                </a:r>
              </a:p>
              <a:p>
                <a:endParaRPr lang="en-NZ" dirty="0"/>
              </a:p>
              <a:p>
                <a:endParaRPr lang="en-NZ" dirty="0"/>
              </a:p>
              <a:p>
                <a:r>
                  <a:rPr lang="en-NZ" dirty="0"/>
                  <a:t>Case 2: T</a:t>
                </a:r>
                <a:r>
                  <a:rPr lang="en-NZ" baseline="-25000" dirty="0"/>
                  <a:t>2</a:t>
                </a:r>
                <a:r>
                  <a:rPr lang="en-NZ" dirty="0"/>
                  <a:t>=100 </a:t>
                </a:r>
                <a14:m>
                  <m:oMath xmlns:m="http://schemas.openxmlformats.org/officeDocument/2006/math">
                    <m:r>
                      <a:rPr lang="en-NZ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m:rPr>
                        <m:sty m:val="p"/>
                      </m:rPr>
                      <a:rPr lang="en-NZ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NZ" dirty="0"/>
                  <a:t>, P</a:t>
                </a:r>
                <a:r>
                  <a:rPr lang="en-NZ" baseline="-25000" dirty="0"/>
                  <a:t>2</a:t>
                </a:r>
                <a:r>
                  <a:rPr lang="en-NZ" dirty="0"/>
                  <a:t>=400 Kpa</a:t>
                </a:r>
              </a:p>
              <a:p>
                <a:endParaRPr lang="en-NZ" dirty="0"/>
              </a:p>
              <a:p>
                <a:r>
                  <a:rPr lang="en-NZ" dirty="0"/>
                  <a:t>Way 1: Based on the pressure P</a:t>
                </a:r>
                <a:r>
                  <a:rPr lang="en-NZ" baseline="-25000" dirty="0"/>
                  <a:t>1</a:t>
                </a:r>
                <a:r>
                  <a:rPr lang="en-NZ" dirty="0"/>
                  <a:t>,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n-NZ" dirty="0"/>
                  <a:t>(Use Table 5)</a:t>
                </a:r>
              </a:p>
              <a:p>
                <a:r>
                  <a:rPr lang="en-NZ" dirty="0"/>
                  <a:t>Way 2: Based on the temperature T</a:t>
                </a:r>
                <a:r>
                  <a:rPr lang="en-NZ" baseline="-25000" dirty="0"/>
                  <a:t>1</a:t>
                </a:r>
                <a:r>
                  <a:rPr lang="en-NZ" dirty="0"/>
                  <a:t>,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n-NZ" dirty="0"/>
                  <a:t>  (Use Table A4)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DED8ED-52E2-D217-A30F-D3766E903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40" y="2798644"/>
                <a:ext cx="9448800" cy="2862322"/>
              </a:xfrm>
              <a:prstGeom prst="rect">
                <a:avLst/>
              </a:prstGeom>
              <a:blipFill>
                <a:blip r:embed="rId2"/>
                <a:stretch>
                  <a:fillRect l="-516" t="-1064" b="-234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CF973D4-4A06-C42D-2FBF-9861C80A3DA0}"/>
              </a:ext>
            </a:extLst>
          </p:cNvPr>
          <p:cNvSpPr txBox="1"/>
          <p:nvPr/>
        </p:nvSpPr>
        <p:spPr>
          <a:xfrm>
            <a:off x="8229600" y="2133600"/>
            <a:ext cx="4191000" cy="205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>
              <a:lnSpc>
                <a:spcPct val="100000"/>
              </a:lnSpc>
              <a:spcBef>
                <a:spcPts val="820"/>
              </a:spcBef>
            </a:pPr>
            <a:r>
              <a:rPr lang="en-NZ" sz="1400" b="1" spc="-20" dirty="0">
                <a:solidFill>
                  <a:srgbClr val="AC0000"/>
                </a:solidFill>
                <a:latin typeface="Calibri"/>
                <a:cs typeface="Calibri"/>
              </a:rPr>
              <a:t>Superheated</a:t>
            </a:r>
            <a:r>
              <a:rPr lang="en-NZ" sz="1400" b="1" spc="-4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lang="en-NZ" sz="1400" b="1" dirty="0">
                <a:solidFill>
                  <a:srgbClr val="AC0000"/>
                </a:solidFill>
                <a:latin typeface="Calibri"/>
                <a:cs typeface="Calibri"/>
              </a:rPr>
              <a:t>vapour</a:t>
            </a:r>
            <a:r>
              <a:rPr lang="en-NZ" sz="1400" b="1" spc="-8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lang="en-NZ" sz="1400" b="1" dirty="0">
                <a:solidFill>
                  <a:srgbClr val="AC0000"/>
                </a:solidFill>
                <a:latin typeface="Calibri"/>
                <a:cs typeface="Calibri"/>
              </a:rPr>
              <a:t>is</a:t>
            </a:r>
            <a:r>
              <a:rPr lang="en-NZ" sz="1400" b="1" spc="-65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lang="en-NZ" sz="1400" b="1" spc="-20" dirty="0">
                <a:solidFill>
                  <a:srgbClr val="AC0000"/>
                </a:solidFill>
                <a:latin typeface="Calibri"/>
                <a:cs typeface="Calibri"/>
              </a:rPr>
              <a:t>characterised</a:t>
            </a:r>
            <a:r>
              <a:rPr lang="en-NZ" sz="1400" b="1" spc="-7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lang="en-NZ" sz="1400" b="1" spc="-25" dirty="0">
                <a:solidFill>
                  <a:srgbClr val="AC0000"/>
                </a:solidFill>
                <a:latin typeface="Calibri"/>
                <a:cs typeface="Calibri"/>
              </a:rPr>
              <a:t>by</a:t>
            </a:r>
            <a:endParaRPr lang="en-NZ" sz="1400" dirty="0">
              <a:latin typeface="Calibri"/>
              <a:cs typeface="Calibri"/>
            </a:endParaRPr>
          </a:p>
          <a:p>
            <a:pPr marL="264160" indent="-22606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64160" algn="l"/>
              </a:tabLst>
            </a:pPr>
            <a:r>
              <a:rPr lang="en-NZ" sz="1400" dirty="0">
                <a:latin typeface="Calibri"/>
                <a:cs typeface="Calibri"/>
              </a:rPr>
              <a:t>Lower</a:t>
            </a:r>
            <a:r>
              <a:rPr lang="en-NZ" sz="1400" spc="-70" dirty="0">
                <a:latin typeface="Calibri"/>
                <a:cs typeface="Calibri"/>
              </a:rPr>
              <a:t> </a:t>
            </a:r>
            <a:r>
              <a:rPr lang="en-NZ" sz="1400" spc="-10" dirty="0">
                <a:latin typeface="Calibri"/>
                <a:cs typeface="Calibri"/>
              </a:rPr>
              <a:t>pressures</a:t>
            </a:r>
            <a:r>
              <a:rPr lang="en-NZ" sz="1400" spc="-5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(</a:t>
            </a:r>
            <a:r>
              <a:rPr lang="en-NZ" sz="1400" dirty="0">
                <a:latin typeface="Cambria Math"/>
                <a:cs typeface="Cambria Math"/>
              </a:rPr>
              <a:t>𝑃</a:t>
            </a:r>
            <a:r>
              <a:rPr lang="en-NZ" sz="1400" spc="105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&lt;</a:t>
            </a:r>
            <a:r>
              <a:rPr lang="en-NZ" sz="1400" spc="70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𝑃</a:t>
            </a:r>
            <a:r>
              <a:rPr lang="en-NZ" sz="1400" baseline="-12698" dirty="0">
                <a:latin typeface="Cambria Math"/>
                <a:cs typeface="Cambria Math"/>
              </a:rPr>
              <a:t>sat</a:t>
            </a:r>
            <a:r>
              <a:rPr lang="en-NZ" sz="1400" spc="232" baseline="-12698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at</a:t>
            </a:r>
            <a:r>
              <a:rPr lang="en-NZ" sz="1400" spc="-8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a</a:t>
            </a:r>
            <a:r>
              <a:rPr lang="en-NZ" sz="1400" spc="-7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given</a:t>
            </a:r>
            <a:r>
              <a:rPr lang="en-NZ" sz="1400" spc="-45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mbria Math"/>
                <a:cs typeface="Cambria Math"/>
              </a:rPr>
              <a:t>𝑇</a:t>
            </a:r>
            <a:r>
              <a:rPr lang="en-NZ" sz="1400" spc="-25" dirty="0">
                <a:latin typeface="Calibri"/>
                <a:cs typeface="Calibri"/>
              </a:rPr>
              <a:t>)</a:t>
            </a:r>
            <a:endParaRPr lang="en-NZ" sz="1400" dirty="0">
              <a:latin typeface="Calibri"/>
              <a:cs typeface="Calibri"/>
            </a:endParaRPr>
          </a:p>
          <a:p>
            <a:pPr marL="264160" indent="-22606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64160" algn="l"/>
              </a:tabLst>
            </a:pPr>
            <a:r>
              <a:rPr lang="en-NZ" sz="1400" dirty="0">
                <a:latin typeface="Calibri"/>
                <a:cs typeface="Calibri"/>
              </a:rPr>
              <a:t>Higher</a:t>
            </a:r>
            <a:r>
              <a:rPr lang="en-NZ" sz="1400" spc="-65" dirty="0">
                <a:latin typeface="Calibri"/>
                <a:cs typeface="Calibri"/>
              </a:rPr>
              <a:t> </a:t>
            </a:r>
            <a:r>
              <a:rPr lang="en-NZ" sz="1400" spc="-20" dirty="0">
                <a:latin typeface="Calibri"/>
                <a:cs typeface="Calibri"/>
              </a:rPr>
              <a:t>temperatures</a:t>
            </a:r>
            <a:r>
              <a:rPr lang="en-NZ" sz="1400" spc="-8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(</a:t>
            </a:r>
            <a:r>
              <a:rPr lang="en-NZ" sz="1400" dirty="0">
                <a:latin typeface="Cambria Math"/>
                <a:cs typeface="Cambria Math"/>
              </a:rPr>
              <a:t>𝑇</a:t>
            </a:r>
            <a:r>
              <a:rPr lang="en-NZ" sz="1400" spc="110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&gt;</a:t>
            </a:r>
            <a:r>
              <a:rPr lang="en-NZ" sz="1400" spc="80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𝑇</a:t>
            </a:r>
            <a:r>
              <a:rPr lang="en-NZ" sz="1400" baseline="-12698" dirty="0">
                <a:latin typeface="Cambria Math"/>
                <a:cs typeface="Cambria Math"/>
              </a:rPr>
              <a:t>sat</a:t>
            </a:r>
            <a:r>
              <a:rPr lang="en-NZ" sz="1400" spc="270" baseline="-12698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at</a:t>
            </a:r>
            <a:r>
              <a:rPr lang="en-NZ" sz="1400" spc="-6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a</a:t>
            </a:r>
            <a:r>
              <a:rPr lang="en-NZ" sz="1400" spc="-6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given</a:t>
            </a:r>
            <a:r>
              <a:rPr lang="en-NZ" sz="1400" spc="-25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mbria Math"/>
                <a:cs typeface="Cambria Math"/>
              </a:rPr>
              <a:t>𝑃</a:t>
            </a:r>
            <a:r>
              <a:rPr lang="en-NZ" sz="1400" spc="-25" dirty="0">
                <a:latin typeface="Calibri"/>
                <a:cs typeface="Calibri"/>
              </a:rPr>
              <a:t>)</a:t>
            </a:r>
            <a:endParaRPr lang="en-NZ" sz="1400" dirty="0">
              <a:latin typeface="Calibri"/>
              <a:cs typeface="Calibri"/>
            </a:endParaRPr>
          </a:p>
          <a:p>
            <a:pPr marL="264160" indent="-226060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64160" algn="l"/>
              </a:tabLst>
            </a:pPr>
            <a:r>
              <a:rPr lang="en-NZ" sz="1400" spc="-10" dirty="0">
                <a:latin typeface="Calibri"/>
                <a:cs typeface="Calibri"/>
              </a:rPr>
              <a:t>Higher</a:t>
            </a:r>
            <a:r>
              <a:rPr lang="en-NZ" sz="1400" spc="-10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specific</a:t>
            </a:r>
            <a:r>
              <a:rPr lang="en-NZ" sz="1400" spc="-8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volumes</a:t>
            </a:r>
            <a:r>
              <a:rPr lang="en-NZ" sz="1400" spc="-6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(</a:t>
            </a:r>
            <a:r>
              <a:rPr lang="en-NZ" sz="1400" dirty="0">
                <a:latin typeface="Cambria Math"/>
                <a:cs typeface="Cambria Math"/>
              </a:rPr>
              <a:t>𝑣</a:t>
            </a:r>
            <a:r>
              <a:rPr lang="en-NZ" sz="1400" spc="100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&gt;</a:t>
            </a:r>
            <a:r>
              <a:rPr lang="en-NZ" sz="1400" spc="60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𝑣</a:t>
            </a:r>
            <a:r>
              <a:rPr lang="en-NZ" sz="1400" baseline="-12698" dirty="0">
                <a:latin typeface="Cambria Math"/>
                <a:cs typeface="Cambria Math"/>
              </a:rPr>
              <a:t>𝑔</a:t>
            </a:r>
            <a:r>
              <a:rPr lang="en-NZ" sz="1400" spc="292" baseline="-12698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at</a:t>
            </a:r>
            <a:r>
              <a:rPr lang="en-NZ" sz="1400" spc="-8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a</a:t>
            </a:r>
            <a:r>
              <a:rPr lang="en-NZ" sz="1400" spc="-7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given</a:t>
            </a:r>
            <a:r>
              <a:rPr lang="en-NZ" sz="1400" spc="-6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𝑃 </a:t>
            </a:r>
            <a:r>
              <a:rPr lang="en-NZ" sz="1400" dirty="0">
                <a:latin typeface="Calibri"/>
                <a:cs typeface="Calibri"/>
              </a:rPr>
              <a:t>or</a:t>
            </a:r>
            <a:r>
              <a:rPr lang="en-NZ" sz="1400" spc="-70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mbria Math"/>
                <a:cs typeface="Cambria Math"/>
              </a:rPr>
              <a:t>𝑇</a:t>
            </a:r>
            <a:r>
              <a:rPr lang="en-NZ" sz="1400" spc="-25" dirty="0">
                <a:latin typeface="Calibri"/>
                <a:cs typeface="Calibri"/>
              </a:rPr>
              <a:t>)</a:t>
            </a:r>
            <a:endParaRPr lang="en-NZ" sz="1400" dirty="0">
              <a:latin typeface="Calibri"/>
              <a:cs typeface="Calibri"/>
            </a:endParaRPr>
          </a:p>
          <a:p>
            <a:pPr marL="264160" indent="-22606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64160" algn="l"/>
              </a:tabLst>
            </a:pPr>
            <a:r>
              <a:rPr lang="en-NZ" sz="1400" dirty="0">
                <a:latin typeface="Calibri"/>
                <a:cs typeface="Calibri"/>
              </a:rPr>
              <a:t>Higher</a:t>
            </a:r>
            <a:r>
              <a:rPr lang="en-NZ" sz="1400" spc="-9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internal</a:t>
            </a:r>
            <a:r>
              <a:rPr lang="en-NZ" sz="1400" spc="-7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energies</a:t>
            </a:r>
            <a:r>
              <a:rPr lang="en-NZ" sz="1400" spc="-8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(</a:t>
            </a:r>
            <a:r>
              <a:rPr lang="en-NZ" sz="1400" dirty="0">
                <a:latin typeface="Cambria Math"/>
                <a:cs typeface="Cambria Math"/>
              </a:rPr>
              <a:t>𝑢</a:t>
            </a:r>
            <a:r>
              <a:rPr lang="en-NZ" sz="1400" spc="100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&gt;</a:t>
            </a:r>
            <a:r>
              <a:rPr lang="en-NZ" sz="1400" spc="60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𝑢</a:t>
            </a:r>
            <a:r>
              <a:rPr lang="en-NZ" sz="1400" baseline="-12698" dirty="0">
                <a:latin typeface="Cambria Math"/>
                <a:cs typeface="Cambria Math"/>
              </a:rPr>
              <a:t>𝑔</a:t>
            </a:r>
            <a:r>
              <a:rPr lang="en-NZ" sz="1400" spc="307" baseline="-12698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at</a:t>
            </a:r>
            <a:r>
              <a:rPr lang="en-NZ" sz="1400" spc="-7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a</a:t>
            </a:r>
            <a:r>
              <a:rPr lang="en-NZ" sz="1400" spc="-6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given</a:t>
            </a:r>
            <a:r>
              <a:rPr lang="en-NZ" sz="1400" spc="-6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𝑃</a:t>
            </a:r>
            <a:r>
              <a:rPr lang="en-NZ" sz="1400" spc="-5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or</a:t>
            </a:r>
            <a:r>
              <a:rPr lang="en-NZ" sz="1400" spc="-85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mbria Math"/>
                <a:cs typeface="Cambria Math"/>
              </a:rPr>
              <a:t>𝑇</a:t>
            </a:r>
            <a:r>
              <a:rPr lang="en-NZ" sz="1400" spc="-25" dirty="0">
                <a:latin typeface="Calibri"/>
                <a:cs typeface="Calibri"/>
              </a:rPr>
              <a:t>)</a:t>
            </a:r>
            <a:endParaRPr lang="en-NZ" sz="1400" dirty="0">
              <a:latin typeface="Calibri"/>
              <a:cs typeface="Calibri"/>
            </a:endParaRPr>
          </a:p>
          <a:p>
            <a:pPr marL="264160" indent="-22606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264160" algn="l"/>
              </a:tabLst>
            </a:pPr>
            <a:r>
              <a:rPr lang="en-NZ" sz="1400" dirty="0">
                <a:latin typeface="Calibri"/>
                <a:cs typeface="Calibri"/>
              </a:rPr>
              <a:t>Higher</a:t>
            </a:r>
            <a:r>
              <a:rPr lang="en-NZ" sz="1400" spc="-85" dirty="0">
                <a:latin typeface="Calibri"/>
                <a:cs typeface="Calibri"/>
              </a:rPr>
              <a:t> </a:t>
            </a:r>
            <a:r>
              <a:rPr lang="en-NZ" sz="1400" spc="-10" dirty="0">
                <a:latin typeface="Calibri"/>
                <a:cs typeface="Calibri"/>
              </a:rPr>
              <a:t>enthalpies</a:t>
            </a:r>
            <a:r>
              <a:rPr lang="en-NZ" sz="1400" spc="-4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(</a:t>
            </a:r>
            <a:r>
              <a:rPr lang="en-NZ" sz="1400" dirty="0">
                <a:latin typeface="Cambria Math"/>
                <a:cs typeface="Cambria Math"/>
              </a:rPr>
              <a:t>ℎ</a:t>
            </a:r>
            <a:r>
              <a:rPr lang="en-NZ" sz="1400" spc="95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&gt;</a:t>
            </a:r>
            <a:r>
              <a:rPr lang="en-NZ" sz="1400" spc="80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ℎ</a:t>
            </a:r>
            <a:r>
              <a:rPr lang="en-NZ" sz="1400" baseline="-12698" dirty="0">
                <a:latin typeface="Cambria Math"/>
                <a:cs typeface="Cambria Math"/>
              </a:rPr>
              <a:t>𝑔</a:t>
            </a:r>
            <a:r>
              <a:rPr lang="en-NZ" sz="1400" spc="352" baseline="-12698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at</a:t>
            </a:r>
            <a:r>
              <a:rPr lang="en-NZ" sz="1400" spc="-7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a</a:t>
            </a:r>
            <a:r>
              <a:rPr lang="en-NZ" sz="1400" spc="-8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given</a:t>
            </a:r>
            <a:r>
              <a:rPr lang="en-NZ" sz="1400" spc="-3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𝑃 </a:t>
            </a:r>
            <a:r>
              <a:rPr lang="en-NZ" sz="1400" dirty="0">
                <a:latin typeface="Calibri"/>
                <a:cs typeface="Calibri"/>
              </a:rPr>
              <a:t>or</a:t>
            </a:r>
            <a:r>
              <a:rPr lang="en-NZ" sz="1400" spc="-65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mbria Math"/>
                <a:cs typeface="Cambria Math"/>
              </a:rPr>
              <a:t>𝑇</a:t>
            </a:r>
            <a:r>
              <a:rPr lang="en-NZ" sz="1400" spc="-25" dirty="0">
                <a:latin typeface="Calibri"/>
                <a:cs typeface="Calibri"/>
              </a:rPr>
              <a:t>)</a:t>
            </a:r>
            <a:endParaRPr lang="en-NZ" sz="1400" dirty="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D278CF-6606-52C4-3760-DF5BA83B15C3}"/>
              </a:ext>
            </a:extLst>
          </p:cNvPr>
          <p:cNvSpPr txBox="1"/>
          <p:nvPr/>
        </p:nvSpPr>
        <p:spPr>
          <a:xfrm>
            <a:off x="8302372" y="4503400"/>
            <a:ext cx="4913376" cy="205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>
              <a:lnSpc>
                <a:spcPct val="100000"/>
              </a:lnSpc>
              <a:spcBef>
                <a:spcPts val="820"/>
              </a:spcBef>
            </a:pPr>
            <a:r>
              <a:rPr lang="en-NZ" sz="1400" b="1" spc="-10" dirty="0">
                <a:solidFill>
                  <a:srgbClr val="AC0000"/>
                </a:solidFill>
                <a:latin typeface="Calibri"/>
                <a:cs typeface="Calibri"/>
              </a:rPr>
              <a:t>Compressed</a:t>
            </a:r>
            <a:r>
              <a:rPr lang="en-NZ" sz="1400" b="1" spc="-9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lang="en-NZ" sz="1400" b="1" dirty="0">
                <a:solidFill>
                  <a:srgbClr val="AC0000"/>
                </a:solidFill>
                <a:latin typeface="Calibri"/>
                <a:cs typeface="Calibri"/>
              </a:rPr>
              <a:t>liquids</a:t>
            </a:r>
            <a:r>
              <a:rPr lang="en-NZ" sz="1400" b="1" spc="-65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lang="en-NZ" sz="1400" b="1" dirty="0">
                <a:solidFill>
                  <a:srgbClr val="AC0000"/>
                </a:solidFill>
                <a:latin typeface="Calibri"/>
                <a:cs typeface="Calibri"/>
              </a:rPr>
              <a:t>are</a:t>
            </a:r>
            <a:r>
              <a:rPr lang="en-NZ" sz="1400" b="1" spc="-75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lang="en-NZ" sz="1400" b="1" spc="-20" dirty="0">
                <a:solidFill>
                  <a:srgbClr val="AC0000"/>
                </a:solidFill>
                <a:latin typeface="Calibri"/>
                <a:cs typeface="Calibri"/>
              </a:rPr>
              <a:t>characterised</a:t>
            </a:r>
            <a:r>
              <a:rPr lang="en-NZ" sz="1400" b="1" spc="-100" dirty="0">
                <a:solidFill>
                  <a:srgbClr val="AC0000"/>
                </a:solidFill>
                <a:latin typeface="Calibri"/>
                <a:cs typeface="Calibri"/>
              </a:rPr>
              <a:t> </a:t>
            </a:r>
            <a:r>
              <a:rPr lang="en-NZ" sz="1400" b="1" spc="-25" dirty="0">
                <a:solidFill>
                  <a:srgbClr val="AC0000"/>
                </a:solidFill>
                <a:latin typeface="Calibri"/>
                <a:cs typeface="Calibri"/>
              </a:rPr>
              <a:t>by:</a:t>
            </a:r>
            <a:endParaRPr lang="en-NZ" sz="1400" dirty="0">
              <a:latin typeface="Calibri"/>
              <a:cs typeface="Calibri"/>
            </a:endParaRPr>
          </a:p>
          <a:p>
            <a:pPr marL="251460" indent="-22606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51460" algn="l"/>
              </a:tabLst>
            </a:pPr>
            <a:r>
              <a:rPr lang="en-NZ" sz="1400" dirty="0">
                <a:latin typeface="Calibri"/>
                <a:cs typeface="Calibri"/>
              </a:rPr>
              <a:t>Higher</a:t>
            </a:r>
            <a:r>
              <a:rPr lang="en-NZ" sz="1400" spc="-80" dirty="0">
                <a:latin typeface="Calibri"/>
                <a:cs typeface="Calibri"/>
              </a:rPr>
              <a:t> </a:t>
            </a:r>
            <a:r>
              <a:rPr lang="en-NZ" sz="1400" spc="-10" dirty="0">
                <a:latin typeface="Calibri"/>
                <a:cs typeface="Calibri"/>
              </a:rPr>
              <a:t>pressures</a:t>
            </a:r>
            <a:r>
              <a:rPr lang="en-NZ" sz="1400" spc="-5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(</a:t>
            </a:r>
            <a:r>
              <a:rPr lang="en-NZ" sz="1400" dirty="0">
                <a:latin typeface="Cambria Math"/>
                <a:cs typeface="Cambria Math"/>
              </a:rPr>
              <a:t>𝑃</a:t>
            </a:r>
            <a:r>
              <a:rPr lang="en-NZ" sz="1400" spc="105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&gt;</a:t>
            </a:r>
            <a:r>
              <a:rPr lang="en-NZ" sz="1400" spc="75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𝑃</a:t>
            </a:r>
            <a:r>
              <a:rPr lang="en-NZ" sz="1400" baseline="-12698" dirty="0">
                <a:latin typeface="Cambria Math"/>
                <a:cs typeface="Cambria Math"/>
              </a:rPr>
              <a:t>sat</a:t>
            </a:r>
            <a:r>
              <a:rPr lang="en-NZ" sz="1400" spc="262" baseline="-12698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at</a:t>
            </a:r>
            <a:r>
              <a:rPr lang="en-NZ" sz="1400" spc="-8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a</a:t>
            </a:r>
            <a:r>
              <a:rPr lang="en-NZ" sz="1400" spc="-7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given</a:t>
            </a:r>
            <a:r>
              <a:rPr lang="en-NZ" sz="1400" spc="-50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mbria Math"/>
                <a:cs typeface="Cambria Math"/>
              </a:rPr>
              <a:t>𝑇</a:t>
            </a:r>
            <a:r>
              <a:rPr lang="en-NZ" sz="1400" spc="-25" dirty="0">
                <a:latin typeface="Calibri"/>
                <a:cs typeface="Calibri"/>
              </a:rPr>
              <a:t>)</a:t>
            </a:r>
            <a:endParaRPr lang="en-NZ" sz="1400" dirty="0">
              <a:latin typeface="Calibri"/>
              <a:cs typeface="Calibri"/>
            </a:endParaRPr>
          </a:p>
          <a:p>
            <a:pPr marL="251460" indent="-22606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51460" algn="l"/>
              </a:tabLst>
            </a:pPr>
            <a:r>
              <a:rPr lang="en-NZ" sz="1400" dirty="0">
                <a:latin typeface="Calibri"/>
                <a:cs typeface="Calibri"/>
              </a:rPr>
              <a:t>Lower</a:t>
            </a:r>
            <a:r>
              <a:rPr lang="en-NZ" sz="1400" spc="-45" dirty="0">
                <a:latin typeface="Calibri"/>
                <a:cs typeface="Calibri"/>
              </a:rPr>
              <a:t> </a:t>
            </a:r>
            <a:r>
              <a:rPr lang="en-NZ" sz="1400" spc="-20" dirty="0">
                <a:latin typeface="Calibri"/>
                <a:cs typeface="Calibri"/>
              </a:rPr>
              <a:t>temperatures</a:t>
            </a:r>
            <a:r>
              <a:rPr lang="en-NZ" sz="1400" spc="-7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(</a:t>
            </a:r>
            <a:r>
              <a:rPr lang="en-NZ" sz="1400" dirty="0">
                <a:latin typeface="Cambria Math"/>
                <a:cs typeface="Cambria Math"/>
              </a:rPr>
              <a:t>𝑇</a:t>
            </a:r>
            <a:r>
              <a:rPr lang="en-NZ" sz="1400" spc="114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&lt;</a:t>
            </a:r>
            <a:r>
              <a:rPr lang="en-NZ" sz="1400" spc="95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𝑇</a:t>
            </a:r>
            <a:r>
              <a:rPr lang="en-NZ" sz="1400" baseline="-12698" dirty="0">
                <a:latin typeface="Cambria Math"/>
                <a:cs typeface="Cambria Math"/>
              </a:rPr>
              <a:t>sat</a:t>
            </a:r>
            <a:r>
              <a:rPr lang="en-NZ" sz="1400" spc="225" baseline="-12698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at</a:t>
            </a:r>
            <a:r>
              <a:rPr lang="en-NZ" sz="1400" spc="-4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a</a:t>
            </a:r>
            <a:r>
              <a:rPr lang="en-NZ" sz="1400" spc="-7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given</a:t>
            </a:r>
            <a:r>
              <a:rPr lang="en-NZ" sz="1400" spc="-15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mbria Math"/>
                <a:cs typeface="Cambria Math"/>
              </a:rPr>
              <a:t>𝑃</a:t>
            </a:r>
            <a:r>
              <a:rPr lang="en-NZ" sz="1400" spc="-25" dirty="0">
                <a:latin typeface="Calibri"/>
                <a:cs typeface="Calibri"/>
              </a:rPr>
              <a:t>)</a:t>
            </a:r>
            <a:endParaRPr lang="en-NZ" sz="1400" dirty="0">
              <a:latin typeface="Calibri"/>
              <a:cs typeface="Calibri"/>
            </a:endParaRPr>
          </a:p>
          <a:p>
            <a:pPr marL="251460" indent="-226060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51460" algn="l"/>
              </a:tabLst>
            </a:pPr>
            <a:r>
              <a:rPr lang="en-NZ" sz="1400" dirty="0">
                <a:latin typeface="Calibri"/>
                <a:cs typeface="Calibri"/>
              </a:rPr>
              <a:t>Lower</a:t>
            </a:r>
            <a:r>
              <a:rPr lang="en-NZ" sz="1400" spc="-7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specific</a:t>
            </a:r>
            <a:r>
              <a:rPr lang="en-NZ" sz="1400" spc="-9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volumes</a:t>
            </a:r>
            <a:r>
              <a:rPr lang="en-NZ" sz="1400" spc="-6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(</a:t>
            </a:r>
            <a:r>
              <a:rPr lang="en-NZ" sz="1400" dirty="0">
                <a:latin typeface="Cambria Math"/>
                <a:cs typeface="Cambria Math"/>
              </a:rPr>
              <a:t>𝑣</a:t>
            </a:r>
            <a:r>
              <a:rPr lang="en-NZ" sz="1400" spc="90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≤</a:t>
            </a:r>
            <a:r>
              <a:rPr lang="en-NZ" sz="1400" spc="50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𝑣</a:t>
            </a:r>
            <a:r>
              <a:rPr lang="en-NZ" sz="1400" baseline="-12698" dirty="0">
                <a:latin typeface="Cambria Math"/>
                <a:cs typeface="Cambria Math"/>
              </a:rPr>
              <a:t>𝑓</a:t>
            </a:r>
            <a:r>
              <a:rPr lang="en-NZ" sz="1400" spc="270" baseline="-12698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at</a:t>
            </a:r>
            <a:r>
              <a:rPr lang="en-NZ" sz="1400" spc="-9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a</a:t>
            </a:r>
            <a:r>
              <a:rPr lang="en-NZ" sz="1400" spc="-7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given</a:t>
            </a:r>
            <a:r>
              <a:rPr lang="en-NZ" sz="1400" spc="-6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𝑃</a:t>
            </a:r>
            <a:r>
              <a:rPr lang="en-NZ" sz="1400" spc="-10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and</a:t>
            </a:r>
            <a:r>
              <a:rPr lang="en-NZ" sz="1400" spc="-80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mbria Math"/>
                <a:cs typeface="Cambria Math"/>
              </a:rPr>
              <a:t>𝑇</a:t>
            </a:r>
            <a:r>
              <a:rPr lang="en-NZ" sz="1400" spc="-25" dirty="0">
                <a:latin typeface="Calibri"/>
                <a:cs typeface="Calibri"/>
              </a:rPr>
              <a:t>)</a:t>
            </a:r>
            <a:endParaRPr lang="en-NZ" sz="1400" dirty="0">
              <a:latin typeface="Calibri"/>
              <a:cs typeface="Calibri"/>
            </a:endParaRPr>
          </a:p>
          <a:p>
            <a:pPr marL="251460" indent="-22606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51460" algn="l"/>
              </a:tabLst>
            </a:pPr>
            <a:r>
              <a:rPr lang="en-NZ" sz="1400" dirty="0">
                <a:latin typeface="Calibri"/>
                <a:cs typeface="Calibri"/>
              </a:rPr>
              <a:t>Lower</a:t>
            </a:r>
            <a:r>
              <a:rPr lang="en-NZ" sz="1400" spc="-60" dirty="0">
                <a:latin typeface="Calibri"/>
                <a:cs typeface="Calibri"/>
              </a:rPr>
              <a:t> </a:t>
            </a:r>
            <a:r>
              <a:rPr lang="en-NZ" sz="1400" spc="-10" dirty="0">
                <a:latin typeface="Calibri"/>
                <a:cs typeface="Calibri"/>
              </a:rPr>
              <a:t>internal</a:t>
            </a:r>
            <a:r>
              <a:rPr lang="en-NZ" sz="1400" spc="-8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energies</a:t>
            </a:r>
            <a:r>
              <a:rPr lang="en-NZ" sz="1400" spc="-6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(</a:t>
            </a:r>
            <a:r>
              <a:rPr lang="en-NZ" sz="1400" dirty="0">
                <a:latin typeface="Cambria Math"/>
                <a:cs typeface="Cambria Math"/>
              </a:rPr>
              <a:t>𝑢</a:t>
            </a:r>
            <a:r>
              <a:rPr lang="en-NZ" sz="1400" spc="105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≤</a:t>
            </a:r>
            <a:r>
              <a:rPr lang="en-NZ" sz="1400" spc="45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𝑢</a:t>
            </a:r>
            <a:r>
              <a:rPr lang="en-NZ" sz="1400" baseline="-12698" dirty="0">
                <a:latin typeface="Cambria Math"/>
                <a:cs typeface="Cambria Math"/>
              </a:rPr>
              <a:t>𝑓</a:t>
            </a:r>
            <a:r>
              <a:rPr lang="en-NZ" sz="1400" spc="322" baseline="-12698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at</a:t>
            </a:r>
            <a:r>
              <a:rPr lang="en-NZ" sz="1400" spc="-7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a</a:t>
            </a:r>
            <a:r>
              <a:rPr lang="en-NZ" sz="1400" spc="-8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given</a:t>
            </a:r>
            <a:r>
              <a:rPr lang="en-NZ" sz="1400" spc="-4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𝑃 </a:t>
            </a:r>
            <a:r>
              <a:rPr lang="en-NZ" sz="1400" dirty="0">
                <a:latin typeface="Calibri"/>
                <a:cs typeface="Calibri"/>
              </a:rPr>
              <a:t>and</a:t>
            </a:r>
            <a:r>
              <a:rPr lang="en-NZ" sz="1400" spc="-65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mbria Math"/>
                <a:cs typeface="Cambria Math"/>
              </a:rPr>
              <a:t>𝑇</a:t>
            </a:r>
            <a:r>
              <a:rPr lang="en-NZ" sz="1400" spc="-25" dirty="0">
                <a:latin typeface="Calibri"/>
                <a:cs typeface="Calibri"/>
              </a:rPr>
              <a:t>)</a:t>
            </a:r>
            <a:endParaRPr lang="en-NZ" sz="1400" dirty="0">
              <a:latin typeface="Calibri"/>
              <a:cs typeface="Calibri"/>
            </a:endParaRPr>
          </a:p>
          <a:p>
            <a:pPr marL="251460" indent="-22606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251460" algn="l"/>
              </a:tabLst>
            </a:pPr>
            <a:r>
              <a:rPr lang="en-NZ" sz="1400" dirty="0">
                <a:latin typeface="Calibri"/>
                <a:cs typeface="Calibri"/>
              </a:rPr>
              <a:t>Lower</a:t>
            </a:r>
            <a:r>
              <a:rPr lang="en-NZ" sz="1400" spc="-65" dirty="0">
                <a:latin typeface="Calibri"/>
                <a:cs typeface="Calibri"/>
              </a:rPr>
              <a:t> </a:t>
            </a:r>
            <a:r>
              <a:rPr lang="en-NZ" sz="1400" spc="-10" dirty="0">
                <a:latin typeface="Calibri"/>
                <a:cs typeface="Calibri"/>
              </a:rPr>
              <a:t>enthalpies</a:t>
            </a:r>
            <a:r>
              <a:rPr lang="en-NZ" sz="1400" spc="-8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(</a:t>
            </a:r>
            <a:r>
              <a:rPr lang="en-NZ" sz="1400" dirty="0">
                <a:latin typeface="Cambria Math"/>
                <a:cs typeface="Cambria Math"/>
              </a:rPr>
              <a:t>ℎ</a:t>
            </a:r>
            <a:r>
              <a:rPr lang="en-NZ" sz="1400" spc="95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≤</a:t>
            </a:r>
            <a:r>
              <a:rPr lang="en-NZ" sz="1400" spc="60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ℎ</a:t>
            </a:r>
            <a:r>
              <a:rPr lang="en-NZ" sz="1400" baseline="-12698" dirty="0">
                <a:latin typeface="Cambria Math"/>
                <a:cs typeface="Cambria Math"/>
              </a:rPr>
              <a:t>𝑓</a:t>
            </a:r>
            <a:r>
              <a:rPr lang="en-NZ" sz="1400" spc="322" baseline="-12698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at</a:t>
            </a:r>
            <a:r>
              <a:rPr lang="en-NZ" sz="1400" spc="-8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a</a:t>
            </a:r>
            <a:r>
              <a:rPr lang="en-NZ" sz="1400" spc="-8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given</a:t>
            </a:r>
            <a:r>
              <a:rPr lang="en-NZ" sz="1400" spc="-4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mbria Math"/>
                <a:cs typeface="Cambria Math"/>
              </a:rPr>
              <a:t>𝑃</a:t>
            </a:r>
            <a:r>
              <a:rPr lang="en-NZ" sz="1400" spc="-25" dirty="0">
                <a:latin typeface="Cambria Math"/>
                <a:cs typeface="Cambria Math"/>
              </a:rPr>
              <a:t> </a:t>
            </a:r>
            <a:r>
              <a:rPr lang="en-NZ" sz="1400" dirty="0">
                <a:latin typeface="Calibri"/>
                <a:cs typeface="Calibri"/>
              </a:rPr>
              <a:t>and</a:t>
            </a:r>
            <a:r>
              <a:rPr lang="en-NZ" sz="1400" spc="-55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mbria Math"/>
                <a:cs typeface="Cambria Math"/>
              </a:rPr>
              <a:t>𝑇</a:t>
            </a:r>
            <a:r>
              <a:rPr lang="en-NZ" sz="1400" spc="-25" dirty="0">
                <a:latin typeface="Calibri"/>
                <a:cs typeface="Calibri"/>
              </a:rPr>
              <a:t>)</a:t>
            </a:r>
            <a:endParaRPr lang="en-NZ"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9063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36305-E634-98D4-F777-59561DC8F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BC496-26E4-D019-CED1-1554075F5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E7B03D-DB7E-8B3A-FEFC-991390176A40}"/>
              </a:ext>
            </a:extLst>
          </p:cNvPr>
          <p:cNvSpPr txBox="1"/>
          <p:nvPr/>
        </p:nvSpPr>
        <p:spPr>
          <a:xfrm>
            <a:off x="1295400" y="990600"/>
            <a:ext cx="10515600" cy="1136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Q7)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10 kg of water fills a 1.115 m</a:t>
            </a:r>
            <a:r>
              <a:rPr lang="en-NZ" sz="2000" kern="100" baseline="300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rigid container at an initial temperature of 150°C. The container is then heated until the pressure is 2000 kPa. Determine the initial pressure and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quality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and the final temperature.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159020-BE5A-D647-E929-73434DE21B89}"/>
                  </a:ext>
                </a:extLst>
              </p:cNvPr>
              <p:cNvSpPr txBox="1"/>
              <p:nvPr/>
            </p:nvSpPr>
            <p:spPr>
              <a:xfrm>
                <a:off x="1432941" y="2404676"/>
                <a:ext cx="10911459" cy="3853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NZ" dirty="0"/>
                  <a:t>To find out specific volume:  </a:t>
                </a:r>
                <a14:m>
                  <m:oMath xmlns:m="http://schemas.openxmlformats.org/officeDocument/2006/math">
                    <m:r>
                      <a:rPr lang="en-NZ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NZ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NZ" dirty="0"/>
                  <a:t> (</a:t>
                </a:r>
                <a:r>
                  <a:rPr lang="en-NZ" sz="1400" dirty="0">
                    <a:solidFill>
                      <a:srgbClr val="FF0000"/>
                    </a:solidFill>
                  </a:rPr>
                  <a:t>The container is rigid, so its total volume and specific volume remain constant</a:t>
                </a:r>
                <a:r>
                  <a:rPr lang="en-NZ" dirty="0"/>
                  <a:t>)</a:t>
                </a:r>
              </a:p>
              <a:p>
                <a:endParaRPr lang="en-NZ" dirty="0"/>
              </a:p>
              <a:p>
                <a:r>
                  <a:rPr lang="en-NZ" dirty="0"/>
                  <a:t>To find out initial </a:t>
                </a:r>
                <a:r>
                  <a:rPr lang="en-NZ" dirty="0">
                    <a:solidFill>
                      <a:srgbClr val="FF0000"/>
                    </a:solidFill>
                  </a:rPr>
                  <a:t>quality</a:t>
                </a:r>
                <a:r>
                  <a:rPr lang="en-NZ" dirty="0"/>
                  <a:t> (it is saturation mixture),  </a:t>
                </a:r>
              </a:p>
              <a:p>
                <a:endParaRPr lang="en-NZ" dirty="0"/>
              </a:p>
              <a:p>
                <a:pPr marL="285750" indent="-285750">
                  <a:buFontTx/>
                  <a:buChar char="-"/>
                </a:pPr>
                <a:r>
                  <a:rPr lang="en-NZ" dirty="0"/>
                  <a:t>Initial temperature (Use Table A4) ----</a:t>
                </a:r>
                <a:r>
                  <a:rPr lang="en-NZ" dirty="0">
                    <a:sym typeface="Wingdings" panose="05000000000000000000" pitchFamily="2" charset="2"/>
                  </a:rPr>
                  <a:t> Initial pressure = Saturation pressure </a:t>
                </a:r>
              </a:p>
              <a:p>
                <a:endParaRPr lang="en-NZ" dirty="0"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NZ" dirty="0">
                    <a:sym typeface="Wingdings" panose="05000000000000000000" pitchFamily="2" charset="2"/>
                  </a:rPr>
                  <a:t>Use Table A4, to find 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NZ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NZ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NZ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NZ" dirty="0">
                    <a:sym typeface="Wingdings" panose="05000000000000000000" pitchFamily="2" charset="2"/>
                  </a:rPr>
                  <a:t>, and to find out quality x. </a:t>
                </a:r>
              </a:p>
              <a:p>
                <a:pPr marL="285750" indent="-285750">
                  <a:buFontTx/>
                  <a:buChar char="-"/>
                </a:pPr>
                <a:endParaRPr lang="en-NZ" dirty="0"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NZ" dirty="0">
                    <a:sym typeface="Wingdings" panose="05000000000000000000" pitchFamily="2" charset="2"/>
                  </a:rPr>
                  <a:t>Final state: </a:t>
                </a:r>
                <a14:m>
                  <m:oMath xmlns:m="http://schemas.openxmlformats.org/officeDocument/2006/math">
                    <m:r>
                      <a:rPr lang="en-NZ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NZ" b="0" i="1" baseline="-250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NZ" b="0" i="1" baseline="-2500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NZ" baseline="-25000" dirty="0">
                    <a:sym typeface="Wingdings" panose="05000000000000000000" pitchFamily="2" charset="2"/>
                  </a:rPr>
                  <a:t> ,    </a:t>
                </a:r>
                <a:r>
                  <a:rPr lang="en-NZ" dirty="0">
                    <a:sym typeface="Wingdings" panose="05000000000000000000" pitchFamily="2" charset="2"/>
                  </a:rPr>
                  <a:t>P</a:t>
                </a:r>
                <a:r>
                  <a:rPr lang="en-NZ" baseline="-25000" dirty="0">
                    <a:sym typeface="Wingdings" panose="05000000000000000000" pitchFamily="2" charset="2"/>
                  </a:rPr>
                  <a:t>1</a:t>
                </a:r>
                <a:r>
                  <a:rPr lang="en-NZ" dirty="0">
                    <a:sym typeface="Wingdings" panose="05000000000000000000" pitchFamily="2" charset="2"/>
                  </a:rPr>
                  <a:t>= 2000 Kpa (use Table A5) to find 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NZ" dirty="0">
                    <a:sym typeface="Wingdings" panose="05000000000000000000" pitchFamily="2" charset="2"/>
                  </a:rPr>
                  <a:t>, and then to compare with </a:t>
                </a:r>
                <a14:m>
                  <m:oMath xmlns:m="http://schemas.openxmlformats.org/officeDocument/2006/math">
                    <m:r>
                      <a:rPr lang="en-NZ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NZ" b="0" i="1" baseline="-2500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NZ" dirty="0">
                  <a:sym typeface="Wingdings" panose="05000000000000000000" pitchFamily="2" charset="2"/>
                </a:endParaRPr>
              </a:p>
              <a:p>
                <a:endParaRPr lang="en-NZ" dirty="0"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NZ" dirty="0">
                    <a:sym typeface="Wingdings" panose="05000000000000000000" pitchFamily="2" charset="2"/>
                  </a:rPr>
                  <a:t>If it is superheated gas, we need to use Table A6.  (Based on </a:t>
                </a:r>
                <a14:m>
                  <m:oMath xmlns:m="http://schemas.openxmlformats.org/officeDocument/2006/math">
                    <m:r>
                      <a:rPr lang="en-NZ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NZ" b="0" i="1" baseline="-2500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NZ" dirty="0">
                    <a:sym typeface="Wingdings" panose="05000000000000000000" pitchFamily="2" charset="2"/>
                  </a:rPr>
                  <a:t> and P</a:t>
                </a:r>
                <a:r>
                  <a:rPr lang="en-NZ" baseline="-25000" dirty="0">
                    <a:sym typeface="Wingdings" panose="05000000000000000000" pitchFamily="2" charset="2"/>
                  </a:rPr>
                  <a:t>1 </a:t>
                </a:r>
                <a:r>
                  <a:rPr lang="en-NZ" dirty="0">
                    <a:sym typeface="Wingdings" panose="05000000000000000000" pitchFamily="2" charset="2"/>
                  </a:rPr>
                  <a:t>to find out T</a:t>
                </a:r>
                <a:r>
                  <a:rPr lang="en-NZ" baseline="-25000" dirty="0">
                    <a:sym typeface="Wingdings" panose="05000000000000000000" pitchFamily="2" charset="2"/>
                  </a:rPr>
                  <a:t>1</a:t>
                </a:r>
                <a:r>
                  <a:rPr lang="en-NZ" dirty="0">
                    <a:sym typeface="Wingdings" panose="05000000000000000000" pitchFamily="2" charset="2"/>
                  </a:rPr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NZ" dirty="0">
                    <a:sym typeface="Wingdings" panose="05000000000000000000" pitchFamily="2" charset="2"/>
                  </a:rPr>
                  <a:t>If it is compressed liquid, we need to use Table A7.  (Based on </a:t>
                </a:r>
                <a14:m>
                  <m:oMath xmlns:m="http://schemas.openxmlformats.org/officeDocument/2006/math">
                    <m:r>
                      <a:rPr lang="en-NZ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NZ" b="0" i="1" baseline="-2500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NZ" dirty="0">
                    <a:sym typeface="Wingdings" panose="05000000000000000000" pitchFamily="2" charset="2"/>
                  </a:rPr>
                  <a:t> and P</a:t>
                </a:r>
                <a:r>
                  <a:rPr lang="en-NZ" baseline="-25000" dirty="0">
                    <a:sym typeface="Wingdings" panose="05000000000000000000" pitchFamily="2" charset="2"/>
                  </a:rPr>
                  <a:t>1 </a:t>
                </a:r>
                <a:r>
                  <a:rPr lang="en-NZ" dirty="0">
                    <a:sym typeface="Wingdings" panose="05000000000000000000" pitchFamily="2" charset="2"/>
                  </a:rPr>
                  <a:t>to find out T</a:t>
                </a:r>
                <a:r>
                  <a:rPr lang="en-NZ" baseline="-25000" dirty="0">
                    <a:sym typeface="Wingdings" panose="05000000000000000000" pitchFamily="2" charset="2"/>
                  </a:rPr>
                  <a:t>1</a:t>
                </a:r>
                <a:r>
                  <a:rPr lang="en-NZ" dirty="0">
                    <a:sym typeface="Wingdings" panose="05000000000000000000" pitchFamily="2" charset="2"/>
                  </a:rPr>
                  <a:t>)</a:t>
                </a:r>
              </a:p>
              <a:p>
                <a:endParaRPr lang="en-NZ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159020-BE5A-D647-E929-73434DE21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41" y="2404676"/>
                <a:ext cx="10911459" cy="3853299"/>
              </a:xfrm>
              <a:prstGeom prst="rect">
                <a:avLst/>
              </a:prstGeom>
              <a:blipFill>
                <a:blip r:embed="rId2"/>
                <a:stretch>
                  <a:fillRect l="-44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3300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D0967-2507-B4DF-753A-0E629B633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659C-EEC8-E22F-B963-09969280B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AA842-3CD6-2DC0-3065-593DE0E6851B}"/>
              </a:ext>
            </a:extLst>
          </p:cNvPr>
          <p:cNvSpPr txBox="1"/>
          <p:nvPr/>
        </p:nvSpPr>
        <p:spPr>
          <a:xfrm>
            <a:off x="1402460" y="914400"/>
            <a:ext cx="10789539" cy="1136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Q8)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piston-cylinder device contains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0.6 kg of steam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at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300°C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and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0.5 MPa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The steam is cooled at a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constant pressure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until </a:t>
            </a:r>
            <a:r>
              <a:rPr lang="en-NZ" sz="20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one-half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of the mass condenses. Show the process on a T-v diagram, find the final temperature, and determine the volume change.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36F8B2-092D-A80A-98FE-B36FDB322F72}"/>
                  </a:ext>
                </a:extLst>
              </p:cNvPr>
              <p:cNvSpPr txBox="1"/>
              <p:nvPr/>
            </p:nvSpPr>
            <p:spPr>
              <a:xfrm>
                <a:off x="1295400" y="2051121"/>
                <a:ext cx="10530459" cy="4062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NZ" dirty="0"/>
                  <a:t>Way 1: Based on the pressure P</a:t>
                </a:r>
                <a:r>
                  <a:rPr lang="en-NZ" baseline="-25000" dirty="0"/>
                  <a:t>1</a:t>
                </a:r>
                <a:r>
                  <a:rPr lang="en-NZ" dirty="0"/>
                  <a:t>,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n-NZ" dirty="0"/>
                  <a:t>(Use Table 5), and then to compare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1  </m:t>
                        </m:r>
                      </m:sub>
                    </m:sSub>
                  </m:oMath>
                </a14:m>
                <a:endParaRPr lang="en-NZ" dirty="0"/>
              </a:p>
              <a:p>
                <a:r>
                  <a:rPr lang="en-NZ" dirty="0"/>
                  <a:t>Way 2: Based on the temperature T</a:t>
                </a:r>
                <a:r>
                  <a:rPr lang="en-NZ" baseline="-25000" dirty="0"/>
                  <a:t>1</a:t>
                </a:r>
                <a:r>
                  <a:rPr lang="en-NZ" dirty="0"/>
                  <a:t>,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n-NZ" dirty="0"/>
                  <a:t>  (Use Table A4), and then to compare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1  </m:t>
                        </m:r>
                      </m:sub>
                    </m:sSub>
                  </m:oMath>
                </a14:m>
                <a:r>
                  <a:rPr lang="en-NZ" dirty="0"/>
                  <a:t> </a:t>
                </a:r>
              </a:p>
              <a:p>
                <a:endParaRPr lang="en-NZ" dirty="0"/>
              </a:p>
              <a:p>
                <a:r>
                  <a:rPr lang="en-NZ" dirty="0"/>
                  <a:t>If it is a superheated vapour, to use Table A-6, to find 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NZ" dirty="0"/>
                  <a:t> (Based on P</a:t>
                </a:r>
                <a:r>
                  <a:rPr lang="en-NZ" baseline="-25000" dirty="0"/>
                  <a:t>1</a:t>
                </a:r>
                <a:r>
                  <a:rPr lang="en-NZ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1  </m:t>
                        </m:r>
                      </m:sub>
                    </m:sSub>
                    <m:r>
                      <a:rPr lang="en-NZ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NZ" dirty="0"/>
              </a:p>
              <a:p>
                <a:endParaRPr lang="en-NZ" dirty="0"/>
              </a:p>
              <a:p>
                <a:r>
                  <a:rPr lang="en-NZ" dirty="0"/>
                  <a:t>Since </a:t>
                </a:r>
                <a:r>
                  <a:rPr lang="en-NZ" sz="1800" kern="100" dirty="0">
                    <a:solidFill>
                      <a:srgbClr val="FF0000"/>
                    </a:solidFill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one-half</a:t>
                </a:r>
                <a:r>
                  <a:rPr lang="en-NZ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the mass condenses (x=0.5) , so T</a:t>
                </a:r>
                <a:r>
                  <a:rPr lang="en-NZ" sz="1800" kern="100" baseline="-250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NZ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sz="180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NZ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NZ" sz="18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𝑠𝑎𝑡</m:t>
                        </m:r>
                      </m:sub>
                    </m:sSub>
                    <m:r>
                      <a:rPr lang="en-NZ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@ 0.5 </m:t>
                    </m:r>
                    <m:r>
                      <a:rPr lang="en-NZ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𝑀𝑝𝑎</m:t>
                    </m:r>
                  </m:oMath>
                </a14:m>
                <a:r>
                  <a:rPr lang="en-NZ" dirty="0"/>
                  <a:t> (using Table A5). </a:t>
                </a:r>
              </a:p>
              <a:p>
                <a:endParaRPr lang="en-NZ" dirty="0"/>
              </a:p>
              <a:p>
                <a:r>
                  <a:rPr lang="en-NZ" dirty="0"/>
                  <a:t>We also need to find out V</a:t>
                </a:r>
                <a:r>
                  <a:rPr lang="en-NZ" baseline="-25000" dirty="0"/>
                  <a:t>f </a:t>
                </a:r>
                <a:r>
                  <a:rPr lang="en-NZ" dirty="0"/>
                  <a:t>and V</a:t>
                </a:r>
                <a:r>
                  <a:rPr lang="en-NZ" baseline="-25000" dirty="0"/>
                  <a:t>g</a:t>
                </a:r>
                <a:r>
                  <a:rPr lang="en-NZ" dirty="0"/>
                  <a:t> </a:t>
                </a:r>
                <a14:m>
                  <m:oMath xmlns:m="http://schemas.openxmlformats.org/officeDocument/2006/math">
                    <m:r>
                      <a:rPr lang="en-NZ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@ 0.5 </m:t>
                    </m:r>
                    <m:r>
                      <a:rPr lang="en-NZ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𝑀𝑝𝑎</m:t>
                    </m:r>
                  </m:oMath>
                </a14:m>
                <a:r>
                  <a:rPr lang="en-NZ" dirty="0"/>
                  <a:t> from Table A5. </a:t>
                </a:r>
              </a:p>
              <a:p>
                <a:endParaRPr lang="en-NZ" dirty="0"/>
              </a:p>
              <a:p>
                <a:endParaRPr lang="en-NZ" dirty="0"/>
              </a:p>
              <a:p>
                <a:endParaRPr lang="en-NZ" baseline="-25000" dirty="0"/>
              </a:p>
              <a:p>
                <a:endParaRPr lang="en-NZ" baseline="-25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</m:t>
                      </m:r>
                      <m:r>
                        <a:rPr lang="en-NZ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N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N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N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N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N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NZ" b="0" dirty="0">
                  <a:ea typeface="Cambria Math" panose="02040503050406030204" pitchFamily="18" charset="0"/>
                </a:endParaRPr>
              </a:p>
              <a:p>
                <a:endParaRPr lang="en-NZ" dirty="0"/>
              </a:p>
              <a:p>
                <a:endParaRPr lang="en-NZ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36F8B2-092D-A80A-98FE-B36FDB322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2051121"/>
                <a:ext cx="10530459" cy="4062651"/>
              </a:xfrm>
              <a:prstGeom prst="rect">
                <a:avLst/>
              </a:prstGeom>
              <a:blipFill>
                <a:blip r:embed="rId2"/>
                <a:stretch>
                  <a:fillRect l="-521" t="-7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object 4">
            <a:extLst>
              <a:ext uri="{FF2B5EF4-FFF2-40B4-BE49-F238E27FC236}">
                <a16:creationId xmlns:a16="http://schemas.microsoft.com/office/drawing/2014/main" id="{D47BEC9C-21D1-5893-D6F8-BEA659F4B9F9}"/>
              </a:ext>
            </a:extLst>
          </p:cNvPr>
          <p:cNvPicPr/>
          <p:nvPr/>
        </p:nvPicPr>
        <p:blipFill>
          <a:blip r:embed="rId3" cstate="print"/>
          <a:srcRect t="74301"/>
          <a:stretch>
            <a:fillRect/>
          </a:stretch>
        </p:blipFill>
        <p:spPr>
          <a:xfrm>
            <a:off x="2362200" y="4495800"/>
            <a:ext cx="2438400" cy="381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FDFEB8-DA43-1143-2A68-AAFECF3953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130" y="4114800"/>
            <a:ext cx="4633340" cy="263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00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1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1915</TotalTime>
  <Words>1449</Words>
  <Application>Microsoft Office PowerPoint</Application>
  <PresentationFormat>Widescreen</PresentationFormat>
  <Paragraphs>133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Wingdings</vt:lpstr>
      <vt:lpstr>Aptos</vt:lpstr>
      <vt:lpstr>Times New Roman</vt:lpstr>
      <vt:lpstr>Cambria Math</vt:lpstr>
      <vt:lpstr>Arial</vt:lpstr>
      <vt:lpstr>Office Theme</vt:lpstr>
      <vt:lpstr>PowerPoint Presentation</vt:lpstr>
      <vt:lpstr>Superheated Vapour Tables</vt:lpstr>
      <vt:lpstr>Compressed Liquid</vt:lpstr>
      <vt:lpstr>Compressed Liquid</vt:lpstr>
      <vt:lpstr>Interpolation (1)</vt:lpstr>
      <vt:lpstr>Interpolation (2)  Example: 𝐅𝐢𝐧𝐝 𝐏𝐬𝐚𝐭 𝐚𝐭 𝐓 = 𝟐𝟎𝟖℃?</vt:lpstr>
      <vt:lpstr>PowerPoint Presentation</vt:lpstr>
      <vt:lpstr>Tutorial Questions (Week 3) Q1-Q8 Guidelines </vt:lpstr>
      <vt:lpstr>Tutorial Question Q1</vt:lpstr>
      <vt:lpstr>Tutorial Question Q2</vt:lpstr>
      <vt:lpstr>Tutorial Question Q3</vt:lpstr>
      <vt:lpstr>Tutorial Question Q4</vt:lpstr>
      <vt:lpstr>Tutorial Question Q5</vt:lpstr>
      <vt:lpstr>Tutorial Question Q6</vt:lpstr>
      <vt:lpstr>Tutorial Question Q7</vt:lpstr>
      <vt:lpstr>Tutorial Question Q8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</dc:title>
  <dc:creator>Remko de Jong</dc:creator>
  <cp:lastModifiedBy>Jay Wang</cp:lastModifiedBy>
  <cp:revision>85</cp:revision>
  <dcterms:created xsi:type="dcterms:W3CDTF">2026-07-25T12:49:27Z</dcterms:created>
  <dcterms:modified xsi:type="dcterms:W3CDTF">2026-07-29T05:56:25Z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2026-07-25T00:00:00Z</vt:filetime>
  </property>
  <property fmtid="{D5CDD505-2E9C-101B-9397-08002B2CF9AE}" pid="5" name="Producer">
    <vt:lpwstr>Microsoft® PowerPoint® for Microsoft 365</vt:lpwstr>
  </property>
</Properties>
</file>