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70" r:id="rId5"/>
    <p:sldId id="271" r:id="rId6"/>
    <p:sldId id="273" r:id="rId7"/>
    <p:sldId id="261" r:id="rId8"/>
    <p:sldId id="262" r:id="rId9"/>
    <p:sldId id="274" r:id="rId10"/>
    <p:sldId id="263" r:id="rId11"/>
    <p:sldId id="264" r:id="rId12"/>
    <p:sldId id="265" r:id="rId13"/>
    <p:sldId id="275" r:id="rId14"/>
    <p:sldId id="266" r:id="rId15"/>
    <p:sldId id="267"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E5B77-E4C2-A534-CE28-A5F0F7C61D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A5FC8783-CE45-BA19-3DAC-3672596244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FC9505B7-95AF-6FB9-F40E-EF943B45881C}"/>
              </a:ext>
            </a:extLst>
          </p:cNvPr>
          <p:cNvSpPr>
            <a:spLocks noGrp="1"/>
          </p:cNvSpPr>
          <p:nvPr>
            <p:ph type="dt" sz="half" idx="10"/>
          </p:nvPr>
        </p:nvSpPr>
        <p:spPr/>
        <p:txBody>
          <a:bodyPr/>
          <a:lstStyle/>
          <a:p>
            <a:fld id="{24A54DE2-5A7E-4AA2-9435-390E9D95B516}" type="datetimeFigureOut">
              <a:rPr lang="en-NZ" smtClean="0"/>
              <a:t>5/08/2026</a:t>
            </a:fld>
            <a:endParaRPr lang="en-NZ"/>
          </a:p>
        </p:txBody>
      </p:sp>
      <p:sp>
        <p:nvSpPr>
          <p:cNvPr id="5" name="Footer Placeholder 4">
            <a:extLst>
              <a:ext uri="{FF2B5EF4-FFF2-40B4-BE49-F238E27FC236}">
                <a16:creationId xmlns:a16="http://schemas.microsoft.com/office/drawing/2014/main" id="{DE877276-029A-55F4-0E09-2B1CC4582693}"/>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A9F2D920-B59D-1B20-994B-CE777B06F62F}"/>
              </a:ext>
            </a:extLst>
          </p:cNvPr>
          <p:cNvSpPr>
            <a:spLocks noGrp="1"/>
          </p:cNvSpPr>
          <p:nvPr>
            <p:ph type="sldNum" sz="quarter" idx="12"/>
          </p:nvPr>
        </p:nvSpPr>
        <p:spPr/>
        <p:txBody>
          <a:bodyPr/>
          <a:lstStyle/>
          <a:p>
            <a:fld id="{8B9E7E3A-8AA4-4BEF-AE66-6F4589C14677}" type="slidenum">
              <a:rPr lang="en-NZ" smtClean="0"/>
              <a:t>‹#›</a:t>
            </a:fld>
            <a:endParaRPr lang="en-NZ"/>
          </a:p>
        </p:txBody>
      </p:sp>
    </p:spTree>
    <p:extLst>
      <p:ext uri="{BB962C8B-B14F-4D97-AF65-F5344CB8AC3E}">
        <p14:creationId xmlns:p14="http://schemas.microsoft.com/office/powerpoint/2010/main" val="3778798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B8FE9-B63D-2534-2506-9E0FA396BF0E}"/>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14B35711-A15E-A820-F236-F68AC6E4B2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11B8B0DD-AB80-019C-C489-0913704A268A}"/>
              </a:ext>
            </a:extLst>
          </p:cNvPr>
          <p:cNvSpPr>
            <a:spLocks noGrp="1"/>
          </p:cNvSpPr>
          <p:nvPr>
            <p:ph type="dt" sz="half" idx="10"/>
          </p:nvPr>
        </p:nvSpPr>
        <p:spPr/>
        <p:txBody>
          <a:bodyPr/>
          <a:lstStyle/>
          <a:p>
            <a:fld id="{24A54DE2-5A7E-4AA2-9435-390E9D95B516}" type="datetimeFigureOut">
              <a:rPr lang="en-NZ" smtClean="0"/>
              <a:t>5/08/2026</a:t>
            </a:fld>
            <a:endParaRPr lang="en-NZ"/>
          </a:p>
        </p:txBody>
      </p:sp>
      <p:sp>
        <p:nvSpPr>
          <p:cNvPr id="5" name="Footer Placeholder 4">
            <a:extLst>
              <a:ext uri="{FF2B5EF4-FFF2-40B4-BE49-F238E27FC236}">
                <a16:creationId xmlns:a16="http://schemas.microsoft.com/office/drawing/2014/main" id="{CAF3F8A6-CBC4-F77F-90AD-ABA933062C1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579C765F-B1DE-EF69-9B7D-CA6CAB515CA8}"/>
              </a:ext>
            </a:extLst>
          </p:cNvPr>
          <p:cNvSpPr>
            <a:spLocks noGrp="1"/>
          </p:cNvSpPr>
          <p:nvPr>
            <p:ph type="sldNum" sz="quarter" idx="12"/>
          </p:nvPr>
        </p:nvSpPr>
        <p:spPr/>
        <p:txBody>
          <a:bodyPr/>
          <a:lstStyle/>
          <a:p>
            <a:fld id="{8B9E7E3A-8AA4-4BEF-AE66-6F4589C14677}" type="slidenum">
              <a:rPr lang="en-NZ" smtClean="0"/>
              <a:t>‹#›</a:t>
            </a:fld>
            <a:endParaRPr lang="en-NZ"/>
          </a:p>
        </p:txBody>
      </p:sp>
    </p:spTree>
    <p:extLst>
      <p:ext uri="{BB962C8B-B14F-4D97-AF65-F5344CB8AC3E}">
        <p14:creationId xmlns:p14="http://schemas.microsoft.com/office/powerpoint/2010/main" val="610258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A1E3E-3530-E3AC-2C4A-F1B9FE8E71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7DBD4FD8-CA9B-384B-3F4B-908D4FF1C7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E87928-75BC-74F0-34ED-4EFD6AA7635A}"/>
              </a:ext>
            </a:extLst>
          </p:cNvPr>
          <p:cNvSpPr>
            <a:spLocks noGrp="1"/>
          </p:cNvSpPr>
          <p:nvPr>
            <p:ph type="dt" sz="half" idx="10"/>
          </p:nvPr>
        </p:nvSpPr>
        <p:spPr/>
        <p:txBody>
          <a:bodyPr/>
          <a:lstStyle/>
          <a:p>
            <a:fld id="{24A54DE2-5A7E-4AA2-9435-390E9D95B516}" type="datetimeFigureOut">
              <a:rPr lang="en-NZ" smtClean="0"/>
              <a:t>5/08/2026</a:t>
            </a:fld>
            <a:endParaRPr lang="en-NZ"/>
          </a:p>
        </p:txBody>
      </p:sp>
      <p:sp>
        <p:nvSpPr>
          <p:cNvPr id="5" name="Footer Placeholder 4">
            <a:extLst>
              <a:ext uri="{FF2B5EF4-FFF2-40B4-BE49-F238E27FC236}">
                <a16:creationId xmlns:a16="http://schemas.microsoft.com/office/drawing/2014/main" id="{6C4605A6-4FC9-47FB-1DB1-94A3D090EDCD}"/>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1D7C68F1-11F7-B718-0CE0-3C3FF2296326}"/>
              </a:ext>
            </a:extLst>
          </p:cNvPr>
          <p:cNvSpPr>
            <a:spLocks noGrp="1"/>
          </p:cNvSpPr>
          <p:nvPr>
            <p:ph type="sldNum" sz="quarter" idx="12"/>
          </p:nvPr>
        </p:nvSpPr>
        <p:spPr/>
        <p:txBody>
          <a:bodyPr/>
          <a:lstStyle/>
          <a:p>
            <a:fld id="{8B9E7E3A-8AA4-4BEF-AE66-6F4589C14677}" type="slidenum">
              <a:rPr lang="en-NZ" smtClean="0"/>
              <a:t>‹#›</a:t>
            </a:fld>
            <a:endParaRPr lang="en-NZ"/>
          </a:p>
        </p:txBody>
      </p:sp>
    </p:spTree>
    <p:extLst>
      <p:ext uri="{BB962C8B-B14F-4D97-AF65-F5344CB8AC3E}">
        <p14:creationId xmlns:p14="http://schemas.microsoft.com/office/powerpoint/2010/main" val="3748493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9836C-30B4-9129-CCB1-CED858F3E222}"/>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8C4560B7-B61E-EB8F-5218-A86E7015AC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39160723-E80B-206D-81FF-32BE680EA9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54C77A38-924B-3BA4-CF6A-4380EC091B7F}"/>
              </a:ext>
            </a:extLst>
          </p:cNvPr>
          <p:cNvSpPr>
            <a:spLocks noGrp="1"/>
          </p:cNvSpPr>
          <p:nvPr>
            <p:ph type="dt" sz="half" idx="10"/>
          </p:nvPr>
        </p:nvSpPr>
        <p:spPr/>
        <p:txBody>
          <a:bodyPr/>
          <a:lstStyle/>
          <a:p>
            <a:fld id="{24A54DE2-5A7E-4AA2-9435-390E9D95B516}" type="datetimeFigureOut">
              <a:rPr lang="en-NZ" smtClean="0"/>
              <a:t>5/08/2026</a:t>
            </a:fld>
            <a:endParaRPr lang="en-NZ"/>
          </a:p>
        </p:txBody>
      </p:sp>
      <p:sp>
        <p:nvSpPr>
          <p:cNvPr id="6" name="Footer Placeholder 5">
            <a:extLst>
              <a:ext uri="{FF2B5EF4-FFF2-40B4-BE49-F238E27FC236}">
                <a16:creationId xmlns:a16="http://schemas.microsoft.com/office/drawing/2014/main" id="{18DD0856-0BF5-F767-5430-C9A0910E30C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AAD15803-0DB5-0A88-E5FE-A9CEE181B8AE}"/>
              </a:ext>
            </a:extLst>
          </p:cNvPr>
          <p:cNvSpPr>
            <a:spLocks noGrp="1"/>
          </p:cNvSpPr>
          <p:nvPr>
            <p:ph type="sldNum" sz="quarter" idx="12"/>
          </p:nvPr>
        </p:nvSpPr>
        <p:spPr/>
        <p:txBody>
          <a:bodyPr/>
          <a:lstStyle/>
          <a:p>
            <a:fld id="{8B9E7E3A-8AA4-4BEF-AE66-6F4589C14677}" type="slidenum">
              <a:rPr lang="en-NZ" smtClean="0"/>
              <a:t>‹#›</a:t>
            </a:fld>
            <a:endParaRPr lang="en-NZ"/>
          </a:p>
        </p:txBody>
      </p:sp>
    </p:spTree>
    <p:extLst>
      <p:ext uri="{BB962C8B-B14F-4D97-AF65-F5344CB8AC3E}">
        <p14:creationId xmlns:p14="http://schemas.microsoft.com/office/powerpoint/2010/main" val="887535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09983-C36B-1FFE-C698-6AE25F491582}"/>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A40FCBC6-EC8C-DD37-7A86-ADF392D4EC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1F368C-1399-5B32-F4E4-865B0F5986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D13C5F56-4255-1E0E-A945-A63466EF50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B9AAC7-F612-B289-69A1-A7EC1A7066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C358465B-C7C5-9750-D5AE-5C06749B7AD2}"/>
              </a:ext>
            </a:extLst>
          </p:cNvPr>
          <p:cNvSpPr>
            <a:spLocks noGrp="1"/>
          </p:cNvSpPr>
          <p:nvPr>
            <p:ph type="dt" sz="half" idx="10"/>
          </p:nvPr>
        </p:nvSpPr>
        <p:spPr/>
        <p:txBody>
          <a:bodyPr/>
          <a:lstStyle/>
          <a:p>
            <a:fld id="{24A54DE2-5A7E-4AA2-9435-390E9D95B516}" type="datetimeFigureOut">
              <a:rPr lang="en-NZ" smtClean="0"/>
              <a:t>5/08/2026</a:t>
            </a:fld>
            <a:endParaRPr lang="en-NZ"/>
          </a:p>
        </p:txBody>
      </p:sp>
      <p:sp>
        <p:nvSpPr>
          <p:cNvPr id="8" name="Footer Placeholder 7">
            <a:extLst>
              <a:ext uri="{FF2B5EF4-FFF2-40B4-BE49-F238E27FC236}">
                <a16:creationId xmlns:a16="http://schemas.microsoft.com/office/drawing/2014/main" id="{D08223BC-7AF5-5557-0641-7A6AE64D03DE}"/>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9FBA3F40-55D3-5324-2D1E-B0F62EF7D7D9}"/>
              </a:ext>
            </a:extLst>
          </p:cNvPr>
          <p:cNvSpPr>
            <a:spLocks noGrp="1"/>
          </p:cNvSpPr>
          <p:nvPr>
            <p:ph type="sldNum" sz="quarter" idx="12"/>
          </p:nvPr>
        </p:nvSpPr>
        <p:spPr/>
        <p:txBody>
          <a:bodyPr/>
          <a:lstStyle/>
          <a:p>
            <a:fld id="{8B9E7E3A-8AA4-4BEF-AE66-6F4589C14677}" type="slidenum">
              <a:rPr lang="en-NZ" smtClean="0"/>
              <a:t>‹#›</a:t>
            </a:fld>
            <a:endParaRPr lang="en-NZ"/>
          </a:p>
        </p:txBody>
      </p:sp>
    </p:spTree>
    <p:extLst>
      <p:ext uri="{BB962C8B-B14F-4D97-AF65-F5344CB8AC3E}">
        <p14:creationId xmlns:p14="http://schemas.microsoft.com/office/powerpoint/2010/main" val="1895817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3F6D0-22BD-4C3A-2164-95CA7F8C7BA2}"/>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EE16BB64-26BC-AFA9-CA53-5099C1F01842}"/>
              </a:ext>
            </a:extLst>
          </p:cNvPr>
          <p:cNvSpPr>
            <a:spLocks noGrp="1"/>
          </p:cNvSpPr>
          <p:nvPr>
            <p:ph type="dt" sz="half" idx="10"/>
          </p:nvPr>
        </p:nvSpPr>
        <p:spPr/>
        <p:txBody>
          <a:bodyPr/>
          <a:lstStyle/>
          <a:p>
            <a:fld id="{24A54DE2-5A7E-4AA2-9435-390E9D95B516}" type="datetimeFigureOut">
              <a:rPr lang="en-NZ" smtClean="0"/>
              <a:t>5/08/2026</a:t>
            </a:fld>
            <a:endParaRPr lang="en-NZ"/>
          </a:p>
        </p:txBody>
      </p:sp>
      <p:sp>
        <p:nvSpPr>
          <p:cNvPr id="4" name="Footer Placeholder 3">
            <a:extLst>
              <a:ext uri="{FF2B5EF4-FFF2-40B4-BE49-F238E27FC236}">
                <a16:creationId xmlns:a16="http://schemas.microsoft.com/office/drawing/2014/main" id="{D7415BA4-C5A3-0BF0-E3C8-4503E973C418}"/>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3693C094-36FC-8294-8F3B-180100B2DBD0}"/>
              </a:ext>
            </a:extLst>
          </p:cNvPr>
          <p:cNvSpPr>
            <a:spLocks noGrp="1"/>
          </p:cNvSpPr>
          <p:nvPr>
            <p:ph type="sldNum" sz="quarter" idx="12"/>
          </p:nvPr>
        </p:nvSpPr>
        <p:spPr/>
        <p:txBody>
          <a:bodyPr/>
          <a:lstStyle/>
          <a:p>
            <a:fld id="{8B9E7E3A-8AA4-4BEF-AE66-6F4589C14677}" type="slidenum">
              <a:rPr lang="en-NZ" smtClean="0"/>
              <a:t>‹#›</a:t>
            </a:fld>
            <a:endParaRPr lang="en-NZ"/>
          </a:p>
        </p:txBody>
      </p:sp>
    </p:spTree>
    <p:extLst>
      <p:ext uri="{BB962C8B-B14F-4D97-AF65-F5344CB8AC3E}">
        <p14:creationId xmlns:p14="http://schemas.microsoft.com/office/powerpoint/2010/main" val="496341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B54AB2-3A92-7DD5-8774-FFA85BFF8BB0}"/>
              </a:ext>
            </a:extLst>
          </p:cNvPr>
          <p:cNvSpPr>
            <a:spLocks noGrp="1"/>
          </p:cNvSpPr>
          <p:nvPr>
            <p:ph type="dt" sz="half" idx="10"/>
          </p:nvPr>
        </p:nvSpPr>
        <p:spPr/>
        <p:txBody>
          <a:bodyPr/>
          <a:lstStyle/>
          <a:p>
            <a:fld id="{24A54DE2-5A7E-4AA2-9435-390E9D95B516}" type="datetimeFigureOut">
              <a:rPr lang="en-NZ" smtClean="0"/>
              <a:t>5/08/2026</a:t>
            </a:fld>
            <a:endParaRPr lang="en-NZ"/>
          </a:p>
        </p:txBody>
      </p:sp>
      <p:sp>
        <p:nvSpPr>
          <p:cNvPr id="3" name="Footer Placeholder 2">
            <a:extLst>
              <a:ext uri="{FF2B5EF4-FFF2-40B4-BE49-F238E27FC236}">
                <a16:creationId xmlns:a16="http://schemas.microsoft.com/office/drawing/2014/main" id="{053B92F5-DC56-8EB3-F186-95BFD15B42B7}"/>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0C20211F-CBCE-3ED9-C3BB-FFEA64FE71ED}"/>
              </a:ext>
            </a:extLst>
          </p:cNvPr>
          <p:cNvSpPr>
            <a:spLocks noGrp="1"/>
          </p:cNvSpPr>
          <p:nvPr>
            <p:ph type="sldNum" sz="quarter" idx="12"/>
          </p:nvPr>
        </p:nvSpPr>
        <p:spPr/>
        <p:txBody>
          <a:bodyPr/>
          <a:lstStyle/>
          <a:p>
            <a:fld id="{8B9E7E3A-8AA4-4BEF-AE66-6F4589C14677}" type="slidenum">
              <a:rPr lang="en-NZ" smtClean="0"/>
              <a:t>‹#›</a:t>
            </a:fld>
            <a:endParaRPr lang="en-NZ"/>
          </a:p>
        </p:txBody>
      </p:sp>
    </p:spTree>
    <p:extLst>
      <p:ext uri="{BB962C8B-B14F-4D97-AF65-F5344CB8AC3E}">
        <p14:creationId xmlns:p14="http://schemas.microsoft.com/office/powerpoint/2010/main" val="401005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35B5F-4042-BFB8-BF95-2EAB7171F3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E2F436D5-9355-8ED3-6706-F8F838A4C9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FD2E8780-5CEB-5323-2355-0F5523FECF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4A896E-D495-3BD4-A4C5-A2E45C05D8CD}"/>
              </a:ext>
            </a:extLst>
          </p:cNvPr>
          <p:cNvSpPr>
            <a:spLocks noGrp="1"/>
          </p:cNvSpPr>
          <p:nvPr>
            <p:ph type="dt" sz="half" idx="10"/>
          </p:nvPr>
        </p:nvSpPr>
        <p:spPr/>
        <p:txBody>
          <a:bodyPr/>
          <a:lstStyle/>
          <a:p>
            <a:fld id="{24A54DE2-5A7E-4AA2-9435-390E9D95B516}" type="datetimeFigureOut">
              <a:rPr lang="en-NZ" smtClean="0"/>
              <a:t>5/08/2026</a:t>
            </a:fld>
            <a:endParaRPr lang="en-NZ"/>
          </a:p>
        </p:txBody>
      </p:sp>
      <p:sp>
        <p:nvSpPr>
          <p:cNvPr id="6" name="Footer Placeholder 5">
            <a:extLst>
              <a:ext uri="{FF2B5EF4-FFF2-40B4-BE49-F238E27FC236}">
                <a16:creationId xmlns:a16="http://schemas.microsoft.com/office/drawing/2014/main" id="{619BF330-43D8-F165-56B6-892624BB127D}"/>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A4133CC7-C0D9-1AE0-1148-E5573EB6C2F0}"/>
              </a:ext>
            </a:extLst>
          </p:cNvPr>
          <p:cNvSpPr>
            <a:spLocks noGrp="1"/>
          </p:cNvSpPr>
          <p:nvPr>
            <p:ph type="sldNum" sz="quarter" idx="12"/>
          </p:nvPr>
        </p:nvSpPr>
        <p:spPr/>
        <p:txBody>
          <a:bodyPr/>
          <a:lstStyle/>
          <a:p>
            <a:fld id="{8B9E7E3A-8AA4-4BEF-AE66-6F4589C14677}" type="slidenum">
              <a:rPr lang="en-NZ" smtClean="0"/>
              <a:t>‹#›</a:t>
            </a:fld>
            <a:endParaRPr lang="en-NZ"/>
          </a:p>
        </p:txBody>
      </p:sp>
    </p:spTree>
    <p:extLst>
      <p:ext uri="{BB962C8B-B14F-4D97-AF65-F5344CB8AC3E}">
        <p14:creationId xmlns:p14="http://schemas.microsoft.com/office/powerpoint/2010/main" val="128141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A6B62-7DCE-5DEE-D676-C4EF7F3B45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87CA87A8-E26F-4E2A-CEBD-40AF818E4B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DEA9D28B-859D-0C0A-64DD-8A53241835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D7DB58-FB8B-F585-C4C5-66F1855B2BFA}"/>
              </a:ext>
            </a:extLst>
          </p:cNvPr>
          <p:cNvSpPr>
            <a:spLocks noGrp="1"/>
          </p:cNvSpPr>
          <p:nvPr>
            <p:ph type="dt" sz="half" idx="10"/>
          </p:nvPr>
        </p:nvSpPr>
        <p:spPr/>
        <p:txBody>
          <a:bodyPr/>
          <a:lstStyle/>
          <a:p>
            <a:fld id="{24A54DE2-5A7E-4AA2-9435-390E9D95B516}" type="datetimeFigureOut">
              <a:rPr lang="en-NZ" smtClean="0"/>
              <a:t>5/08/2026</a:t>
            </a:fld>
            <a:endParaRPr lang="en-NZ"/>
          </a:p>
        </p:txBody>
      </p:sp>
      <p:sp>
        <p:nvSpPr>
          <p:cNvPr id="6" name="Footer Placeholder 5">
            <a:extLst>
              <a:ext uri="{FF2B5EF4-FFF2-40B4-BE49-F238E27FC236}">
                <a16:creationId xmlns:a16="http://schemas.microsoft.com/office/drawing/2014/main" id="{879A5C3F-07D1-4FD1-D429-F74D5527B86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1FE61538-1468-5420-3020-35A0430BA1D3}"/>
              </a:ext>
            </a:extLst>
          </p:cNvPr>
          <p:cNvSpPr>
            <a:spLocks noGrp="1"/>
          </p:cNvSpPr>
          <p:nvPr>
            <p:ph type="sldNum" sz="quarter" idx="12"/>
          </p:nvPr>
        </p:nvSpPr>
        <p:spPr/>
        <p:txBody>
          <a:bodyPr/>
          <a:lstStyle/>
          <a:p>
            <a:fld id="{8B9E7E3A-8AA4-4BEF-AE66-6F4589C14677}" type="slidenum">
              <a:rPr lang="en-NZ" smtClean="0"/>
              <a:t>‹#›</a:t>
            </a:fld>
            <a:endParaRPr lang="en-NZ"/>
          </a:p>
        </p:txBody>
      </p:sp>
    </p:spTree>
    <p:extLst>
      <p:ext uri="{BB962C8B-B14F-4D97-AF65-F5344CB8AC3E}">
        <p14:creationId xmlns:p14="http://schemas.microsoft.com/office/powerpoint/2010/main" val="2733451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7E1D7-AB18-1941-D7BE-DD752BA3FDB8}"/>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85827D2D-986C-2735-8095-7F34EDF137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3751E4A3-FC6C-B86C-6AE8-470DEFB65B8D}"/>
              </a:ext>
            </a:extLst>
          </p:cNvPr>
          <p:cNvSpPr>
            <a:spLocks noGrp="1"/>
          </p:cNvSpPr>
          <p:nvPr>
            <p:ph type="dt" sz="half" idx="10"/>
          </p:nvPr>
        </p:nvSpPr>
        <p:spPr/>
        <p:txBody>
          <a:bodyPr/>
          <a:lstStyle/>
          <a:p>
            <a:fld id="{24A54DE2-5A7E-4AA2-9435-390E9D95B516}" type="datetimeFigureOut">
              <a:rPr lang="en-NZ" smtClean="0"/>
              <a:t>5/08/2026</a:t>
            </a:fld>
            <a:endParaRPr lang="en-NZ"/>
          </a:p>
        </p:txBody>
      </p:sp>
      <p:sp>
        <p:nvSpPr>
          <p:cNvPr id="5" name="Footer Placeholder 4">
            <a:extLst>
              <a:ext uri="{FF2B5EF4-FFF2-40B4-BE49-F238E27FC236}">
                <a16:creationId xmlns:a16="http://schemas.microsoft.com/office/drawing/2014/main" id="{982128C1-3A08-BA03-4BB2-71FE5989E2FC}"/>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70DA56A0-F72B-C0B9-50AB-37030D061D82}"/>
              </a:ext>
            </a:extLst>
          </p:cNvPr>
          <p:cNvSpPr>
            <a:spLocks noGrp="1"/>
          </p:cNvSpPr>
          <p:nvPr>
            <p:ph type="sldNum" sz="quarter" idx="12"/>
          </p:nvPr>
        </p:nvSpPr>
        <p:spPr/>
        <p:txBody>
          <a:bodyPr/>
          <a:lstStyle/>
          <a:p>
            <a:fld id="{8B9E7E3A-8AA4-4BEF-AE66-6F4589C14677}" type="slidenum">
              <a:rPr lang="en-NZ" smtClean="0"/>
              <a:t>‹#›</a:t>
            </a:fld>
            <a:endParaRPr lang="en-NZ"/>
          </a:p>
        </p:txBody>
      </p:sp>
    </p:spTree>
    <p:extLst>
      <p:ext uri="{BB962C8B-B14F-4D97-AF65-F5344CB8AC3E}">
        <p14:creationId xmlns:p14="http://schemas.microsoft.com/office/powerpoint/2010/main" val="189143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7A25BD-ABA1-6C37-696A-555AB17254E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C663C275-BF7C-4DE9-643C-AEEACBA164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108A16B7-9233-1690-C4AD-600CD035B4A1}"/>
              </a:ext>
            </a:extLst>
          </p:cNvPr>
          <p:cNvSpPr>
            <a:spLocks noGrp="1"/>
          </p:cNvSpPr>
          <p:nvPr>
            <p:ph type="dt" sz="half" idx="10"/>
          </p:nvPr>
        </p:nvSpPr>
        <p:spPr/>
        <p:txBody>
          <a:bodyPr/>
          <a:lstStyle/>
          <a:p>
            <a:fld id="{24A54DE2-5A7E-4AA2-9435-390E9D95B516}" type="datetimeFigureOut">
              <a:rPr lang="en-NZ" smtClean="0"/>
              <a:t>5/08/2026</a:t>
            </a:fld>
            <a:endParaRPr lang="en-NZ"/>
          </a:p>
        </p:txBody>
      </p:sp>
      <p:sp>
        <p:nvSpPr>
          <p:cNvPr id="5" name="Footer Placeholder 4">
            <a:extLst>
              <a:ext uri="{FF2B5EF4-FFF2-40B4-BE49-F238E27FC236}">
                <a16:creationId xmlns:a16="http://schemas.microsoft.com/office/drawing/2014/main" id="{C50DEDF0-9B46-FE28-60C5-E31053CEA0D6}"/>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FAA4958A-7EF2-E8F4-1890-D8A11C44144B}"/>
              </a:ext>
            </a:extLst>
          </p:cNvPr>
          <p:cNvSpPr>
            <a:spLocks noGrp="1"/>
          </p:cNvSpPr>
          <p:nvPr>
            <p:ph type="sldNum" sz="quarter" idx="12"/>
          </p:nvPr>
        </p:nvSpPr>
        <p:spPr/>
        <p:txBody>
          <a:bodyPr/>
          <a:lstStyle/>
          <a:p>
            <a:fld id="{8B9E7E3A-8AA4-4BEF-AE66-6F4589C14677}" type="slidenum">
              <a:rPr lang="en-NZ" smtClean="0"/>
              <a:t>‹#›</a:t>
            </a:fld>
            <a:endParaRPr lang="en-NZ"/>
          </a:p>
        </p:txBody>
      </p:sp>
    </p:spTree>
    <p:extLst>
      <p:ext uri="{BB962C8B-B14F-4D97-AF65-F5344CB8AC3E}">
        <p14:creationId xmlns:p14="http://schemas.microsoft.com/office/powerpoint/2010/main" val="2709226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D03E1B-AF6D-CE0E-CC3B-5E661239F1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F0EA6AB5-A5DD-7C53-6926-438F15DEDC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C1B0B61B-522A-1851-FCB2-60314CF2C3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A54DE2-5A7E-4AA2-9435-390E9D95B516}" type="datetimeFigureOut">
              <a:rPr lang="en-NZ" smtClean="0"/>
              <a:t>5/08/2026</a:t>
            </a:fld>
            <a:endParaRPr lang="en-NZ"/>
          </a:p>
        </p:txBody>
      </p:sp>
      <p:sp>
        <p:nvSpPr>
          <p:cNvPr id="5" name="Footer Placeholder 4">
            <a:extLst>
              <a:ext uri="{FF2B5EF4-FFF2-40B4-BE49-F238E27FC236}">
                <a16:creationId xmlns:a16="http://schemas.microsoft.com/office/drawing/2014/main" id="{6AB9DE73-ED9B-9E5E-281F-29204D1753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Z"/>
          </a:p>
        </p:txBody>
      </p:sp>
      <p:sp>
        <p:nvSpPr>
          <p:cNvPr id="6" name="Slide Number Placeholder 5">
            <a:extLst>
              <a:ext uri="{FF2B5EF4-FFF2-40B4-BE49-F238E27FC236}">
                <a16:creationId xmlns:a16="http://schemas.microsoft.com/office/drawing/2014/main" id="{EBA273D3-F042-88C3-EE3D-B59416AEA8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9E7E3A-8AA4-4BEF-AE66-6F4589C14677}" type="slidenum">
              <a:rPr lang="en-NZ" smtClean="0"/>
              <a:t>‹#›</a:t>
            </a:fld>
            <a:endParaRPr lang="en-NZ"/>
          </a:p>
        </p:txBody>
      </p:sp>
    </p:spTree>
    <p:extLst>
      <p:ext uri="{BB962C8B-B14F-4D97-AF65-F5344CB8AC3E}">
        <p14:creationId xmlns:p14="http://schemas.microsoft.com/office/powerpoint/2010/main" val="5369558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0CA55-965C-48D5-E59E-26019E30B049}"/>
              </a:ext>
            </a:extLst>
          </p:cNvPr>
          <p:cNvSpPr>
            <a:spLocks noGrp="1"/>
          </p:cNvSpPr>
          <p:nvPr>
            <p:ph type="ctrTitle"/>
          </p:nvPr>
        </p:nvSpPr>
        <p:spPr/>
        <p:txBody>
          <a:bodyPr/>
          <a:lstStyle/>
          <a:p>
            <a:r>
              <a:rPr lang="en-NZ" dirty="0"/>
              <a:t>Tutorial Week 4</a:t>
            </a:r>
          </a:p>
        </p:txBody>
      </p:sp>
      <p:sp>
        <p:nvSpPr>
          <p:cNvPr id="3" name="Subtitle 2">
            <a:extLst>
              <a:ext uri="{FF2B5EF4-FFF2-40B4-BE49-F238E27FC236}">
                <a16:creationId xmlns:a16="http://schemas.microsoft.com/office/drawing/2014/main" id="{C396A530-099B-1E2D-A291-2576D92E7B36}"/>
              </a:ext>
            </a:extLst>
          </p:cNvPr>
          <p:cNvSpPr>
            <a:spLocks noGrp="1"/>
          </p:cNvSpPr>
          <p:nvPr>
            <p:ph type="subTitle" idx="1"/>
          </p:nvPr>
        </p:nvSpPr>
        <p:spPr>
          <a:xfrm>
            <a:off x="1524000" y="4079875"/>
            <a:ext cx="9144000" cy="1655762"/>
          </a:xfrm>
        </p:spPr>
        <p:txBody>
          <a:bodyPr/>
          <a:lstStyle/>
          <a:p>
            <a:r>
              <a:rPr lang="en-NZ" dirty="0"/>
              <a:t>Dr. Jay Wang</a:t>
            </a:r>
          </a:p>
        </p:txBody>
      </p:sp>
    </p:spTree>
    <p:extLst>
      <p:ext uri="{BB962C8B-B14F-4D97-AF65-F5344CB8AC3E}">
        <p14:creationId xmlns:p14="http://schemas.microsoft.com/office/powerpoint/2010/main" val="4249593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9C17C-7986-BC19-F635-44D2DAEF628E}"/>
              </a:ext>
            </a:extLst>
          </p:cNvPr>
          <p:cNvSpPr>
            <a:spLocks noGrp="1"/>
          </p:cNvSpPr>
          <p:nvPr>
            <p:ph type="title"/>
          </p:nvPr>
        </p:nvSpPr>
        <p:spPr/>
        <p:txBody>
          <a:bodyPr>
            <a:normAutofit/>
          </a:bodyPr>
          <a:lstStyle/>
          <a:p>
            <a:r>
              <a:rPr lang="en-NZ" sz="2400" dirty="0"/>
              <a:t>Q1) </a:t>
            </a:r>
            <a:r>
              <a:rPr lang="en-US" sz="2400" dirty="0"/>
              <a:t>Calculate the total work, in </a:t>
            </a:r>
            <a:r>
              <a:rPr lang="en-US" sz="2400" dirty="0">
                <a:solidFill>
                  <a:srgbClr val="FF0000"/>
                </a:solidFill>
              </a:rPr>
              <a:t>kJ</a:t>
            </a:r>
            <a:r>
              <a:rPr lang="en-US" sz="2400" dirty="0"/>
              <a:t>, for process 1–3 shown in the figure below when the system consists of 3 kg of nitrogen.</a:t>
            </a:r>
            <a:endParaRPr lang="en-NZ" sz="2400" dirty="0"/>
          </a:p>
        </p:txBody>
      </p:sp>
      <p:pic>
        <p:nvPicPr>
          <p:cNvPr id="4" name="Image 1" descr="A diagram of a graph  AI-generated content may be incorrect.">
            <a:extLst>
              <a:ext uri="{FF2B5EF4-FFF2-40B4-BE49-F238E27FC236}">
                <a16:creationId xmlns:a16="http://schemas.microsoft.com/office/drawing/2014/main" id="{FDDFFF39-1ED9-D020-6855-D2BC1E76D47C}"/>
              </a:ext>
            </a:extLst>
          </p:cNvPr>
          <p:cNvPicPr>
            <a:picLocks noGrp="1"/>
          </p:cNvPicPr>
          <p:nvPr>
            <p:ph idx="1"/>
          </p:nvPr>
        </p:nvPicPr>
        <p:blipFill>
          <a:blip r:embed="rId2" cstate="print"/>
          <a:stretch>
            <a:fillRect/>
          </a:stretch>
        </p:blipFill>
        <p:spPr>
          <a:xfrm>
            <a:off x="1405211" y="1580960"/>
            <a:ext cx="4907197" cy="4351338"/>
          </a:xfrm>
          <a:prstGeom prst="rect">
            <a:avLst/>
          </a:prstGeom>
        </p:spPr>
      </p:pic>
      <p:sp>
        <p:nvSpPr>
          <p:cNvPr id="8" name="TextBox 7">
            <a:extLst>
              <a:ext uri="{FF2B5EF4-FFF2-40B4-BE49-F238E27FC236}">
                <a16:creationId xmlns:a16="http://schemas.microsoft.com/office/drawing/2014/main" id="{C16DB49E-CBE1-DCFC-29E6-4C43D1CB9700}"/>
              </a:ext>
            </a:extLst>
          </p:cNvPr>
          <p:cNvSpPr txBox="1"/>
          <p:nvPr/>
        </p:nvSpPr>
        <p:spPr>
          <a:xfrm>
            <a:off x="6766560" y="2039112"/>
            <a:ext cx="4517136" cy="646331"/>
          </a:xfrm>
          <a:prstGeom prst="rect">
            <a:avLst/>
          </a:prstGeom>
          <a:noFill/>
        </p:spPr>
        <p:txBody>
          <a:bodyPr wrap="square" rtlCol="0">
            <a:spAutoFit/>
          </a:bodyPr>
          <a:lstStyle/>
          <a:p>
            <a:pPr marL="342900" indent="-342900">
              <a:buAutoNum type="arabicPlain"/>
            </a:pPr>
            <a:r>
              <a:rPr lang="en-NZ" dirty="0">
                <a:solidFill>
                  <a:srgbClr val="FF0000"/>
                </a:solidFill>
              </a:rPr>
              <a:t>         2     Expansion process</a:t>
            </a:r>
          </a:p>
          <a:p>
            <a:r>
              <a:rPr lang="en-NZ" dirty="0">
                <a:solidFill>
                  <a:srgbClr val="FF0000"/>
                </a:solidFill>
              </a:rPr>
              <a:t>2              3      Constant volume process</a:t>
            </a:r>
          </a:p>
        </p:txBody>
      </p:sp>
      <p:cxnSp>
        <p:nvCxnSpPr>
          <p:cNvPr id="10" name="Straight Arrow Connector 9">
            <a:extLst>
              <a:ext uri="{FF2B5EF4-FFF2-40B4-BE49-F238E27FC236}">
                <a16:creationId xmlns:a16="http://schemas.microsoft.com/office/drawing/2014/main" id="{EA58D149-7802-82EE-D514-E696DDC1B62E}"/>
              </a:ext>
            </a:extLst>
          </p:cNvPr>
          <p:cNvCxnSpPr/>
          <p:nvPr/>
        </p:nvCxnSpPr>
        <p:spPr>
          <a:xfrm>
            <a:off x="7050024" y="2221992"/>
            <a:ext cx="5303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C00A773-49C8-9B27-A60F-C5EA89E2E8A8}"/>
              </a:ext>
            </a:extLst>
          </p:cNvPr>
          <p:cNvCxnSpPr/>
          <p:nvPr/>
        </p:nvCxnSpPr>
        <p:spPr>
          <a:xfrm>
            <a:off x="7050024" y="2502408"/>
            <a:ext cx="5303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8393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B097C-E4DC-A1E7-0326-937BF79AB6B1}"/>
              </a:ext>
            </a:extLst>
          </p:cNvPr>
          <p:cNvSpPr>
            <a:spLocks noGrp="1"/>
          </p:cNvSpPr>
          <p:nvPr>
            <p:ph type="title"/>
          </p:nvPr>
        </p:nvSpPr>
        <p:spPr/>
        <p:txBody>
          <a:bodyPr>
            <a:normAutofit/>
          </a:bodyPr>
          <a:lstStyle/>
          <a:p>
            <a:r>
              <a:rPr lang="en-NZ" sz="2400" dirty="0"/>
              <a:t>Q1) </a:t>
            </a:r>
            <a:r>
              <a:rPr lang="en-US" sz="2400" dirty="0"/>
              <a:t>Calculate the total work, in </a:t>
            </a:r>
            <a:r>
              <a:rPr lang="en-US" sz="2400" dirty="0">
                <a:solidFill>
                  <a:srgbClr val="FF0000"/>
                </a:solidFill>
              </a:rPr>
              <a:t>kJ</a:t>
            </a:r>
            <a:r>
              <a:rPr lang="en-US" sz="2400" dirty="0"/>
              <a:t>, for process 1–3 shown in the figure below when the system consists of 3 kg of nitrogen.</a:t>
            </a:r>
            <a:endParaRPr lang="en-NZ" sz="2400" dirty="0"/>
          </a:p>
        </p:txBody>
      </p:sp>
      <p:pic>
        <p:nvPicPr>
          <p:cNvPr id="5" name="Content Placeholder 4">
            <a:extLst>
              <a:ext uri="{FF2B5EF4-FFF2-40B4-BE49-F238E27FC236}">
                <a16:creationId xmlns:a16="http://schemas.microsoft.com/office/drawing/2014/main" id="{68BBF662-9E5D-B7DF-AFBA-22749C39B6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11688" b="6465"/>
          <a:stretch>
            <a:fillRect/>
          </a:stretch>
        </p:blipFill>
        <p:spPr>
          <a:xfrm>
            <a:off x="463296" y="1690688"/>
            <a:ext cx="5632704" cy="4070032"/>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4FDFD2F4-3EEA-1C74-B92C-EF424DE4A32E}"/>
                  </a:ext>
                </a:extLst>
              </p:cNvPr>
              <p:cNvSpPr txBox="1"/>
              <p:nvPr/>
            </p:nvSpPr>
            <p:spPr>
              <a:xfrm>
                <a:off x="6711696" y="1690688"/>
                <a:ext cx="5193792" cy="3010248"/>
              </a:xfrm>
              <a:prstGeom prst="rect">
                <a:avLst/>
              </a:prstGeom>
              <a:noFill/>
            </p:spPr>
            <p:txBody>
              <a:bodyPr wrap="square" rtlCol="0">
                <a:spAutoFit/>
              </a:bodyPr>
              <a:lstStyle/>
              <a:p>
                <a:r>
                  <a:rPr lang="en-NZ" dirty="0"/>
                  <a:t>Process 1-2: The work is positive, which means the gas is expending and lifts up a piston.   </a:t>
                </a:r>
              </a:p>
              <a:p>
                <a:endParaRPr lang="en-NZ" dirty="0"/>
              </a:p>
              <a:p>
                <a:endParaRPr lang="en-NZ" dirty="0"/>
              </a:p>
              <a:p>
                <a:endParaRPr lang="en-NZ" dirty="0"/>
              </a:p>
              <a:p>
                <a:r>
                  <a:rPr lang="en-NZ" dirty="0"/>
                  <a:t>Process 2-3: The volume is constant, which means the gas does NOT do any work on its surroundings.</a:t>
                </a:r>
              </a:p>
              <a:p>
                <a:endParaRPr lang="en-NZ" dirty="0"/>
              </a:p>
              <a:p>
                <a:endParaRPr lang="en-NZ" dirty="0"/>
              </a:p>
              <a:p>
                <a:r>
                  <a:rPr lang="en-NZ" dirty="0"/>
                  <a:t> </a:t>
                </a:r>
                <a14:m>
                  <m:oMath xmlns:m="http://schemas.openxmlformats.org/officeDocument/2006/math">
                    <m:sSub>
                      <m:sSubPr>
                        <m:ctrlPr>
                          <a:rPr lang="en-NZ" i="1" smtClean="0">
                            <a:latin typeface="Cambria Math" panose="02040503050406030204" pitchFamily="18" charset="0"/>
                          </a:rPr>
                        </m:ctrlPr>
                      </m:sSubPr>
                      <m:e>
                        <m:r>
                          <a:rPr lang="en-NZ" b="0" i="1" smtClean="0">
                            <a:latin typeface="Cambria Math" panose="02040503050406030204" pitchFamily="18" charset="0"/>
                          </a:rPr>
                          <m:t>𝑊</m:t>
                        </m:r>
                      </m:e>
                      <m:sub>
                        <m:r>
                          <a:rPr lang="en-NZ" b="0" i="1" smtClean="0">
                            <a:latin typeface="Cambria Math" panose="02040503050406030204" pitchFamily="18" charset="0"/>
                          </a:rPr>
                          <m:t>𝐵</m:t>
                        </m:r>
                      </m:sub>
                    </m:sSub>
                    <m:r>
                      <a:rPr lang="en-NZ" b="0" i="1" smtClean="0">
                        <a:latin typeface="Cambria Math" panose="02040503050406030204" pitchFamily="18" charset="0"/>
                      </a:rPr>
                      <m:t>=</m:t>
                    </m:r>
                    <m:sSub>
                      <m:sSubPr>
                        <m:ctrlPr>
                          <a:rPr lang="en-NZ" b="0" i="1" smtClean="0">
                            <a:latin typeface="Cambria Math" panose="02040503050406030204" pitchFamily="18" charset="0"/>
                          </a:rPr>
                        </m:ctrlPr>
                      </m:sSubPr>
                      <m:e>
                        <m:acc>
                          <m:accPr>
                            <m:chr m:val="̇"/>
                            <m:ctrlPr>
                              <a:rPr lang="en-NZ" b="0" i="1" smtClean="0">
                                <a:latin typeface="Cambria Math" panose="02040503050406030204" pitchFamily="18" charset="0"/>
                              </a:rPr>
                            </m:ctrlPr>
                          </m:accPr>
                          <m:e>
                            <m:r>
                              <a:rPr lang="en-NZ" b="0" i="1" smtClean="0">
                                <a:latin typeface="Cambria Math" panose="02040503050406030204" pitchFamily="18" charset="0"/>
                              </a:rPr>
                              <m:t>𝑊</m:t>
                            </m:r>
                          </m:e>
                        </m:acc>
                      </m:e>
                      <m:sub>
                        <m:r>
                          <a:rPr lang="en-NZ" b="0" i="1" smtClean="0">
                            <a:latin typeface="Cambria Math" panose="02040503050406030204" pitchFamily="18" charset="0"/>
                          </a:rPr>
                          <m:t>𝐵</m:t>
                        </m:r>
                      </m:sub>
                    </m:sSub>
                    <m:r>
                      <a:rPr lang="en-NZ" b="0" i="1" smtClean="0">
                        <a:latin typeface="Cambria Math" panose="02040503050406030204" pitchFamily="18" charset="0"/>
                      </a:rPr>
                      <m:t> </m:t>
                    </m:r>
                    <m:d>
                      <m:dPr>
                        <m:ctrlPr>
                          <a:rPr lang="en-NZ" b="0" i="1" smtClean="0">
                            <a:solidFill>
                              <a:srgbClr val="FF0000"/>
                            </a:solidFill>
                            <a:latin typeface="Cambria Math" panose="02040503050406030204" pitchFamily="18" charset="0"/>
                          </a:rPr>
                        </m:ctrlPr>
                      </m:dPr>
                      <m:e>
                        <m:f>
                          <m:fPr>
                            <m:ctrlPr>
                              <a:rPr lang="en-NZ" b="0" i="1" smtClean="0">
                                <a:solidFill>
                                  <a:srgbClr val="FF0000"/>
                                </a:solidFill>
                                <a:latin typeface="Cambria Math" panose="02040503050406030204" pitchFamily="18" charset="0"/>
                              </a:rPr>
                            </m:ctrlPr>
                          </m:fPr>
                          <m:num>
                            <m:r>
                              <a:rPr lang="en-NZ" b="0" i="1" smtClean="0">
                                <a:solidFill>
                                  <a:srgbClr val="FF0000"/>
                                </a:solidFill>
                                <a:latin typeface="Cambria Math" panose="02040503050406030204" pitchFamily="18" charset="0"/>
                              </a:rPr>
                              <m:t>𝐽</m:t>
                            </m:r>
                          </m:num>
                          <m:den>
                            <m:r>
                              <a:rPr lang="en-NZ" b="0" i="1" smtClean="0">
                                <a:solidFill>
                                  <a:srgbClr val="FF0000"/>
                                </a:solidFill>
                                <a:latin typeface="Cambria Math" panose="02040503050406030204" pitchFamily="18" charset="0"/>
                              </a:rPr>
                              <m:t>𝑘𝑔</m:t>
                            </m:r>
                          </m:den>
                        </m:f>
                      </m:e>
                    </m:d>
                    <m:r>
                      <a:rPr lang="en-NZ" b="0" i="1" smtClean="0">
                        <a:latin typeface="Cambria Math" panose="02040503050406030204" pitchFamily="18" charset="0"/>
                        <a:ea typeface="Cambria Math" panose="02040503050406030204" pitchFamily="18" charset="0"/>
                      </a:rPr>
                      <m:t>×</m:t>
                    </m:r>
                    <m:r>
                      <a:rPr lang="en-NZ" b="0" i="1" smtClean="0">
                        <a:latin typeface="Cambria Math" panose="02040503050406030204" pitchFamily="18" charset="0"/>
                        <a:ea typeface="Cambria Math" panose="02040503050406030204" pitchFamily="18" charset="0"/>
                      </a:rPr>
                      <m:t>𝑚</m:t>
                    </m:r>
                    <m:r>
                      <a:rPr lang="en-NZ" b="0" i="0" smtClean="0">
                        <a:latin typeface="Cambria Math" panose="02040503050406030204" pitchFamily="18" charset="0"/>
                        <a:ea typeface="Cambria Math" panose="02040503050406030204" pitchFamily="18" charset="0"/>
                      </a:rPr>
                      <m:t> </m:t>
                    </m:r>
                    <m:r>
                      <a:rPr lang="en-NZ" b="0" i="0" smtClean="0">
                        <a:solidFill>
                          <a:srgbClr val="FF0000"/>
                        </a:solidFill>
                        <a:latin typeface="Cambria Math" panose="02040503050406030204" pitchFamily="18" charset="0"/>
                        <a:ea typeface="Cambria Math" panose="02040503050406030204" pitchFamily="18" charset="0"/>
                      </a:rPr>
                      <m:t>(</m:t>
                    </m:r>
                    <m:r>
                      <m:rPr>
                        <m:sty m:val="p"/>
                      </m:rPr>
                      <a:rPr lang="en-NZ" b="0" i="0" smtClean="0">
                        <a:solidFill>
                          <a:srgbClr val="FF0000"/>
                        </a:solidFill>
                        <a:latin typeface="Cambria Math" panose="02040503050406030204" pitchFamily="18" charset="0"/>
                        <a:ea typeface="Cambria Math" panose="02040503050406030204" pitchFamily="18" charset="0"/>
                      </a:rPr>
                      <m:t>kg</m:t>
                    </m:r>
                    <m:r>
                      <a:rPr lang="en-NZ" b="0" i="0" smtClean="0">
                        <a:solidFill>
                          <a:srgbClr val="FF0000"/>
                        </a:solidFill>
                        <a:latin typeface="Cambria Math" panose="02040503050406030204" pitchFamily="18" charset="0"/>
                        <a:ea typeface="Cambria Math" panose="02040503050406030204" pitchFamily="18" charset="0"/>
                      </a:rPr>
                      <m:t>)</m:t>
                    </m:r>
                  </m:oMath>
                </a14:m>
                <a:endParaRPr lang="en-NZ" dirty="0"/>
              </a:p>
            </p:txBody>
          </p:sp>
        </mc:Choice>
        <mc:Fallback>
          <p:sp>
            <p:nvSpPr>
              <p:cNvPr id="7" name="TextBox 6">
                <a:extLst>
                  <a:ext uri="{FF2B5EF4-FFF2-40B4-BE49-F238E27FC236}">
                    <a16:creationId xmlns:a16="http://schemas.microsoft.com/office/drawing/2014/main" id="{4FDFD2F4-3EEA-1C74-B92C-EF424DE4A32E}"/>
                  </a:ext>
                </a:extLst>
              </p:cNvPr>
              <p:cNvSpPr txBox="1">
                <a:spLocks noRot="1" noChangeAspect="1" noMove="1" noResize="1" noEditPoints="1" noAdjustHandles="1" noChangeArrowheads="1" noChangeShapeType="1" noTextEdit="1"/>
              </p:cNvSpPr>
              <p:nvPr/>
            </p:nvSpPr>
            <p:spPr>
              <a:xfrm>
                <a:off x="6711696" y="1690688"/>
                <a:ext cx="5193792" cy="3010248"/>
              </a:xfrm>
              <a:prstGeom prst="rect">
                <a:avLst/>
              </a:prstGeom>
              <a:blipFill>
                <a:blip r:embed="rId3"/>
                <a:stretch>
                  <a:fillRect l="-939" t="-810" r="-822" b="-607"/>
                </a:stretch>
              </a:blipFill>
            </p:spPr>
            <p:txBody>
              <a:bodyPr/>
              <a:lstStyle/>
              <a:p>
                <a:r>
                  <a:rPr lang="en-NZ">
                    <a:noFill/>
                  </a:rPr>
                  <a:t> </a:t>
                </a:r>
              </a:p>
            </p:txBody>
          </p:sp>
        </mc:Fallback>
      </mc:AlternateContent>
    </p:spTree>
    <p:extLst>
      <p:ext uri="{BB962C8B-B14F-4D97-AF65-F5344CB8AC3E}">
        <p14:creationId xmlns:p14="http://schemas.microsoft.com/office/powerpoint/2010/main" val="1889403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6100C-214E-4911-0FC9-22D35EB8D1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05DC1E-32CB-DD93-DE1C-3F829E5E42C7}"/>
              </a:ext>
            </a:extLst>
          </p:cNvPr>
          <p:cNvSpPr>
            <a:spLocks noGrp="1"/>
          </p:cNvSpPr>
          <p:nvPr>
            <p:ph type="title"/>
          </p:nvPr>
        </p:nvSpPr>
        <p:spPr>
          <a:xfrm>
            <a:off x="838200" y="365125"/>
            <a:ext cx="10783824" cy="1325563"/>
          </a:xfrm>
        </p:spPr>
        <p:txBody>
          <a:bodyPr>
            <a:normAutofit fontScale="90000"/>
          </a:bodyPr>
          <a:lstStyle/>
          <a:p>
            <a:r>
              <a:rPr lang="en-NZ" sz="2400" dirty="0"/>
              <a:t>Q2) </a:t>
            </a:r>
            <a:r>
              <a:rPr lang="en-US" sz="2700" dirty="0"/>
              <a:t>2 m</a:t>
            </a:r>
            <a:r>
              <a:rPr lang="en-US" sz="2700" baseline="30000" dirty="0"/>
              <a:t>3</a:t>
            </a:r>
            <a:r>
              <a:rPr lang="en-US" sz="2700" dirty="0"/>
              <a:t> of saturated liquid water at 220°C is </a:t>
            </a:r>
            <a:r>
              <a:rPr lang="en-US" sz="2700" dirty="0">
                <a:solidFill>
                  <a:srgbClr val="FF0000"/>
                </a:solidFill>
              </a:rPr>
              <a:t>expanded</a:t>
            </a:r>
            <a:r>
              <a:rPr lang="en-US" sz="2700" dirty="0"/>
              <a:t> </a:t>
            </a:r>
            <a:r>
              <a:rPr lang="en-US" sz="2700" dirty="0">
                <a:solidFill>
                  <a:srgbClr val="FF0000"/>
                </a:solidFill>
              </a:rPr>
              <a:t>isothermally</a:t>
            </a:r>
            <a:r>
              <a:rPr lang="en-US" sz="2700" dirty="0"/>
              <a:t> in a closed system until its quality is </a:t>
            </a:r>
            <a:r>
              <a:rPr lang="en-US" sz="2700" dirty="0">
                <a:solidFill>
                  <a:srgbClr val="FF0000"/>
                </a:solidFill>
              </a:rPr>
              <a:t>80</a:t>
            </a:r>
            <a:r>
              <a:rPr lang="en-US" sz="2700" dirty="0"/>
              <a:t> percent. Determine the total work produced by this expansion, in kJ.</a:t>
            </a:r>
            <a:br>
              <a:rPr lang="en-US" sz="2700" dirty="0"/>
            </a:br>
            <a:endParaRPr lang="en-NZ" sz="2700" dirty="0"/>
          </a:p>
        </p:txBody>
      </p:sp>
      <p:pic>
        <p:nvPicPr>
          <p:cNvPr id="5" name="Content Placeholder 4">
            <a:extLst>
              <a:ext uri="{FF2B5EF4-FFF2-40B4-BE49-F238E27FC236}">
                <a16:creationId xmlns:a16="http://schemas.microsoft.com/office/drawing/2014/main" id="{2FAB5F05-3834-3ABB-B27A-4A808516A8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6242" y="1853057"/>
            <a:ext cx="7261835" cy="4351338"/>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E7A7BA4F-350B-E940-AE2B-61D3EE6A67B4}"/>
                  </a:ext>
                </a:extLst>
              </p:cNvPr>
              <p:cNvSpPr txBox="1"/>
              <p:nvPr/>
            </p:nvSpPr>
            <p:spPr>
              <a:xfrm>
                <a:off x="7818120" y="1690688"/>
                <a:ext cx="4373880" cy="2230867"/>
              </a:xfrm>
              <a:prstGeom prst="rect">
                <a:avLst/>
              </a:prstGeom>
              <a:noFill/>
            </p:spPr>
            <p:txBody>
              <a:bodyPr wrap="square" rtlCol="0">
                <a:spAutoFit/>
              </a:bodyPr>
              <a:lstStyle/>
              <a:p>
                <a:r>
                  <a:rPr lang="en-NZ" dirty="0"/>
                  <a:t>1. Use Table A4 to find </a:t>
                </a:r>
                <a:r>
                  <a:rPr lang="en-NZ" dirty="0" err="1"/>
                  <a:t>vf</a:t>
                </a:r>
                <a:r>
                  <a:rPr lang="en-NZ" dirty="0"/>
                  <a:t> and vg at </a:t>
                </a:r>
                <a:r>
                  <a:rPr lang="en-US" dirty="0"/>
                  <a:t>220°C</a:t>
                </a:r>
              </a:p>
              <a:p>
                <a:endParaRPr lang="en-US" dirty="0"/>
              </a:p>
              <a:p>
                <a:r>
                  <a:rPr lang="en-NZ" dirty="0"/>
                  <a:t> 2. Based on the X=0.8, to find out V2</a:t>
                </a:r>
              </a:p>
              <a:p>
                <a:endParaRPr lang="en-NZ" dirty="0"/>
              </a:p>
              <a:p>
                <a:r>
                  <a:rPr lang="en-NZ" dirty="0"/>
                  <a:t>3. </a:t>
                </a:r>
                <a14:m>
                  <m:oMath xmlns:m="http://schemas.openxmlformats.org/officeDocument/2006/math">
                    <m:sSub>
                      <m:sSubPr>
                        <m:ctrlPr>
                          <a:rPr lang="en-NZ" b="0" i="1" smtClean="0">
                            <a:latin typeface="Cambria Math" panose="02040503050406030204" pitchFamily="18" charset="0"/>
                          </a:rPr>
                        </m:ctrlPr>
                      </m:sSubPr>
                      <m:e>
                        <m:acc>
                          <m:accPr>
                            <m:chr m:val="̇"/>
                            <m:ctrlPr>
                              <a:rPr lang="en-NZ" b="0" i="1" smtClean="0">
                                <a:latin typeface="Cambria Math" panose="02040503050406030204" pitchFamily="18" charset="0"/>
                              </a:rPr>
                            </m:ctrlPr>
                          </m:accPr>
                          <m:e>
                            <m:r>
                              <a:rPr lang="en-NZ" b="0" i="1" smtClean="0">
                                <a:latin typeface="Cambria Math" panose="02040503050406030204" pitchFamily="18" charset="0"/>
                              </a:rPr>
                              <m:t>𝑊</m:t>
                            </m:r>
                          </m:e>
                        </m:acc>
                      </m:e>
                      <m:sub>
                        <m:r>
                          <a:rPr lang="en-NZ" b="0" i="1" smtClean="0">
                            <a:latin typeface="Cambria Math" panose="02040503050406030204" pitchFamily="18" charset="0"/>
                          </a:rPr>
                          <m:t>𝐵</m:t>
                        </m:r>
                      </m:sub>
                    </m:sSub>
                    <m:r>
                      <a:rPr lang="en-NZ" b="0" i="1" smtClean="0">
                        <a:latin typeface="Cambria Math" panose="02040503050406030204" pitchFamily="18" charset="0"/>
                      </a:rPr>
                      <m:t>=</m:t>
                    </m:r>
                    <m:r>
                      <a:rPr lang="en-NZ" b="0" i="1" smtClean="0">
                        <a:latin typeface="Cambria Math" panose="02040503050406030204" pitchFamily="18" charset="0"/>
                      </a:rPr>
                      <m:t>𝑃𝑠𝑎𝑡</m:t>
                    </m:r>
                    <m:r>
                      <a:rPr lang="en-NZ" b="0" i="1" smtClean="0">
                        <a:latin typeface="Cambria Math" panose="02040503050406030204" pitchFamily="18" charset="0"/>
                      </a:rPr>
                      <m:t>(</m:t>
                    </m:r>
                    <m:sSub>
                      <m:sSubPr>
                        <m:ctrlPr>
                          <a:rPr lang="en-NZ" b="0" i="1" smtClean="0">
                            <a:latin typeface="Cambria Math" panose="02040503050406030204" pitchFamily="18" charset="0"/>
                          </a:rPr>
                        </m:ctrlPr>
                      </m:sSubPr>
                      <m:e>
                        <m:r>
                          <a:rPr lang="en-NZ" b="0" i="1" smtClean="0">
                            <a:latin typeface="Cambria Math" panose="02040503050406030204" pitchFamily="18" charset="0"/>
                          </a:rPr>
                          <m:t>𝑣</m:t>
                        </m:r>
                      </m:e>
                      <m:sub>
                        <m:r>
                          <a:rPr lang="en-NZ" b="0" i="1" smtClean="0">
                            <a:latin typeface="Cambria Math" panose="02040503050406030204" pitchFamily="18" charset="0"/>
                          </a:rPr>
                          <m:t>2</m:t>
                        </m:r>
                      </m:sub>
                    </m:sSub>
                    <m:r>
                      <a:rPr lang="en-NZ" b="0" i="1" smtClean="0">
                        <a:latin typeface="Cambria Math" panose="02040503050406030204" pitchFamily="18" charset="0"/>
                      </a:rPr>
                      <m:t>−</m:t>
                    </m:r>
                    <m:sSub>
                      <m:sSubPr>
                        <m:ctrlPr>
                          <a:rPr lang="en-NZ" b="0" i="1" smtClean="0">
                            <a:latin typeface="Cambria Math" panose="02040503050406030204" pitchFamily="18" charset="0"/>
                          </a:rPr>
                        </m:ctrlPr>
                      </m:sSubPr>
                      <m:e>
                        <m:r>
                          <a:rPr lang="en-NZ" b="0" i="1" smtClean="0">
                            <a:latin typeface="Cambria Math" panose="02040503050406030204" pitchFamily="18" charset="0"/>
                          </a:rPr>
                          <m:t>𝑣</m:t>
                        </m:r>
                      </m:e>
                      <m:sub>
                        <m:r>
                          <a:rPr lang="en-NZ" b="0" i="1" smtClean="0">
                            <a:latin typeface="Cambria Math" panose="02040503050406030204" pitchFamily="18" charset="0"/>
                          </a:rPr>
                          <m:t>𝑓</m:t>
                        </m:r>
                      </m:sub>
                    </m:sSub>
                    <m:r>
                      <a:rPr lang="en-NZ" b="0" i="1" smtClean="0">
                        <a:latin typeface="Cambria Math" panose="02040503050406030204" pitchFamily="18" charset="0"/>
                      </a:rPr>
                      <m:t>)</m:t>
                    </m:r>
                  </m:oMath>
                </a14:m>
                <a:endParaRPr lang="en-NZ" dirty="0"/>
              </a:p>
              <a:p>
                <a:endParaRPr lang="en-NZ" dirty="0"/>
              </a:p>
              <a:p>
                <a:r>
                  <a:rPr lang="en-NZ" dirty="0"/>
                  <a:t>4. </a:t>
                </a:r>
                <a14:m>
                  <m:oMath xmlns:m="http://schemas.openxmlformats.org/officeDocument/2006/math">
                    <m:sSub>
                      <m:sSubPr>
                        <m:ctrlPr>
                          <a:rPr lang="en-NZ" i="1" smtClean="0">
                            <a:latin typeface="Cambria Math" panose="02040503050406030204" pitchFamily="18" charset="0"/>
                          </a:rPr>
                        </m:ctrlPr>
                      </m:sSubPr>
                      <m:e>
                        <m:r>
                          <a:rPr lang="en-NZ" b="0" i="1" smtClean="0">
                            <a:latin typeface="Cambria Math" panose="02040503050406030204" pitchFamily="18" charset="0"/>
                          </a:rPr>
                          <m:t>𝑊</m:t>
                        </m:r>
                      </m:e>
                      <m:sub>
                        <m:r>
                          <a:rPr lang="en-NZ" b="0" i="1" smtClean="0">
                            <a:latin typeface="Cambria Math" panose="02040503050406030204" pitchFamily="18" charset="0"/>
                          </a:rPr>
                          <m:t>𝐵</m:t>
                        </m:r>
                      </m:sub>
                    </m:sSub>
                    <m:r>
                      <a:rPr lang="en-NZ" b="0" i="1" smtClean="0">
                        <a:latin typeface="Cambria Math" panose="02040503050406030204" pitchFamily="18" charset="0"/>
                      </a:rPr>
                      <m:t>=</m:t>
                    </m:r>
                    <m:sSub>
                      <m:sSubPr>
                        <m:ctrlPr>
                          <a:rPr lang="en-NZ" b="0" i="1" smtClean="0">
                            <a:latin typeface="Cambria Math" panose="02040503050406030204" pitchFamily="18" charset="0"/>
                          </a:rPr>
                        </m:ctrlPr>
                      </m:sSubPr>
                      <m:e>
                        <m:acc>
                          <m:accPr>
                            <m:chr m:val="̇"/>
                            <m:ctrlPr>
                              <a:rPr lang="en-NZ" b="0" i="1" smtClean="0">
                                <a:latin typeface="Cambria Math" panose="02040503050406030204" pitchFamily="18" charset="0"/>
                              </a:rPr>
                            </m:ctrlPr>
                          </m:accPr>
                          <m:e>
                            <m:r>
                              <a:rPr lang="en-NZ" b="0" i="1" smtClean="0">
                                <a:latin typeface="Cambria Math" panose="02040503050406030204" pitchFamily="18" charset="0"/>
                              </a:rPr>
                              <m:t>𝑊</m:t>
                            </m:r>
                          </m:e>
                        </m:acc>
                      </m:e>
                      <m:sub>
                        <m:r>
                          <a:rPr lang="en-NZ" b="0" i="1" smtClean="0">
                            <a:latin typeface="Cambria Math" panose="02040503050406030204" pitchFamily="18" charset="0"/>
                          </a:rPr>
                          <m:t>𝐵</m:t>
                        </m:r>
                      </m:sub>
                    </m:sSub>
                    <m:r>
                      <a:rPr lang="en-NZ" b="0" i="1" smtClean="0">
                        <a:latin typeface="Cambria Math" panose="02040503050406030204" pitchFamily="18" charset="0"/>
                      </a:rPr>
                      <m:t> </m:t>
                    </m:r>
                    <m:d>
                      <m:dPr>
                        <m:ctrlPr>
                          <a:rPr lang="en-NZ" b="0" i="1" smtClean="0">
                            <a:solidFill>
                              <a:srgbClr val="FF0000"/>
                            </a:solidFill>
                            <a:latin typeface="Cambria Math" panose="02040503050406030204" pitchFamily="18" charset="0"/>
                          </a:rPr>
                        </m:ctrlPr>
                      </m:dPr>
                      <m:e>
                        <m:f>
                          <m:fPr>
                            <m:ctrlPr>
                              <a:rPr lang="en-NZ" b="0" i="1" smtClean="0">
                                <a:solidFill>
                                  <a:srgbClr val="FF0000"/>
                                </a:solidFill>
                                <a:latin typeface="Cambria Math" panose="02040503050406030204" pitchFamily="18" charset="0"/>
                              </a:rPr>
                            </m:ctrlPr>
                          </m:fPr>
                          <m:num>
                            <m:r>
                              <a:rPr lang="en-NZ" b="0" i="1" smtClean="0">
                                <a:solidFill>
                                  <a:srgbClr val="FF0000"/>
                                </a:solidFill>
                                <a:latin typeface="Cambria Math" panose="02040503050406030204" pitchFamily="18" charset="0"/>
                              </a:rPr>
                              <m:t>𝐽</m:t>
                            </m:r>
                          </m:num>
                          <m:den>
                            <m:r>
                              <a:rPr lang="en-NZ" b="0" i="1" smtClean="0">
                                <a:solidFill>
                                  <a:srgbClr val="FF0000"/>
                                </a:solidFill>
                                <a:latin typeface="Cambria Math" panose="02040503050406030204" pitchFamily="18" charset="0"/>
                              </a:rPr>
                              <m:t>𝑘𝑔</m:t>
                            </m:r>
                          </m:den>
                        </m:f>
                      </m:e>
                    </m:d>
                    <m:r>
                      <a:rPr lang="en-NZ" b="0" i="1" smtClean="0">
                        <a:latin typeface="Cambria Math" panose="02040503050406030204" pitchFamily="18" charset="0"/>
                        <a:ea typeface="Cambria Math" panose="02040503050406030204" pitchFamily="18" charset="0"/>
                      </a:rPr>
                      <m:t>×</m:t>
                    </m:r>
                    <m:r>
                      <a:rPr lang="en-NZ" b="0" i="1" smtClean="0">
                        <a:latin typeface="Cambria Math" panose="02040503050406030204" pitchFamily="18" charset="0"/>
                        <a:ea typeface="Cambria Math" panose="02040503050406030204" pitchFamily="18" charset="0"/>
                      </a:rPr>
                      <m:t>𝑚</m:t>
                    </m:r>
                    <m:r>
                      <a:rPr lang="en-NZ" b="0" i="0" smtClean="0">
                        <a:latin typeface="Cambria Math" panose="02040503050406030204" pitchFamily="18" charset="0"/>
                        <a:ea typeface="Cambria Math" panose="02040503050406030204" pitchFamily="18" charset="0"/>
                      </a:rPr>
                      <m:t> </m:t>
                    </m:r>
                    <m:r>
                      <a:rPr lang="en-NZ" b="0" i="0" smtClean="0">
                        <a:solidFill>
                          <a:srgbClr val="FF0000"/>
                        </a:solidFill>
                        <a:latin typeface="Cambria Math" panose="02040503050406030204" pitchFamily="18" charset="0"/>
                        <a:ea typeface="Cambria Math" panose="02040503050406030204" pitchFamily="18" charset="0"/>
                      </a:rPr>
                      <m:t>(</m:t>
                    </m:r>
                    <m:r>
                      <m:rPr>
                        <m:sty m:val="p"/>
                      </m:rPr>
                      <a:rPr lang="en-NZ" b="0" i="0" smtClean="0">
                        <a:solidFill>
                          <a:srgbClr val="FF0000"/>
                        </a:solidFill>
                        <a:latin typeface="Cambria Math" panose="02040503050406030204" pitchFamily="18" charset="0"/>
                        <a:ea typeface="Cambria Math" panose="02040503050406030204" pitchFamily="18" charset="0"/>
                      </a:rPr>
                      <m:t>kg</m:t>
                    </m:r>
                    <m:r>
                      <a:rPr lang="en-NZ" b="0" i="0" smtClean="0">
                        <a:solidFill>
                          <a:srgbClr val="FF0000"/>
                        </a:solidFill>
                        <a:latin typeface="Cambria Math" panose="02040503050406030204" pitchFamily="18" charset="0"/>
                        <a:ea typeface="Cambria Math" panose="02040503050406030204" pitchFamily="18" charset="0"/>
                      </a:rPr>
                      <m:t>)</m:t>
                    </m:r>
                  </m:oMath>
                </a14:m>
                <a:endParaRPr lang="en-NZ" dirty="0"/>
              </a:p>
            </p:txBody>
          </p:sp>
        </mc:Choice>
        <mc:Fallback>
          <p:sp>
            <p:nvSpPr>
              <p:cNvPr id="6" name="TextBox 5">
                <a:extLst>
                  <a:ext uri="{FF2B5EF4-FFF2-40B4-BE49-F238E27FC236}">
                    <a16:creationId xmlns:a16="http://schemas.microsoft.com/office/drawing/2014/main" id="{E7A7BA4F-350B-E940-AE2B-61D3EE6A67B4}"/>
                  </a:ext>
                </a:extLst>
              </p:cNvPr>
              <p:cNvSpPr txBox="1">
                <a:spLocks noRot="1" noChangeAspect="1" noMove="1" noResize="1" noEditPoints="1" noAdjustHandles="1" noChangeArrowheads="1" noChangeShapeType="1" noTextEdit="1"/>
              </p:cNvSpPr>
              <p:nvPr/>
            </p:nvSpPr>
            <p:spPr>
              <a:xfrm>
                <a:off x="7818120" y="1690688"/>
                <a:ext cx="4373880" cy="2230867"/>
              </a:xfrm>
              <a:prstGeom prst="rect">
                <a:avLst/>
              </a:prstGeom>
              <a:blipFill>
                <a:blip r:embed="rId3"/>
                <a:stretch>
                  <a:fillRect l="-1255" t="-1093" b="-546"/>
                </a:stretch>
              </a:blipFill>
            </p:spPr>
            <p:txBody>
              <a:bodyPr/>
              <a:lstStyle/>
              <a:p>
                <a:r>
                  <a:rPr lang="en-NZ">
                    <a:noFill/>
                  </a:rPr>
                  <a:t> </a:t>
                </a:r>
              </a:p>
            </p:txBody>
          </p:sp>
        </mc:Fallback>
      </mc:AlternateContent>
    </p:spTree>
    <p:extLst>
      <p:ext uri="{BB962C8B-B14F-4D97-AF65-F5344CB8AC3E}">
        <p14:creationId xmlns:p14="http://schemas.microsoft.com/office/powerpoint/2010/main" val="2840837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2D578-2594-1BDB-678C-E29BCCCBEC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3425F3-8CAA-830A-C25E-9D35FB792A26}"/>
              </a:ext>
            </a:extLst>
          </p:cNvPr>
          <p:cNvSpPr>
            <a:spLocks noGrp="1"/>
          </p:cNvSpPr>
          <p:nvPr>
            <p:ph type="title"/>
          </p:nvPr>
        </p:nvSpPr>
        <p:spPr/>
        <p:txBody>
          <a:bodyPr>
            <a:noAutofit/>
          </a:bodyPr>
          <a:lstStyle/>
          <a:p>
            <a:pPr algn="just"/>
            <a:r>
              <a:rPr lang="en-NZ" sz="2400" dirty="0"/>
              <a:t>Q3) </a:t>
            </a:r>
            <a:r>
              <a:rPr lang="en-US" sz="2400" dirty="0"/>
              <a:t>The volume of 1 kg of helium in a piston–cylinder device is initially 4 m</a:t>
            </a:r>
            <a:r>
              <a:rPr lang="en-US" sz="2400" baseline="30000" dirty="0"/>
              <a:t>3</a:t>
            </a:r>
            <a:r>
              <a:rPr lang="en-US" sz="2400" dirty="0"/>
              <a:t>. Now helium is compressed to 1 m</a:t>
            </a:r>
            <a:r>
              <a:rPr lang="en-US" sz="2400" baseline="30000" dirty="0"/>
              <a:t>3</a:t>
            </a:r>
            <a:r>
              <a:rPr lang="en-US" sz="2400" dirty="0"/>
              <a:t> while its pressure is maintained constant at 120 kPa. Determine the initial and final temperatures of helium as well as the work required to compress it, in kJ.</a:t>
            </a:r>
            <a:endParaRPr lang="en-NZ" sz="2400" dirty="0"/>
          </a:p>
        </p:txBody>
      </p:sp>
      <p:pic>
        <p:nvPicPr>
          <p:cNvPr id="5" name="Content Placeholder 4">
            <a:extLst>
              <a:ext uri="{FF2B5EF4-FFF2-40B4-BE49-F238E27FC236}">
                <a16:creationId xmlns:a16="http://schemas.microsoft.com/office/drawing/2014/main" id="{191B60FF-A91D-4A1E-8E7E-9E772561441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12862"/>
          <a:stretch>
            <a:fillRect/>
          </a:stretch>
        </p:blipFill>
        <p:spPr>
          <a:xfrm>
            <a:off x="290322" y="2082570"/>
            <a:ext cx="5805678" cy="1664160"/>
          </a:xfrm>
          <a:prstGeom prst="rect">
            <a:avLst/>
          </a:prstGeom>
        </p:spPr>
      </p:pic>
      <p:pic>
        <p:nvPicPr>
          <p:cNvPr id="7" name="Picture 6">
            <a:extLst>
              <a:ext uri="{FF2B5EF4-FFF2-40B4-BE49-F238E27FC236}">
                <a16:creationId xmlns:a16="http://schemas.microsoft.com/office/drawing/2014/main" id="{702DC819-8FAE-C468-A9A1-E842806B41E0}"/>
              </a:ext>
            </a:extLst>
          </p:cNvPr>
          <p:cNvPicPr>
            <a:picLocks noChangeAspect="1"/>
          </p:cNvPicPr>
          <p:nvPr/>
        </p:nvPicPr>
        <p:blipFill>
          <a:blip r:embed="rId3">
            <a:extLst>
              <a:ext uri="{28A0092B-C50C-407E-A947-70E740481C1C}">
                <a14:useLocalDpi xmlns:a14="http://schemas.microsoft.com/office/drawing/2010/main" val="0"/>
              </a:ext>
            </a:extLst>
          </a:blip>
          <a:srcRect l="2401"/>
          <a:stretch>
            <a:fillRect/>
          </a:stretch>
        </p:blipFill>
        <p:spPr>
          <a:xfrm>
            <a:off x="6330856" y="1857375"/>
            <a:ext cx="5697313" cy="3143250"/>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A13D29D2-9DF2-B0A2-E57D-744A2C946ECA}"/>
                  </a:ext>
                </a:extLst>
              </p:cNvPr>
              <p:cNvSpPr txBox="1"/>
              <p:nvPr/>
            </p:nvSpPr>
            <p:spPr>
              <a:xfrm>
                <a:off x="623918" y="4138612"/>
                <a:ext cx="4816762" cy="148720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NZ" i="1" smtClean="0">
                              <a:latin typeface="Cambria Math" panose="02040503050406030204" pitchFamily="18" charset="0"/>
                            </a:rPr>
                          </m:ctrlPr>
                        </m:sSubPr>
                        <m:e>
                          <m:r>
                            <a:rPr lang="en-NZ" b="0" i="1" smtClean="0">
                              <a:latin typeface="Cambria Math" panose="02040503050406030204" pitchFamily="18" charset="0"/>
                            </a:rPr>
                            <m:t>𝑊</m:t>
                          </m:r>
                        </m:e>
                        <m:sub>
                          <m:r>
                            <a:rPr lang="en-NZ" b="0" i="1" smtClean="0">
                              <a:latin typeface="Cambria Math" panose="02040503050406030204" pitchFamily="18" charset="0"/>
                            </a:rPr>
                            <m:t>𝐵</m:t>
                          </m:r>
                        </m:sub>
                      </m:sSub>
                      <m:d>
                        <m:dPr>
                          <m:ctrlPr>
                            <a:rPr lang="en-NZ" b="0" i="1" smtClean="0">
                              <a:latin typeface="Cambria Math" panose="02040503050406030204" pitchFamily="18" charset="0"/>
                            </a:rPr>
                          </m:ctrlPr>
                        </m:dPr>
                        <m:e>
                          <m:r>
                            <a:rPr lang="en-NZ" b="0" i="1" smtClean="0">
                              <a:solidFill>
                                <a:srgbClr val="FF0000"/>
                              </a:solidFill>
                              <a:latin typeface="Cambria Math" panose="02040503050406030204" pitchFamily="18" charset="0"/>
                            </a:rPr>
                            <m:t>𝑘𝐽</m:t>
                          </m:r>
                        </m:e>
                      </m:d>
                      <m:r>
                        <a:rPr lang="en-NZ" b="0" i="1" smtClean="0">
                          <a:latin typeface="Cambria Math" panose="02040503050406030204" pitchFamily="18" charset="0"/>
                        </a:rPr>
                        <m:t>=</m:t>
                      </m:r>
                      <m:r>
                        <a:rPr lang="en-NZ" b="0" i="1" smtClean="0">
                          <a:latin typeface="Cambria Math" panose="02040503050406030204" pitchFamily="18" charset="0"/>
                        </a:rPr>
                        <m:t>𝑃</m:t>
                      </m:r>
                      <m:d>
                        <m:dPr>
                          <m:ctrlPr>
                            <a:rPr lang="en-NZ" b="0" i="1" smtClean="0">
                              <a:solidFill>
                                <a:srgbClr val="FF0000"/>
                              </a:solidFill>
                              <a:latin typeface="Cambria Math" panose="02040503050406030204" pitchFamily="18" charset="0"/>
                            </a:rPr>
                          </m:ctrlPr>
                        </m:dPr>
                        <m:e>
                          <m:r>
                            <a:rPr lang="en-NZ" b="0" i="1" smtClean="0">
                              <a:solidFill>
                                <a:srgbClr val="FF0000"/>
                              </a:solidFill>
                              <a:latin typeface="Cambria Math" panose="02040503050406030204" pitchFamily="18" charset="0"/>
                            </a:rPr>
                            <m:t>𝑘𝑃𝑎</m:t>
                          </m:r>
                        </m:e>
                      </m:d>
                      <m:r>
                        <a:rPr lang="en-NZ" b="0" i="1" smtClean="0">
                          <a:latin typeface="Cambria Math" panose="02040503050406030204" pitchFamily="18" charset="0"/>
                          <a:ea typeface="Cambria Math" panose="02040503050406030204" pitchFamily="18" charset="0"/>
                        </a:rPr>
                        <m:t>×</m:t>
                      </m:r>
                      <m:d>
                        <m:dPr>
                          <m:ctrlPr>
                            <a:rPr lang="en-NZ" b="0" i="0" smtClean="0">
                              <a:solidFill>
                                <a:srgbClr val="FF0000"/>
                              </a:solidFill>
                              <a:latin typeface="Cambria Math" panose="02040503050406030204" pitchFamily="18" charset="0"/>
                              <a:ea typeface="Cambria Math" panose="02040503050406030204" pitchFamily="18" charset="0"/>
                            </a:rPr>
                          </m:ctrlPr>
                        </m:dPr>
                        <m:e>
                          <m:sSub>
                            <m:sSubPr>
                              <m:ctrlPr>
                                <a:rPr lang="en-NZ" b="0" i="1" smtClean="0">
                                  <a:latin typeface="Cambria Math" panose="02040503050406030204" pitchFamily="18" charset="0"/>
                                  <a:ea typeface="Cambria Math" panose="02040503050406030204" pitchFamily="18" charset="0"/>
                                </a:rPr>
                              </m:ctrlPr>
                            </m:sSubPr>
                            <m:e>
                              <m:r>
                                <a:rPr lang="en-NZ" b="0" i="1" smtClean="0">
                                  <a:latin typeface="Cambria Math" panose="02040503050406030204" pitchFamily="18" charset="0"/>
                                  <a:ea typeface="Cambria Math" panose="02040503050406030204" pitchFamily="18" charset="0"/>
                                </a:rPr>
                                <m:t>𝑉</m:t>
                              </m:r>
                            </m:e>
                            <m:sub>
                              <m:r>
                                <a:rPr lang="en-NZ" b="0" i="1" smtClean="0">
                                  <a:latin typeface="Cambria Math" panose="02040503050406030204" pitchFamily="18" charset="0"/>
                                  <a:ea typeface="Cambria Math" panose="02040503050406030204" pitchFamily="18" charset="0"/>
                                </a:rPr>
                                <m:t>2</m:t>
                              </m:r>
                            </m:sub>
                          </m:sSub>
                          <m:r>
                            <a:rPr lang="en-NZ" b="0" i="1" smtClean="0">
                              <a:latin typeface="Cambria Math" panose="02040503050406030204" pitchFamily="18" charset="0"/>
                              <a:ea typeface="Cambria Math" panose="02040503050406030204" pitchFamily="18" charset="0"/>
                            </a:rPr>
                            <m:t>−</m:t>
                          </m:r>
                          <m:sSub>
                            <m:sSubPr>
                              <m:ctrlPr>
                                <a:rPr lang="en-NZ" b="0" i="1" smtClean="0">
                                  <a:latin typeface="Cambria Math" panose="02040503050406030204" pitchFamily="18" charset="0"/>
                                  <a:ea typeface="Cambria Math" panose="02040503050406030204" pitchFamily="18" charset="0"/>
                                </a:rPr>
                              </m:ctrlPr>
                            </m:sSubPr>
                            <m:e>
                              <m:r>
                                <a:rPr lang="en-NZ" b="0" i="1" smtClean="0">
                                  <a:latin typeface="Cambria Math" panose="02040503050406030204" pitchFamily="18" charset="0"/>
                                  <a:ea typeface="Cambria Math" panose="02040503050406030204" pitchFamily="18" charset="0"/>
                                </a:rPr>
                                <m:t>𝑉</m:t>
                              </m:r>
                            </m:e>
                            <m:sub>
                              <m:r>
                                <a:rPr lang="en-NZ" b="0" i="1" smtClean="0">
                                  <a:latin typeface="Cambria Math" panose="02040503050406030204" pitchFamily="18" charset="0"/>
                                  <a:ea typeface="Cambria Math" panose="02040503050406030204" pitchFamily="18" charset="0"/>
                                </a:rPr>
                                <m:t>1</m:t>
                              </m:r>
                            </m:sub>
                          </m:sSub>
                        </m:e>
                      </m:d>
                      <m:d>
                        <m:dPr>
                          <m:ctrlPr>
                            <a:rPr lang="en-NZ" b="0" i="0" smtClean="0">
                              <a:solidFill>
                                <a:srgbClr val="FF0000"/>
                              </a:solidFill>
                              <a:latin typeface="Cambria Math" panose="02040503050406030204" pitchFamily="18" charset="0"/>
                              <a:ea typeface="Cambria Math" panose="02040503050406030204" pitchFamily="18" charset="0"/>
                            </a:rPr>
                          </m:ctrlPr>
                        </m:dPr>
                        <m:e>
                          <m:sSup>
                            <m:sSupPr>
                              <m:ctrlPr>
                                <a:rPr lang="en-NZ" b="0" i="1" smtClean="0">
                                  <a:solidFill>
                                    <a:srgbClr val="FF0000"/>
                                  </a:solidFill>
                                  <a:latin typeface="Cambria Math" panose="02040503050406030204" pitchFamily="18" charset="0"/>
                                  <a:ea typeface="Cambria Math" panose="02040503050406030204" pitchFamily="18" charset="0"/>
                                </a:rPr>
                              </m:ctrlPr>
                            </m:sSupPr>
                            <m:e>
                              <m:r>
                                <a:rPr lang="en-NZ" b="0" i="1" smtClean="0">
                                  <a:solidFill>
                                    <a:srgbClr val="FF0000"/>
                                  </a:solidFill>
                                  <a:latin typeface="Cambria Math" panose="02040503050406030204" pitchFamily="18" charset="0"/>
                                  <a:ea typeface="Cambria Math" panose="02040503050406030204" pitchFamily="18" charset="0"/>
                                </a:rPr>
                                <m:t>𝑚</m:t>
                              </m:r>
                            </m:e>
                            <m:sup>
                              <m:r>
                                <a:rPr lang="en-NZ" b="0" i="1" smtClean="0">
                                  <a:solidFill>
                                    <a:srgbClr val="FF0000"/>
                                  </a:solidFill>
                                  <a:latin typeface="Cambria Math" panose="02040503050406030204" pitchFamily="18" charset="0"/>
                                  <a:ea typeface="Cambria Math" panose="02040503050406030204" pitchFamily="18" charset="0"/>
                                </a:rPr>
                                <m:t>3</m:t>
                              </m:r>
                            </m:sup>
                          </m:sSup>
                        </m:e>
                      </m:d>
                    </m:oMath>
                  </m:oMathPara>
                </a14:m>
                <a:endParaRPr lang="en-NZ" b="0" dirty="0">
                  <a:solidFill>
                    <a:srgbClr val="FF0000"/>
                  </a:solidFill>
                  <a:ea typeface="Cambria Math" panose="02040503050406030204" pitchFamily="18" charset="0"/>
                </a:endParaRPr>
              </a:p>
              <a:p>
                <a:endParaRPr lang="en-NZ" b="0" dirty="0">
                  <a:solidFill>
                    <a:srgbClr val="FF0000"/>
                  </a:solidFill>
                  <a:ea typeface="Cambria Math" panose="02040503050406030204" pitchFamily="18" charset="0"/>
                </a:endParaRPr>
              </a:p>
              <a:p>
                <a:endParaRPr lang="en-NZ" dirty="0">
                  <a:solidFill>
                    <a:srgbClr val="FF0000"/>
                  </a:solidFill>
                  <a:ea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NZ" b="0" i="1" smtClean="0">
                          <a:solidFill>
                            <a:srgbClr val="FF0000"/>
                          </a:solidFill>
                          <a:latin typeface="Cambria Math" panose="02040503050406030204" pitchFamily="18" charset="0"/>
                          <a:ea typeface="Cambria Math" panose="02040503050406030204" pitchFamily="18" charset="0"/>
                        </a:rPr>
                        <m:t>𝑇</m:t>
                      </m:r>
                      <m:r>
                        <a:rPr lang="en-NZ" b="0" i="1" smtClean="0">
                          <a:solidFill>
                            <a:srgbClr val="FF0000"/>
                          </a:solidFill>
                          <a:latin typeface="Cambria Math" panose="02040503050406030204" pitchFamily="18" charset="0"/>
                          <a:ea typeface="Cambria Math" panose="02040503050406030204" pitchFamily="18" charset="0"/>
                        </a:rPr>
                        <m:t>=</m:t>
                      </m:r>
                      <m:f>
                        <m:fPr>
                          <m:ctrlPr>
                            <a:rPr lang="en-NZ" b="0" i="1" smtClean="0">
                              <a:solidFill>
                                <a:srgbClr val="FF0000"/>
                              </a:solidFill>
                              <a:latin typeface="Cambria Math" panose="02040503050406030204" pitchFamily="18" charset="0"/>
                              <a:ea typeface="Cambria Math" panose="02040503050406030204" pitchFamily="18" charset="0"/>
                            </a:rPr>
                          </m:ctrlPr>
                        </m:fPr>
                        <m:num>
                          <m:r>
                            <a:rPr lang="en-NZ" b="0" i="1" smtClean="0">
                              <a:solidFill>
                                <a:srgbClr val="FF0000"/>
                              </a:solidFill>
                              <a:latin typeface="Cambria Math" panose="02040503050406030204" pitchFamily="18" charset="0"/>
                              <a:ea typeface="Cambria Math" panose="02040503050406030204" pitchFamily="18" charset="0"/>
                            </a:rPr>
                            <m:t>𝑃</m:t>
                          </m:r>
                          <m:r>
                            <a:rPr lang="en-NZ" b="0" i="1" smtClean="0">
                              <a:solidFill>
                                <a:srgbClr val="FF0000"/>
                              </a:solidFill>
                              <a:latin typeface="Cambria Math" panose="02040503050406030204" pitchFamily="18" charset="0"/>
                              <a:ea typeface="Cambria Math" panose="02040503050406030204" pitchFamily="18" charset="0"/>
                            </a:rPr>
                            <m:t> </m:t>
                          </m:r>
                          <m:r>
                            <a:rPr lang="en-NZ" b="0" i="1" smtClean="0">
                              <a:solidFill>
                                <a:srgbClr val="FF0000"/>
                              </a:solidFill>
                              <a:latin typeface="Cambria Math" panose="02040503050406030204" pitchFamily="18" charset="0"/>
                              <a:ea typeface="Cambria Math" panose="02040503050406030204" pitchFamily="18" charset="0"/>
                            </a:rPr>
                            <m:t>𝑉</m:t>
                          </m:r>
                        </m:num>
                        <m:den>
                          <m:r>
                            <a:rPr lang="en-NZ" b="0" i="1" smtClean="0">
                              <a:solidFill>
                                <a:srgbClr val="FF0000"/>
                              </a:solidFill>
                              <a:latin typeface="Cambria Math" panose="02040503050406030204" pitchFamily="18" charset="0"/>
                              <a:ea typeface="Cambria Math" panose="02040503050406030204" pitchFamily="18" charset="0"/>
                            </a:rPr>
                            <m:t>𝑚</m:t>
                          </m:r>
                          <m:sSub>
                            <m:sSubPr>
                              <m:ctrlPr>
                                <a:rPr lang="en-NZ" b="0" i="1" smtClean="0">
                                  <a:solidFill>
                                    <a:srgbClr val="FF0000"/>
                                  </a:solidFill>
                                  <a:latin typeface="Cambria Math" panose="02040503050406030204" pitchFamily="18" charset="0"/>
                                  <a:ea typeface="Cambria Math" panose="02040503050406030204" pitchFamily="18" charset="0"/>
                                </a:rPr>
                              </m:ctrlPr>
                            </m:sSubPr>
                            <m:e>
                              <m:r>
                                <a:rPr lang="en-NZ" b="0" i="1" smtClean="0">
                                  <a:solidFill>
                                    <a:srgbClr val="FF0000"/>
                                  </a:solidFill>
                                  <a:latin typeface="Cambria Math" panose="02040503050406030204" pitchFamily="18" charset="0"/>
                                  <a:ea typeface="Cambria Math" panose="02040503050406030204" pitchFamily="18" charset="0"/>
                                </a:rPr>
                                <m:t> </m:t>
                              </m:r>
                              <m:r>
                                <a:rPr lang="en-NZ" b="0" i="1" smtClean="0">
                                  <a:solidFill>
                                    <a:srgbClr val="FF0000"/>
                                  </a:solidFill>
                                  <a:latin typeface="Cambria Math" panose="02040503050406030204" pitchFamily="18" charset="0"/>
                                  <a:ea typeface="Cambria Math" panose="02040503050406030204" pitchFamily="18" charset="0"/>
                                </a:rPr>
                                <m:t>𝑅</m:t>
                              </m:r>
                            </m:e>
                            <m:sub>
                              <m:r>
                                <a:rPr lang="en-NZ" b="0" i="1" smtClean="0">
                                  <a:solidFill>
                                    <a:srgbClr val="FF0000"/>
                                  </a:solidFill>
                                  <a:latin typeface="Cambria Math" panose="02040503050406030204" pitchFamily="18" charset="0"/>
                                  <a:ea typeface="Cambria Math" panose="02040503050406030204" pitchFamily="18" charset="0"/>
                                </a:rPr>
                                <m:t>h𝑒𝑙𝑖𝑢𝑚</m:t>
                              </m:r>
                            </m:sub>
                          </m:sSub>
                        </m:den>
                      </m:f>
                    </m:oMath>
                  </m:oMathPara>
                </a14:m>
                <a:endParaRPr lang="en-NZ" b="0" dirty="0">
                  <a:solidFill>
                    <a:srgbClr val="FF0000"/>
                  </a:solidFill>
                  <a:ea typeface="Cambria Math" panose="02040503050406030204" pitchFamily="18" charset="0"/>
                </a:endParaRPr>
              </a:p>
            </p:txBody>
          </p:sp>
        </mc:Choice>
        <mc:Fallback>
          <p:sp>
            <p:nvSpPr>
              <p:cNvPr id="8" name="TextBox 7">
                <a:extLst>
                  <a:ext uri="{FF2B5EF4-FFF2-40B4-BE49-F238E27FC236}">
                    <a16:creationId xmlns:a16="http://schemas.microsoft.com/office/drawing/2014/main" id="{A13D29D2-9DF2-B0A2-E57D-744A2C946ECA}"/>
                  </a:ext>
                </a:extLst>
              </p:cNvPr>
              <p:cNvSpPr txBox="1">
                <a:spLocks noRot="1" noChangeAspect="1" noMove="1" noResize="1" noEditPoints="1" noAdjustHandles="1" noChangeArrowheads="1" noChangeShapeType="1" noTextEdit="1"/>
              </p:cNvSpPr>
              <p:nvPr/>
            </p:nvSpPr>
            <p:spPr>
              <a:xfrm>
                <a:off x="623918" y="4138612"/>
                <a:ext cx="4816762" cy="1487202"/>
              </a:xfrm>
              <a:prstGeom prst="rect">
                <a:avLst/>
              </a:prstGeom>
              <a:blipFill>
                <a:blip r:embed="rId4"/>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1699540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3CA0B-154B-E9A3-9531-513E746CF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3CB9A-7F3B-378B-716F-94C508C66F1B}"/>
              </a:ext>
            </a:extLst>
          </p:cNvPr>
          <p:cNvSpPr>
            <a:spLocks noGrp="1"/>
          </p:cNvSpPr>
          <p:nvPr>
            <p:ph type="title"/>
          </p:nvPr>
        </p:nvSpPr>
        <p:spPr>
          <a:xfrm>
            <a:off x="347472" y="438912"/>
            <a:ext cx="11356848" cy="1688465"/>
          </a:xfrm>
        </p:spPr>
        <p:txBody>
          <a:bodyPr>
            <a:noAutofit/>
          </a:bodyPr>
          <a:lstStyle/>
          <a:p>
            <a:pPr algn="just"/>
            <a:r>
              <a:rPr lang="en-NZ" sz="2400" dirty="0"/>
              <a:t>Q4) </a:t>
            </a:r>
            <a:r>
              <a:rPr lang="en-US" sz="2400" dirty="0"/>
              <a:t>A gas is compressed from an initial volume of 0.2 m</a:t>
            </a:r>
            <a:r>
              <a:rPr lang="en-US" sz="2400" baseline="30000" dirty="0"/>
              <a:t>3</a:t>
            </a:r>
            <a:r>
              <a:rPr lang="en-US" sz="2400" dirty="0"/>
              <a:t> to a final volume of 0.1m</a:t>
            </a:r>
            <a:r>
              <a:rPr lang="en-US" sz="2400" baseline="30000" dirty="0"/>
              <a:t>3</a:t>
            </a:r>
            <a:r>
              <a:rPr lang="en-US" sz="2400" dirty="0"/>
              <a:t>. During the quasi-equilibrium process, the pressure changes with volume according to the relation P = </a:t>
            </a:r>
            <a:r>
              <a:rPr lang="en-US" sz="2400" dirty="0" err="1"/>
              <a:t>aV</a:t>
            </a:r>
            <a:r>
              <a:rPr lang="en-US" sz="2400" dirty="0"/>
              <a:t> + b, where a = –1500 kPa/m</a:t>
            </a:r>
            <a:r>
              <a:rPr lang="en-US" sz="2400" baseline="30000" dirty="0"/>
              <a:t>3</a:t>
            </a:r>
            <a:r>
              <a:rPr lang="en-US" sz="2400" dirty="0"/>
              <a:t> and b = 400 kPa. Calculate the work done during this process: (a) by plotting the process on a P-V diagram and finding the area under the process curve and (b) by performing the necessary integrations.</a:t>
            </a:r>
            <a:endParaRPr lang="en-NZ" sz="2400" dirty="0"/>
          </a:p>
        </p:txBody>
      </p:sp>
      <p:pic>
        <p:nvPicPr>
          <p:cNvPr id="4" name="Picture 3">
            <a:extLst>
              <a:ext uri="{FF2B5EF4-FFF2-40B4-BE49-F238E27FC236}">
                <a16:creationId xmlns:a16="http://schemas.microsoft.com/office/drawing/2014/main" id="{05DFFE23-1AC5-B7D9-14EC-83BEC0DA82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388" y="2300671"/>
            <a:ext cx="5250432" cy="3734369"/>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51DC39B9-FD42-F3CC-F36A-6E3FA83136A8}"/>
                  </a:ext>
                </a:extLst>
              </p:cNvPr>
              <p:cNvSpPr txBox="1"/>
              <p:nvPr/>
            </p:nvSpPr>
            <p:spPr>
              <a:xfrm>
                <a:off x="7091172" y="2633472"/>
                <a:ext cx="3909060" cy="1228157"/>
              </a:xfrm>
              <a:prstGeom prst="rect">
                <a:avLst/>
              </a:prstGeom>
              <a:noFill/>
            </p:spPr>
            <p:txBody>
              <a:bodyPr wrap="square" lIns="0" tIns="0" rIns="0" bIns="0" rtlCol="0">
                <a:spAutoFit/>
              </a:bodyPr>
              <a:lstStyle/>
              <a:p>
                <a:pPr marL="342900" indent="-342900">
                  <a:buAutoNum type="alphaLcParenR"/>
                </a:pPr>
                <a14:m>
                  <m:oMath xmlns:m="http://schemas.openxmlformats.org/officeDocument/2006/math">
                    <m:sSub>
                      <m:sSubPr>
                        <m:ctrlPr>
                          <a:rPr lang="en-NZ" i="1" smtClean="0">
                            <a:latin typeface="Cambria Math" panose="02040503050406030204" pitchFamily="18" charset="0"/>
                          </a:rPr>
                        </m:ctrlPr>
                      </m:sSubPr>
                      <m:e>
                        <m:r>
                          <a:rPr lang="en-NZ" b="0" i="1" smtClean="0">
                            <a:latin typeface="Cambria Math" panose="02040503050406030204" pitchFamily="18" charset="0"/>
                          </a:rPr>
                          <m:t>𝑊</m:t>
                        </m:r>
                      </m:e>
                      <m:sub>
                        <m:r>
                          <a:rPr lang="en-NZ" b="0" i="1" smtClean="0">
                            <a:latin typeface="Cambria Math" panose="02040503050406030204" pitchFamily="18" charset="0"/>
                          </a:rPr>
                          <m:t>𝐵</m:t>
                        </m:r>
                      </m:sub>
                    </m:sSub>
                    <m:r>
                      <a:rPr lang="en-NZ" b="0" i="1" smtClean="0">
                        <a:latin typeface="Cambria Math" panose="02040503050406030204" pitchFamily="18" charset="0"/>
                      </a:rPr>
                      <m:t>=</m:t>
                    </m:r>
                    <m:sSub>
                      <m:sSubPr>
                        <m:ctrlPr>
                          <a:rPr lang="en-NZ" b="0" i="1" smtClean="0">
                            <a:latin typeface="Cambria Math" panose="02040503050406030204" pitchFamily="18" charset="0"/>
                          </a:rPr>
                        </m:ctrlPr>
                      </m:sSubPr>
                      <m:e>
                        <m:r>
                          <a:rPr lang="en-NZ" b="0" i="1" smtClean="0">
                            <a:latin typeface="Cambria Math" panose="02040503050406030204" pitchFamily="18" charset="0"/>
                          </a:rPr>
                          <m:t>𝐴</m:t>
                        </m:r>
                      </m:e>
                      <m:sub>
                        <m:r>
                          <a:rPr lang="en-NZ" b="0" i="1" smtClean="0">
                            <a:latin typeface="Cambria Math" panose="02040503050406030204" pitchFamily="18" charset="0"/>
                          </a:rPr>
                          <m:t>𝑡𝑟𝑖𝑎𝑛𝑔𝑙𝑒</m:t>
                        </m:r>
                      </m:sub>
                    </m:sSub>
                    <m:r>
                      <a:rPr lang="en-NZ" b="0" i="1" smtClean="0">
                        <a:latin typeface="Cambria Math" panose="02040503050406030204" pitchFamily="18" charset="0"/>
                      </a:rPr>
                      <m:t>+</m:t>
                    </m:r>
                    <m:sSub>
                      <m:sSubPr>
                        <m:ctrlPr>
                          <a:rPr lang="en-NZ" b="0" i="1" smtClean="0">
                            <a:latin typeface="Cambria Math" panose="02040503050406030204" pitchFamily="18" charset="0"/>
                          </a:rPr>
                        </m:ctrlPr>
                      </m:sSubPr>
                      <m:e>
                        <m:r>
                          <a:rPr lang="en-NZ" b="0" i="1" smtClean="0">
                            <a:latin typeface="Cambria Math" panose="02040503050406030204" pitchFamily="18" charset="0"/>
                          </a:rPr>
                          <m:t>𝐴</m:t>
                        </m:r>
                      </m:e>
                      <m:sub>
                        <m:r>
                          <a:rPr lang="en-NZ" b="0" i="1" smtClean="0">
                            <a:latin typeface="Cambria Math" panose="02040503050406030204" pitchFamily="18" charset="0"/>
                          </a:rPr>
                          <m:t>𝑟𝑒𝑐𝑡𝑎𝑛𝑔𝑙𝑒</m:t>
                        </m:r>
                      </m:sub>
                    </m:sSub>
                  </m:oMath>
                </a14:m>
                <a:endParaRPr lang="en-NZ" dirty="0"/>
              </a:p>
              <a:p>
                <a:pPr marL="342900" indent="-342900">
                  <a:buAutoNum type="alphaLcParenR"/>
                </a:pPr>
                <a:endParaRPr lang="en-NZ" dirty="0"/>
              </a:p>
              <a:p>
                <a:pPr marL="342900" indent="-342900">
                  <a:buAutoNum type="alphaLcParenR"/>
                </a:pPr>
                <a:endParaRPr lang="en-NZ" dirty="0"/>
              </a:p>
              <a:p>
                <a:pPr marL="342900" indent="-342900">
                  <a:buAutoNum type="alphaLcParenR"/>
                </a:pPr>
                <a:r>
                  <a:rPr lang="en-NZ" dirty="0"/>
                  <a:t> </a:t>
                </a:r>
                <a14:m>
                  <m:oMath xmlns:m="http://schemas.openxmlformats.org/officeDocument/2006/math">
                    <m:sSub>
                      <m:sSubPr>
                        <m:ctrlPr>
                          <a:rPr lang="en-NZ" i="1" smtClean="0">
                            <a:latin typeface="Cambria Math" panose="02040503050406030204" pitchFamily="18" charset="0"/>
                          </a:rPr>
                        </m:ctrlPr>
                      </m:sSubPr>
                      <m:e>
                        <m:r>
                          <a:rPr lang="en-NZ" b="0" i="1" smtClean="0">
                            <a:latin typeface="Cambria Math" panose="02040503050406030204" pitchFamily="18" charset="0"/>
                          </a:rPr>
                          <m:t>𝑊</m:t>
                        </m:r>
                      </m:e>
                      <m:sub>
                        <m:r>
                          <a:rPr lang="en-NZ" b="0" i="1" smtClean="0">
                            <a:latin typeface="Cambria Math" panose="02040503050406030204" pitchFamily="18" charset="0"/>
                          </a:rPr>
                          <m:t>𝐵</m:t>
                        </m:r>
                      </m:sub>
                    </m:sSub>
                    <m:r>
                      <a:rPr lang="en-NZ" b="0" i="1" smtClean="0">
                        <a:latin typeface="Cambria Math" panose="02040503050406030204" pitchFamily="18" charset="0"/>
                      </a:rPr>
                      <m:t>=</m:t>
                    </m:r>
                    <m:nary>
                      <m:naryPr>
                        <m:ctrlPr>
                          <a:rPr lang="en-NZ" b="0" i="1" smtClean="0">
                            <a:latin typeface="Cambria Math" panose="02040503050406030204" pitchFamily="18" charset="0"/>
                          </a:rPr>
                        </m:ctrlPr>
                      </m:naryPr>
                      <m:sub>
                        <m:r>
                          <m:rPr>
                            <m:brk m:alnAt="23"/>
                          </m:rPr>
                          <a:rPr lang="en-NZ" b="0" i="1" smtClean="0">
                            <a:latin typeface="Cambria Math" panose="02040503050406030204" pitchFamily="18" charset="0"/>
                          </a:rPr>
                          <m:t>0.2</m:t>
                        </m:r>
                      </m:sub>
                      <m:sup>
                        <m:r>
                          <a:rPr lang="en-NZ" b="0" i="1" smtClean="0">
                            <a:latin typeface="Cambria Math" panose="02040503050406030204" pitchFamily="18" charset="0"/>
                          </a:rPr>
                          <m:t>0.1</m:t>
                        </m:r>
                      </m:sup>
                      <m:e>
                        <m:d>
                          <m:dPr>
                            <m:ctrlPr>
                              <a:rPr lang="en-NZ" b="0" i="1" smtClean="0">
                                <a:latin typeface="Cambria Math" panose="02040503050406030204" pitchFamily="18" charset="0"/>
                              </a:rPr>
                            </m:ctrlPr>
                          </m:dPr>
                          <m:e>
                            <m:r>
                              <a:rPr lang="en-NZ" b="0" i="1" smtClean="0">
                                <a:latin typeface="Cambria Math" panose="02040503050406030204" pitchFamily="18" charset="0"/>
                              </a:rPr>
                              <m:t>−1500</m:t>
                            </m:r>
                            <m:r>
                              <a:rPr lang="en-NZ" b="0" i="1" smtClean="0">
                                <a:latin typeface="Cambria Math" panose="02040503050406030204" pitchFamily="18" charset="0"/>
                              </a:rPr>
                              <m:t>𝑉</m:t>
                            </m:r>
                            <m:r>
                              <a:rPr lang="en-NZ" b="0" i="1" smtClean="0">
                                <a:latin typeface="Cambria Math" panose="02040503050406030204" pitchFamily="18" charset="0"/>
                              </a:rPr>
                              <m:t>+400</m:t>
                            </m:r>
                          </m:e>
                        </m:d>
                        <m:r>
                          <a:rPr lang="en-NZ" b="0" i="1" smtClean="0">
                            <a:latin typeface="Cambria Math" panose="02040503050406030204" pitchFamily="18" charset="0"/>
                          </a:rPr>
                          <m:t>𝑑𝑉</m:t>
                        </m:r>
                      </m:e>
                    </m:nary>
                  </m:oMath>
                </a14:m>
                <a:endParaRPr lang="en-NZ" dirty="0"/>
              </a:p>
            </p:txBody>
          </p:sp>
        </mc:Choice>
        <mc:Fallback>
          <p:sp>
            <p:nvSpPr>
              <p:cNvPr id="5" name="TextBox 4">
                <a:extLst>
                  <a:ext uri="{FF2B5EF4-FFF2-40B4-BE49-F238E27FC236}">
                    <a16:creationId xmlns:a16="http://schemas.microsoft.com/office/drawing/2014/main" id="{51DC39B9-FD42-F3CC-F36A-6E3FA83136A8}"/>
                  </a:ext>
                </a:extLst>
              </p:cNvPr>
              <p:cNvSpPr txBox="1">
                <a:spLocks noRot="1" noChangeAspect="1" noMove="1" noResize="1" noEditPoints="1" noAdjustHandles="1" noChangeArrowheads="1" noChangeShapeType="1" noTextEdit="1"/>
              </p:cNvSpPr>
              <p:nvPr/>
            </p:nvSpPr>
            <p:spPr>
              <a:xfrm>
                <a:off x="7091172" y="2633472"/>
                <a:ext cx="3909060" cy="1228157"/>
              </a:xfrm>
              <a:prstGeom prst="rect">
                <a:avLst/>
              </a:prstGeom>
              <a:blipFill>
                <a:blip r:embed="rId3"/>
                <a:stretch>
                  <a:fillRect l="-3738" t="-5473" b="-68159"/>
                </a:stretch>
              </a:blipFill>
            </p:spPr>
            <p:txBody>
              <a:bodyPr/>
              <a:lstStyle/>
              <a:p>
                <a:r>
                  <a:rPr lang="en-NZ">
                    <a:noFill/>
                  </a:rPr>
                  <a:t> </a:t>
                </a:r>
              </a:p>
            </p:txBody>
          </p:sp>
        </mc:Fallback>
      </mc:AlternateContent>
    </p:spTree>
    <p:extLst>
      <p:ext uri="{BB962C8B-B14F-4D97-AF65-F5344CB8AC3E}">
        <p14:creationId xmlns:p14="http://schemas.microsoft.com/office/powerpoint/2010/main" val="1173177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0BE93-11FE-6223-65FD-1374969AB0F6}"/>
              </a:ext>
            </a:extLst>
          </p:cNvPr>
          <p:cNvSpPr>
            <a:spLocks noGrp="1"/>
          </p:cNvSpPr>
          <p:nvPr>
            <p:ph type="title"/>
          </p:nvPr>
        </p:nvSpPr>
        <p:spPr>
          <a:xfrm>
            <a:off x="283464" y="365125"/>
            <a:ext cx="11070336" cy="1325563"/>
          </a:xfrm>
        </p:spPr>
        <p:txBody>
          <a:bodyPr>
            <a:noAutofit/>
          </a:bodyPr>
          <a:lstStyle/>
          <a:p>
            <a:pPr algn="just"/>
            <a:r>
              <a:rPr lang="en-NZ" sz="2400" dirty="0"/>
              <a:t>Q5) </a:t>
            </a:r>
            <a:r>
              <a:rPr lang="en-US" sz="2400" dirty="0"/>
              <a:t>A 0.8-m</a:t>
            </a:r>
            <a:r>
              <a:rPr lang="en-US" sz="2400" baseline="30000" dirty="0"/>
              <a:t>3</a:t>
            </a:r>
            <a:r>
              <a:rPr lang="en-US" sz="2400" dirty="0"/>
              <a:t> rigid tank contains refrigerant-134a initially at 180 kPa and 45 percent quality. Heat is now transferred to the refrigerant until the pressure reaches 600 kPa. Determine (a) the mass of the refrigerant in the tank and (b) the amount of heat transferred. Also, show the process on a P-v diagram with respect to saturation lines.</a:t>
            </a:r>
            <a:endParaRPr lang="en-NZ" sz="2400" dirty="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C307115E-F52F-04D2-1133-365C9D477764}"/>
                  </a:ext>
                </a:extLst>
              </p:cNvPr>
              <p:cNvSpPr txBox="1"/>
              <p:nvPr/>
            </p:nvSpPr>
            <p:spPr>
              <a:xfrm>
                <a:off x="484632" y="1690688"/>
                <a:ext cx="11707368" cy="4851008"/>
              </a:xfrm>
              <a:prstGeom prst="rect">
                <a:avLst/>
              </a:prstGeom>
              <a:noFill/>
            </p:spPr>
            <p:txBody>
              <a:bodyPr wrap="square" rtlCol="0">
                <a:spAutoFit/>
              </a:bodyPr>
              <a:lstStyle/>
              <a:p>
                <a:r>
                  <a:rPr lang="en-NZ" dirty="0"/>
                  <a:t>(a) At </a:t>
                </a:r>
                <a14:m>
                  <m:oMath xmlns:m="http://schemas.openxmlformats.org/officeDocument/2006/math">
                    <m:sSub>
                      <m:sSubPr>
                        <m:ctrlPr>
                          <a:rPr lang="en-NZ"/>
                        </m:ctrlPr>
                      </m:sSubPr>
                      <m:e>
                        <m:r>
                          <a:rPr lang="en-NZ" b="0" i="1"/>
                          <m:t>𝑃</m:t>
                        </m:r>
                      </m:e>
                      <m:sub>
                        <m:r>
                          <a:rPr lang="en-NZ" b="0" i="1"/>
                          <m:t>1</m:t>
                        </m:r>
                      </m:sub>
                    </m:sSub>
                    <m:r>
                      <a:rPr lang="en-NZ" b="0"/>
                      <m:t>=</m:t>
                    </m:r>
                    <m:r>
                      <a:rPr lang="en-NZ" b="0" i="1"/>
                      <m:t>180</m:t>
                    </m:r>
                  </m:oMath>
                </a14:m>
                <a:r>
                  <a:rPr lang="en-NZ" dirty="0"/>
                  <a:t>kPa and </a:t>
                </a:r>
                <a14:m>
                  <m:oMath xmlns:m="http://schemas.openxmlformats.org/officeDocument/2006/math">
                    <m:sSub>
                      <m:sSubPr>
                        <m:ctrlPr>
                          <a:rPr lang="en-NZ"/>
                        </m:ctrlPr>
                      </m:sSubPr>
                      <m:e>
                        <m:r>
                          <a:rPr lang="en-NZ" b="0" i="1"/>
                          <m:t>𝑥</m:t>
                        </m:r>
                      </m:e>
                      <m:sub>
                        <m:r>
                          <a:rPr lang="en-NZ" b="0" i="1"/>
                          <m:t>1</m:t>
                        </m:r>
                      </m:sub>
                    </m:sSub>
                    <m:r>
                      <a:rPr lang="en-NZ" b="0"/>
                      <m:t>=</m:t>
                    </m:r>
                    <m:r>
                      <a:rPr lang="en-NZ" b="0" i="1"/>
                      <m:t>0</m:t>
                    </m:r>
                    <m:r>
                      <a:rPr lang="en-NZ" b="0"/>
                      <m:t>.</m:t>
                    </m:r>
                    <m:r>
                      <a:rPr lang="en-NZ" b="0" i="1"/>
                      <m:t>45</m:t>
                    </m:r>
                  </m:oMath>
                </a14:m>
                <a:r>
                  <a:rPr lang="en-NZ" dirty="0"/>
                  <a:t>, R-134a is a saturated liquid–vapour mixture. </a:t>
                </a:r>
              </a:p>
              <a:p>
                <a:r>
                  <a:rPr lang="en-NZ" dirty="0"/>
                  <a:t>- Use </a:t>
                </a:r>
                <a:r>
                  <a:rPr lang="en-NZ" dirty="0">
                    <a:highlight>
                      <a:srgbClr val="FFFF00"/>
                    </a:highlight>
                  </a:rPr>
                  <a:t>Table A-12</a:t>
                </a:r>
                <a:r>
                  <a:rPr lang="en-NZ" dirty="0"/>
                  <a:t>: At </a:t>
                </a:r>
                <a14:m>
                  <m:oMath xmlns:m="http://schemas.openxmlformats.org/officeDocument/2006/math">
                    <m:sSub>
                      <m:sSubPr>
                        <m:ctrlPr>
                          <a:rPr lang="en-NZ"/>
                        </m:ctrlPr>
                      </m:sSubPr>
                      <m:e>
                        <m:r>
                          <a:rPr lang="en-NZ" b="0" i="1"/>
                          <m:t>𝑃</m:t>
                        </m:r>
                      </m:e>
                      <m:sub>
                        <m:r>
                          <a:rPr lang="en-NZ" b="0" i="1"/>
                          <m:t>1</m:t>
                        </m:r>
                      </m:sub>
                    </m:sSub>
                    <m:r>
                      <a:rPr lang="en-NZ" b="0"/>
                      <m:t>=</m:t>
                    </m:r>
                    <m:r>
                      <a:rPr lang="en-NZ" b="0" i="1"/>
                      <m:t>180</m:t>
                    </m:r>
                  </m:oMath>
                </a14:m>
                <a:r>
                  <a:rPr lang="en-NZ" dirty="0"/>
                  <a:t>kPa, obtain </a:t>
                </a:r>
                <a14:m>
                  <m:oMath xmlns:m="http://schemas.openxmlformats.org/officeDocument/2006/math">
                    <m:sSub>
                      <m:sSubPr>
                        <m:ctrlPr>
                          <a:rPr lang="en-NZ"/>
                        </m:ctrlPr>
                      </m:sSubPr>
                      <m:e>
                        <m:r>
                          <a:rPr lang="en-NZ" b="0" i="1"/>
                          <m:t>𝑣</m:t>
                        </m:r>
                      </m:e>
                      <m:sub>
                        <m:r>
                          <a:rPr lang="en-NZ" b="0" i="1"/>
                          <m:t>𝑓</m:t>
                        </m:r>
                      </m:sub>
                    </m:sSub>
                  </m:oMath>
                </a14:m>
                <a:r>
                  <a:rPr lang="en-NZ" dirty="0"/>
                  <a:t>, </a:t>
                </a:r>
                <a14:m>
                  <m:oMath xmlns:m="http://schemas.openxmlformats.org/officeDocument/2006/math">
                    <m:sSub>
                      <m:sSubPr>
                        <m:ctrlPr>
                          <a:rPr lang="en-NZ"/>
                        </m:ctrlPr>
                      </m:sSubPr>
                      <m:e>
                        <m:r>
                          <a:rPr lang="en-NZ" b="0" i="1"/>
                          <m:t>𝑣</m:t>
                        </m:r>
                      </m:e>
                      <m:sub>
                        <m:r>
                          <a:rPr lang="en-NZ" b="0" i="1"/>
                          <m:t>𝑔</m:t>
                        </m:r>
                      </m:sub>
                    </m:sSub>
                  </m:oMath>
                </a14:m>
                <a:r>
                  <a:rPr lang="en-NZ" dirty="0"/>
                  <a:t>, </a:t>
                </a:r>
                <a14:m>
                  <m:oMath xmlns:m="http://schemas.openxmlformats.org/officeDocument/2006/math">
                    <m:sSub>
                      <m:sSubPr>
                        <m:ctrlPr>
                          <a:rPr lang="en-NZ"/>
                        </m:ctrlPr>
                      </m:sSubPr>
                      <m:e>
                        <m:r>
                          <a:rPr lang="en-NZ" b="0" i="1"/>
                          <m:t>𝑢</m:t>
                        </m:r>
                      </m:e>
                      <m:sub>
                        <m:r>
                          <a:rPr lang="en-NZ" b="0" i="1"/>
                          <m:t>𝑓</m:t>
                        </m:r>
                      </m:sub>
                    </m:sSub>
                  </m:oMath>
                </a14:m>
                <a:r>
                  <a:rPr lang="en-NZ" dirty="0"/>
                  <a:t>, and </a:t>
                </a:r>
                <a14:m>
                  <m:oMath xmlns:m="http://schemas.openxmlformats.org/officeDocument/2006/math">
                    <m:sSub>
                      <m:sSubPr>
                        <m:ctrlPr>
                          <a:rPr lang="en-NZ"/>
                        </m:ctrlPr>
                      </m:sSubPr>
                      <m:e>
                        <m:r>
                          <a:rPr lang="en-NZ" b="0" i="1"/>
                          <m:t>𝑢</m:t>
                        </m:r>
                      </m:e>
                      <m:sub>
                        <m:r>
                          <a:rPr lang="en-NZ" b="0" i="1"/>
                          <m:t>𝑔</m:t>
                        </m:r>
                      </m:sub>
                    </m:sSub>
                  </m:oMath>
                </a14:m>
                <a:r>
                  <a:rPr lang="en-NZ" dirty="0"/>
                  <a:t>. </a:t>
                </a:r>
              </a:p>
              <a:p>
                <a:r>
                  <a:rPr lang="en-NZ" dirty="0"/>
                  <a:t>- Calculate the initial specific volume: </a:t>
                </a:r>
                <a14:m>
                  <m:oMath xmlns:m="http://schemas.openxmlformats.org/officeDocument/2006/math">
                    <m:sSub>
                      <m:sSubPr>
                        <m:ctrlPr>
                          <a:rPr lang="en-NZ"/>
                        </m:ctrlPr>
                      </m:sSubPr>
                      <m:e>
                        <m:r>
                          <a:rPr lang="en-NZ" b="0" i="1"/>
                          <m:t>𝑣</m:t>
                        </m:r>
                      </m:e>
                      <m:sub>
                        <m:r>
                          <a:rPr lang="en-NZ" b="0" i="1"/>
                          <m:t>1</m:t>
                        </m:r>
                      </m:sub>
                    </m:sSub>
                    <m:r>
                      <a:rPr lang="en-NZ" b="0"/>
                      <m:t>=</m:t>
                    </m:r>
                    <m:sSub>
                      <m:sSubPr>
                        <m:ctrlPr>
                          <a:rPr lang="en-NZ" i="1"/>
                        </m:ctrlPr>
                      </m:sSubPr>
                      <m:e>
                        <m:r>
                          <a:rPr lang="en-NZ" b="0" i="1"/>
                          <m:t>𝑣</m:t>
                        </m:r>
                      </m:e>
                      <m:sub>
                        <m:r>
                          <a:rPr lang="en-NZ" b="0" i="1"/>
                          <m:t>𝑓</m:t>
                        </m:r>
                      </m:sub>
                    </m:sSub>
                    <m:r>
                      <a:rPr lang="en-NZ" b="0"/>
                      <m:t>+</m:t>
                    </m:r>
                    <m:sSub>
                      <m:sSubPr>
                        <m:ctrlPr>
                          <a:rPr lang="en-NZ" i="1"/>
                        </m:ctrlPr>
                      </m:sSubPr>
                      <m:e>
                        <m:r>
                          <a:rPr lang="en-NZ" b="0" i="1"/>
                          <m:t>𝑥</m:t>
                        </m:r>
                      </m:e>
                      <m:sub>
                        <m:r>
                          <a:rPr lang="en-NZ" b="0" i="1"/>
                          <m:t>1</m:t>
                        </m:r>
                      </m:sub>
                    </m:sSub>
                    <m:d>
                      <m:dPr>
                        <m:ctrlPr>
                          <a:rPr lang="en-NZ" i="1"/>
                        </m:ctrlPr>
                      </m:dPr>
                      <m:e>
                        <m:sSub>
                          <m:sSubPr>
                            <m:ctrlPr>
                              <a:rPr lang="en-NZ" i="1"/>
                            </m:ctrlPr>
                          </m:sSubPr>
                          <m:e>
                            <m:r>
                              <a:rPr lang="en-NZ" b="0" i="1"/>
                              <m:t>𝑣</m:t>
                            </m:r>
                          </m:e>
                          <m:sub>
                            <m:r>
                              <a:rPr lang="en-NZ" b="0" i="1"/>
                              <m:t>𝑔</m:t>
                            </m:r>
                          </m:sub>
                        </m:sSub>
                        <m:r>
                          <a:rPr lang="en-NZ" b="0"/>
                          <m:t>−</m:t>
                        </m:r>
                        <m:sSub>
                          <m:sSubPr>
                            <m:ctrlPr>
                              <a:rPr lang="en-NZ" i="1"/>
                            </m:ctrlPr>
                          </m:sSubPr>
                          <m:e>
                            <m:r>
                              <a:rPr lang="en-NZ" b="0" i="1"/>
                              <m:t>𝑣</m:t>
                            </m:r>
                          </m:e>
                          <m:sub>
                            <m:r>
                              <a:rPr lang="en-NZ" b="0" i="1"/>
                              <m:t>𝑓</m:t>
                            </m:r>
                          </m:sub>
                        </m:sSub>
                      </m:e>
                    </m:d>
                  </m:oMath>
                </a14:m>
                <a:endParaRPr lang="en-NZ" dirty="0"/>
              </a:p>
              <a:p>
                <a:pPr marL="285750" indent="-285750">
                  <a:buFontTx/>
                  <a:buChar char="-"/>
                </a:pPr>
                <a:r>
                  <a:rPr lang="en-NZ" dirty="0"/>
                  <a:t>Calculate the refrigerant mass:  </a:t>
                </a:r>
                <a14:m>
                  <m:oMath xmlns:m="http://schemas.openxmlformats.org/officeDocument/2006/math">
                    <m:r>
                      <a:rPr lang="en-NZ" b="0" i="1"/>
                      <m:t>𝑚</m:t>
                    </m:r>
                    <m:r>
                      <a:rPr lang="en-NZ" b="0"/>
                      <m:t>=</m:t>
                    </m:r>
                    <m:f>
                      <m:fPr>
                        <m:ctrlPr>
                          <a:rPr lang="en-NZ" i="1"/>
                        </m:ctrlPr>
                      </m:fPr>
                      <m:num>
                        <m:r>
                          <a:rPr lang="en-NZ" b="0" i="1"/>
                          <m:t>𝑉</m:t>
                        </m:r>
                      </m:num>
                      <m:den>
                        <m:sSub>
                          <m:sSubPr>
                            <m:ctrlPr>
                              <a:rPr lang="en-NZ" i="1"/>
                            </m:ctrlPr>
                          </m:sSubPr>
                          <m:e>
                            <m:r>
                              <a:rPr lang="en-NZ" b="0" i="1"/>
                              <m:t>𝑣</m:t>
                            </m:r>
                          </m:e>
                          <m:sub>
                            <m:r>
                              <a:rPr lang="en-NZ" b="0" i="1"/>
                              <m:t>1</m:t>
                            </m:r>
                          </m:sub>
                        </m:sSub>
                      </m:den>
                    </m:f>
                    <m:r>
                      <a:rPr lang="en-NZ" b="0"/>
                      <m:t>=</m:t>
                    </m:r>
                    <m:f>
                      <m:fPr>
                        <m:ctrlPr>
                          <a:rPr lang="en-NZ" i="1"/>
                        </m:ctrlPr>
                      </m:fPr>
                      <m:num>
                        <m:r>
                          <a:rPr lang="en-NZ" b="0" i="1"/>
                          <m:t>0</m:t>
                        </m:r>
                        <m:r>
                          <a:rPr lang="en-NZ" b="0"/>
                          <m:t>.</m:t>
                        </m:r>
                        <m:r>
                          <a:rPr lang="en-NZ" b="0" i="1"/>
                          <m:t>8</m:t>
                        </m:r>
                      </m:num>
                      <m:den>
                        <m:sSub>
                          <m:sSubPr>
                            <m:ctrlPr>
                              <a:rPr lang="en-NZ" i="1"/>
                            </m:ctrlPr>
                          </m:sSubPr>
                          <m:e>
                            <m:r>
                              <a:rPr lang="en-NZ" b="0" i="1"/>
                              <m:t>𝑣</m:t>
                            </m:r>
                          </m:e>
                          <m:sub>
                            <m:r>
                              <a:rPr lang="en-NZ" b="0" i="1"/>
                              <m:t>1</m:t>
                            </m:r>
                          </m:sub>
                        </m:sSub>
                      </m:den>
                    </m:f>
                  </m:oMath>
                </a14:m>
                <a:endParaRPr lang="en-NZ" dirty="0"/>
              </a:p>
              <a:p>
                <a:endParaRPr lang="en-NZ" dirty="0"/>
              </a:p>
              <a:p>
                <a:endParaRPr lang="en-NZ" dirty="0"/>
              </a:p>
              <a:p>
                <a:r>
                  <a:rPr lang="en-NZ" dirty="0"/>
                  <a:t>(b)</a:t>
                </a:r>
              </a:p>
              <a:p>
                <a:r>
                  <a:rPr lang="en-NZ" dirty="0"/>
                  <a:t>- Calculate the initial internal energy: </a:t>
                </a:r>
                <a14:m>
                  <m:oMath xmlns:m="http://schemas.openxmlformats.org/officeDocument/2006/math">
                    <m:sSub>
                      <m:sSubPr>
                        <m:ctrlPr>
                          <a:rPr lang="en-NZ"/>
                        </m:ctrlPr>
                      </m:sSubPr>
                      <m:e>
                        <m:r>
                          <a:rPr lang="en-NZ" b="0" i="1"/>
                          <m:t>𝑢</m:t>
                        </m:r>
                      </m:e>
                      <m:sub>
                        <m:r>
                          <a:rPr lang="en-NZ" b="0" i="1"/>
                          <m:t>1</m:t>
                        </m:r>
                      </m:sub>
                    </m:sSub>
                    <m:r>
                      <a:rPr lang="en-NZ" b="0"/>
                      <m:t>=</m:t>
                    </m:r>
                    <m:sSub>
                      <m:sSubPr>
                        <m:ctrlPr>
                          <a:rPr lang="en-NZ" i="1"/>
                        </m:ctrlPr>
                      </m:sSubPr>
                      <m:e>
                        <m:r>
                          <a:rPr lang="en-NZ" b="0" i="1"/>
                          <m:t>𝑢</m:t>
                        </m:r>
                      </m:e>
                      <m:sub>
                        <m:r>
                          <a:rPr lang="en-NZ" b="0" i="1"/>
                          <m:t>𝑓</m:t>
                        </m:r>
                      </m:sub>
                    </m:sSub>
                    <m:r>
                      <a:rPr lang="en-NZ" b="0"/>
                      <m:t>+</m:t>
                    </m:r>
                    <m:sSub>
                      <m:sSubPr>
                        <m:ctrlPr>
                          <a:rPr lang="en-NZ" i="1"/>
                        </m:ctrlPr>
                      </m:sSubPr>
                      <m:e>
                        <m:r>
                          <a:rPr lang="en-NZ" b="0" i="1"/>
                          <m:t>𝑥</m:t>
                        </m:r>
                      </m:e>
                      <m:sub>
                        <m:r>
                          <a:rPr lang="en-NZ" b="0" i="1"/>
                          <m:t>1</m:t>
                        </m:r>
                      </m:sub>
                    </m:sSub>
                    <m:d>
                      <m:dPr>
                        <m:ctrlPr>
                          <a:rPr lang="en-NZ" i="1"/>
                        </m:ctrlPr>
                      </m:dPr>
                      <m:e>
                        <m:sSub>
                          <m:sSubPr>
                            <m:ctrlPr>
                              <a:rPr lang="en-NZ" i="1"/>
                            </m:ctrlPr>
                          </m:sSubPr>
                          <m:e>
                            <m:r>
                              <a:rPr lang="en-NZ" b="0" i="1"/>
                              <m:t>𝑢</m:t>
                            </m:r>
                          </m:e>
                          <m:sub>
                            <m:r>
                              <a:rPr lang="en-NZ" b="0" i="1"/>
                              <m:t>𝑔</m:t>
                            </m:r>
                          </m:sub>
                        </m:sSub>
                        <m:r>
                          <a:rPr lang="en-NZ" b="0"/>
                          <m:t>−</m:t>
                        </m:r>
                        <m:sSub>
                          <m:sSubPr>
                            <m:ctrlPr>
                              <a:rPr lang="en-NZ" i="1"/>
                            </m:ctrlPr>
                          </m:sSubPr>
                          <m:e>
                            <m:r>
                              <a:rPr lang="en-NZ" b="0" i="1"/>
                              <m:t>𝑢</m:t>
                            </m:r>
                          </m:e>
                          <m:sub>
                            <m:r>
                              <a:rPr lang="en-NZ" b="0" i="1"/>
                              <m:t>𝑓</m:t>
                            </m:r>
                          </m:sub>
                        </m:sSub>
                      </m:e>
                    </m:d>
                  </m:oMath>
                </a14:m>
                <a:endParaRPr lang="en-NZ" dirty="0"/>
              </a:p>
              <a:p>
                <a:r>
                  <a:rPr lang="en-NZ" dirty="0"/>
                  <a:t>- Apply the rigid-tank condition: Since the tank is rigid, </a:t>
                </a:r>
                <a14:m>
                  <m:oMath xmlns:m="http://schemas.openxmlformats.org/officeDocument/2006/math">
                    <m:r>
                      <a:rPr lang="en-NZ" b="0" i="1"/>
                      <m:t>𝑉</m:t>
                    </m:r>
                    <m:r>
                      <a:rPr lang="en-NZ" b="0"/>
                      <m:t>=</m:t>
                    </m:r>
                    <m:r>
                      <m:rPr>
                        <m:nor/>
                      </m:rPr>
                      <a:rPr lang="en-NZ"/>
                      <m:t>constant</m:t>
                    </m:r>
                    <m:r>
                      <a:rPr lang="en-NZ" b="0"/>
                      <m:t>, </m:t>
                    </m:r>
                    <m:sSub>
                      <m:sSubPr>
                        <m:ctrlPr>
                          <a:rPr lang="en-NZ" i="1"/>
                        </m:ctrlPr>
                      </m:sSubPr>
                      <m:e>
                        <m:r>
                          <a:rPr lang="en-NZ" b="0" i="1"/>
                          <m:t>𝑣</m:t>
                        </m:r>
                      </m:e>
                      <m:sub>
                        <m:r>
                          <a:rPr lang="en-NZ" b="0" i="1"/>
                          <m:t>2</m:t>
                        </m:r>
                      </m:sub>
                    </m:sSub>
                    <m:r>
                      <a:rPr lang="en-NZ" b="0"/>
                      <m:t>=</m:t>
                    </m:r>
                    <m:sSub>
                      <m:sSubPr>
                        <m:ctrlPr>
                          <a:rPr lang="en-NZ" i="1"/>
                        </m:ctrlPr>
                      </m:sSubPr>
                      <m:e>
                        <m:r>
                          <a:rPr lang="en-NZ" b="0" i="1"/>
                          <m:t>𝑣</m:t>
                        </m:r>
                      </m:e>
                      <m:sub>
                        <m:r>
                          <a:rPr lang="en-NZ" b="0" i="1"/>
                          <m:t>1</m:t>
                        </m:r>
                      </m:sub>
                    </m:sSub>
                    <m:r>
                      <a:rPr lang="en-NZ" b="0"/>
                      <m:t>, </m:t>
                    </m:r>
                    <m:r>
                      <a:rPr lang="en-NZ" b="0" i="1"/>
                      <m:t>𝑊</m:t>
                    </m:r>
                    <m:r>
                      <a:rPr lang="en-NZ" b="0"/>
                      <m:t>=</m:t>
                    </m:r>
                    <m:r>
                      <a:rPr lang="en-NZ" b="0" i="1"/>
                      <m:t>0</m:t>
                    </m:r>
                  </m:oMath>
                </a14:m>
                <a:endParaRPr lang="en-NZ" dirty="0"/>
              </a:p>
              <a:p>
                <a:pPr marL="285750" indent="-285750">
                  <a:buFontTx/>
                  <a:buChar char="-"/>
                </a:pPr>
                <a:r>
                  <a:rPr lang="en-NZ" dirty="0"/>
                  <a:t>Identify the final state: At </a:t>
                </a:r>
                <a14:m>
                  <m:oMath xmlns:m="http://schemas.openxmlformats.org/officeDocument/2006/math">
                    <m:sSub>
                      <m:sSubPr>
                        <m:ctrlPr>
                          <a:rPr lang="en-NZ"/>
                        </m:ctrlPr>
                      </m:sSubPr>
                      <m:e>
                        <m:r>
                          <a:rPr lang="en-NZ" b="0" i="1"/>
                          <m:t>𝑃</m:t>
                        </m:r>
                      </m:e>
                      <m:sub>
                        <m:r>
                          <a:rPr lang="en-NZ" b="0" i="1"/>
                          <m:t>2</m:t>
                        </m:r>
                      </m:sub>
                    </m:sSub>
                    <m:r>
                      <a:rPr lang="en-NZ" b="0"/>
                      <m:t>=</m:t>
                    </m:r>
                    <m:r>
                      <a:rPr lang="en-NZ" b="0" i="1"/>
                      <m:t>600</m:t>
                    </m:r>
                  </m:oMath>
                </a14:m>
                <a:r>
                  <a:rPr lang="en-NZ" dirty="0"/>
                  <a:t>kPa, compare </a:t>
                </a:r>
                <a14:m>
                  <m:oMath xmlns:m="http://schemas.openxmlformats.org/officeDocument/2006/math">
                    <m:sSub>
                      <m:sSubPr>
                        <m:ctrlPr>
                          <a:rPr lang="en-NZ"/>
                        </m:ctrlPr>
                      </m:sSubPr>
                      <m:e>
                        <m:r>
                          <a:rPr lang="en-NZ" b="0" i="1"/>
                          <m:t>𝑣</m:t>
                        </m:r>
                      </m:e>
                      <m:sub>
                        <m:r>
                          <a:rPr lang="en-NZ" b="0" i="1"/>
                          <m:t>2</m:t>
                        </m:r>
                      </m:sub>
                    </m:sSub>
                  </m:oMath>
                </a14:m>
                <a:r>
                  <a:rPr lang="en-NZ" dirty="0"/>
                  <a:t> with </a:t>
                </a:r>
                <a14:m>
                  <m:oMath xmlns:m="http://schemas.openxmlformats.org/officeDocument/2006/math">
                    <m:sSub>
                      <m:sSubPr>
                        <m:ctrlPr>
                          <a:rPr lang="en-NZ"/>
                        </m:ctrlPr>
                      </m:sSubPr>
                      <m:e>
                        <m:r>
                          <a:rPr lang="en-NZ" b="0" i="1"/>
                          <m:t>𝑣</m:t>
                        </m:r>
                      </m:e>
                      <m:sub>
                        <m:r>
                          <a:rPr lang="en-NZ" b="0" i="1"/>
                          <m:t>𝑔</m:t>
                        </m:r>
                      </m:sub>
                    </m:sSub>
                  </m:oMath>
                </a14:m>
                <a:r>
                  <a:rPr lang="en-NZ" dirty="0"/>
                  <a:t> from </a:t>
                </a:r>
                <a:r>
                  <a:rPr lang="en-NZ" dirty="0">
                    <a:highlight>
                      <a:srgbClr val="FFFF00"/>
                    </a:highlight>
                  </a:rPr>
                  <a:t>Table A-12</a:t>
                </a:r>
                <a:r>
                  <a:rPr lang="en-NZ" dirty="0"/>
                  <a:t>. </a:t>
                </a:r>
              </a:p>
              <a:p>
                <a:r>
                  <a:rPr lang="en-NZ" dirty="0"/>
                  <a:t>Since </a:t>
                </a:r>
                <a14:m>
                  <m:oMath xmlns:m="http://schemas.openxmlformats.org/officeDocument/2006/math">
                    <m:sSub>
                      <m:sSubPr>
                        <m:ctrlPr>
                          <a:rPr lang="en-NZ"/>
                        </m:ctrlPr>
                      </m:sSubPr>
                      <m:e>
                        <m:r>
                          <a:rPr lang="en-NZ" b="0" i="1"/>
                          <m:t>𝑣</m:t>
                        </m:r>
                      </m:e>
                      <m:sub>
                        <m:r>
                          <a:rPr lang="en-NZ" b="0" i="1"/>
                          <m:t>2</m:t>
                        </m:r>
                      </m:sub>
                    </m:sSub>
                    <m:r>
                      <a:rPr lang="en-NZ" b="0"/>
                      <m:t>&gt;</m:t>
                    </m:r>
                    <m:sSub>
                      <m:sSubPr>
                        <m:ctrlPr>
                          <a:rPr lang="en-NZ" i="1"/>
                        </m:ctrlPr>
                      </m:sSubPr>
                      <m:e>
                        <m:r>
                          <a:rPr lang="en-NZ" b="0" i="1"/>
                          <m:t>𝑣</m:t>
                        </m:r>
                      </m:e>
                      <m:sub>
                        <m:r>
                          <a:rPr lang="en-NZ" b="0" i="1"/>
                          <m:t>𝑔</m:t>
                        </m:r>
                      </m:sub>
                    </m:sSub>
                  </m:oMath>
                </a14:m>
                <a:r>
                  <a:rPr lang="en-NZ" dirty="0"/>
                  <a:t>, </a:t>
                </a:r>
                <a:r>
                  <a:rPr lang="en-NZ" dirty="0">
                    <a:highlight>
                      <a:srgbClr val="FFFF00"/>
                    </a:highlight>
                  </a:rPr>
                  <a:t>state 2 </a:t>
                </a:r>
                <a:r>
                  <a:rPr lang="en-NZ" dirty="0"/>
                  <a:t>is superheated vapour. </a:t>
                </a:r>
              </a:p>
              <a:p>
                <a:r>
                  <a:rPr lang="en-NZ" dirty="0"/>
                  <a:t>- Use </a:t>
                </a:r>
                <a:r>
                  <a:rPr lang="en-NZ" dirty="0">
                    <a:highlight>
                      <a:srgbClr val="FFFF00"/>
                    </a:highlight>
                  </a:rPr>
                  <a:t>Table A-13</a:t>
                </a:r>
                <a:r>
                  <a:rPr lang="en-NZ" dirty="0"/>
                  <a:t>: At </a:t>
                </a:r>
                <a14:m>
                  <m:oMath xmlns:m="http://schemas.openxmlformats.org/officeDocument/2006/math">
                    <m:sSub>
                      <m:sSubPr>
                        <m:ctrlPr>
                          <a:rPr lang="en-NZ"/>
                        </m:ctrlPr>
                      </m:sSubPr>
                      <m:e>
                        <m:r>
                          <a:rPr lang="en-NZ" b="0" i="1"/>
                          <m:t>𝑃</m:t>
                        </m:r>
                      </m:e>
                      <m:sub>
                        <m:r>
                          <a:rPr lang="en-NZ" b="0" i="1"/>
                          <m:t>2</m:t>
                        </m:r>
                      </m:sub>
                    </m:sSub>
                    <m:r>
                      <a:rPr lang="en-NZ" b="0"/>
                      <m:t>=</m:t>
                    </m:r>
                    <m:r>
                      <a:rPr lang="en-NZ" b="0" i="1"/>
                      <m:t>600</m:t>
                    </m:r>
                  </m:oMath>
                </a14:m>
                <a:r>
                  <a:rPr lang="en-NZ" dirty="0"/>
                  <a:t>kPa, use </a:t>
                </a:r>
                <a14:m>
                  <m:oMath xmlns:m="http://schemas.openxmlformats.org/officeDocument/2006/math">
                    <m:sSub>
                      <m:sSubPr>
                        <m:ctrlPr>
                          <a:rPr lang="en-NZ"/>
                        </m:ctrlPr>
                      </m:sSubPr>
                      <m:e>
                        <m:r>
                          <a:rPr lang="en-NZ" b="0" i="1"/>
                          <m:t>𝑣</m:t>
                        </m:r>
                      </m:e>
                      <m:sub>
                        <m:r>
                          <a:rPr lang="en-NZ" b="0" i="1"/>
                          <m:t>2</m:t>
                        </m:r>
                      </m:sub>
                    </m:sSub>
                    <m:r>
                      <a:rPr lang="en-NZ" b="0"/>
                      <m:t>=</m:t>
                    </m:r>
                    <m:sSub>
                      <m:sSubPr>
                        <m:ctrlPr>
                          <a:rPr lang="en-NZ" i="1"/>
                        </m:ctrlPr>
                      </m:sSubPr>
                      <m:e>
                        <m:r>
                          <a:rPr lang="en-NZ" b="0" i="1"/>
                          <m:t>𝑣</m:t>
                        </m:r>
                      </m:e>
                      <m:sub>
                        <m:r>
                          <a:rPr lang="en-NZ" b="0" i="1"/>
                          <m:t>1</m:t>
                        </m:r>
                      </m:sub>
                    </m:sSub>
                  </m:oMath>
                </a14:m>
                <a:r>
                  <a:rPr lang="en-NZ" dirty="0"/>
                  <a:t> to interpolate between the appropriate temperatures in the superheated R-134a table and determine </a:t>
                </a:r>
                <a14:m>
                  <m:oMath xmlns:m="http://schemas.openxmlformats.org/officeDocument/2006/math">
                    <m:sSub>
                      <m:sSubPr>
                        <m:ctrlPr>
                          <a:rPr lang="en-NZ"/>
                        </m:ctrlPr>
                      </m:sSubPr>
                      <m:e>
                        <m:r>
                          <a:rPr lang="en-NZ" b="0" i="1"/>
                          <m:t>𝑢</m:t>
                        </m:r>
                      </m:e>
                      <m:sub>
                        <m:r>
                          <a:rPr lang="en-NZ" b="0" i="1"/>
                          <m:t>2</m:t>
                        </m:r>
                      </m:sub>
                    </m:sSub>
                  </m:oMath>
                </a14:m>
                <a:r>
                  <a:rPr lang="en-NZ" dirty="0"/>
                  <a:t>. </a:t>
                </a:r>
              </a:p>
              <a:p>
                <a:r>
                  <a:rPr lang="en-NZ" dirty="0"/>
                  <a:t>– Calculate the heat transfer: </a:t>
                </a:r>
              </a:p>
              <a:p>
                <a:r>
                  <a:rPr lang="en-NZ" dirty="0"/>
                  <a:t>Since </a:t>
                </a:r>
                <a14:m>
                  <m:oMath xmlns:m="http://schemas.openxmlformats.org/officeDocument/2006/math">
                    <m:r>
                      <a:rPr lang="en-NZ" b="0" i="1">
                        <a:latin typeface="Cambria Math" panose="02040503050406030204" pitchFamily="18" charset="0"/>
                      </a:rPr>
                      <m:t>𝑊</m:t>
                    </m:r>
                    <m:r>
                      <a:rPr lang="en-NZ" b="0">
                        <a:latin typeface="Cambria Math" panose="02040503050406030204" pitchFamily="18" charset="0"/>
                      </a:rPr>
                      <m:t>=</m:t>
                    </m:r>
                    <m:r>
                      <a:rPr lang="en-NZ" b="0" i="1">
                        <a:latin typeface="Cambria Math" panose="02040503050406030204" pitchFamily="18" charset="0"/>
                      </a:rPr>
                      <m:t>0</m:t>
                    </m:r>
                  </m:oMath>
                </a14:m>
                <a:r>
                  <a:rPr lang="en-NZ" dirty="0"/>
                  <a:t>,</a:t>
                </a:r>
              </a:p>
              <a:p>
                <a14:m>
                  <m:oMathPara xmlns:m="http://schemas.openxmlformats.org/officeDocument/2006/math">
                    <m:oMathParaPr>
                      <m:jc m:val="centerGroup"/>
                    </m:oMathParaPr>
                    <m:oMath xmlns:m="http://schemas.openxmlformats.org/officeDocument/2006/math">
                      <m:r>
                        <a:rPr lang="en-NZ" b="0" i="1"/>
                        <m:t>𝑄</m:t>
                      </m:r>
                      <m:r>
                        <a:rPr lang="en-NZ" b="0"/>
                        <m:t>=</m:t>
                      </m:r>
                      <m:r>
                        <a:rPr lang="en-NZ" b="0" i="1"/>
                        <m:t>𝑚</m:t>
                      </m:r>
                      <m:d>
                        <m:dPr>
                          <m:ctrlPr>
                            <a:rPr lang="en-NZ" i="1"/>
                          </m:ctrlPr>
                        </m:dPr>
                        <m:e>
                          <m:sSub>
                            <m:sSubPr>
                              <m:ctrlPr>
                                <a:rPr lang="en-NZ" i="1"/>
                              </m:ctrlPr>
                            </m:sSubPr>
                            <m:e>
                              <m:r>
                                <a:rPr lang="en-NZ" b="0" i="1"/>
                                <m:t>𝑢</m:t>
                              </m:r>
                            </m:e>
                            <m:sub>
                              <m:r>
                                <a:rPr lang="en-NZ" b="0" i="1"/>
                                <m:t>2</m:t>
                              </m:r>
                            </m:sub>
                          </m:sSub>
                          <m:r>
                            <a:rPr lang="en-NZ" b="0"/>
                            <m:t>−</m:t>
                          </m:r>
                          <m:sSub>
                            <m:sSubPr>
                              <m:ctrlPr>
                                <a:rPr lang="en-NZ" i="1"/>
                              </m:ctrlPr>
                            </m:sSubPr>
                            <m:e>
                              <m:r>
                                <a:rPr lang="en-NZ" b="0" i="1"/>
                                <m:t>𝑢</m:t>
                              </m:r>
                            </m:e>
                            <m:sub>
                              <m:r>
                                <a:rPr lang="en-NZ" b="0" i="1"/>
                                <m:t>1</m:t>
                              </m:r>
                            </m:sub>
                          </m:sSub>
                        </m:e>
                      </m:d>
                    </m:oMath>
                  </m:oMathPara>
                </a14:m>
                <a:endParaRPr lang="en-NZ" dirty="0"/>
              </a:p>
            </p:txBody>
          </p:sp>
        </mc:Choice>
        <mc:Fallback>
          <p:sp>
            <p:nvSpPr>
              <p:cNvPr id="4" name="TextBox 3">
                <a:extLst>
                  <a:ext uri="{FF2B5EF4-FFF2-40B4-BE49-F238E27FC236}">
                    <a16:creationId xmlns:a16="http://schemas.microsoft.com/office/drawing/2014/main" id="{C307115E-F52F-04D2-1133-365C9D477764}"/>
                  </a:ext>
                </a:extLst>
              </p:cNvPr>
              <p:cNvSpPr txBox="1">
                <a:spLocks noRot="1" noChangeAspect="1" noMove="1" noResize="1" noEditPoints="1" noAdjustHandles="1" noChangeArrowheads="1" noChangeShapeType="1" noTextEdit="1"/>
              </p:cNvSpPr>
              <p:nvPr/>
            </p:nvSpPr>
            <p:spPr>
              <a:xfrm>
                <a:off x="484632" y="1690688"/>
                <a:ext cx="11707368" cy="4851008"/>
              </a:xfrm>
              <a:prstGeom prst="rect">
                <a:avLst/>
              </a:prstGeom>
              <a:blipFill>
                <a:blip r:embed="rId2"/>
                <a:stretch>
                  <a:fillRect l="-469" t="-503"/>
                </a:stretch>
              </a:blipFill>
            </p:spPr>
            <p:txBody>
              <a:bodyPr/>
              <a:lstStyle/>
              <a:p>
                <a:r>
                  <a:rPr lang="en-NZ">
                    <a:noFill/>
                  </a:rPr>
                  <a:t> </a:t>
                </a:r>
              </a:p>
            </p:txBody>
          </p:sp>
        </mc:Fallback>
      </mc:AlternateContent>
      <p:pic>
        <p:nvPicPr>
          <p:cNvPr id="6" name="Picture 5">
            <a:extLst>
              <a:ext uri="{FF2B5EF4-FFF2-40B4-BE49-F238E27FC236}">
                <a16:creationId xmlns:a16="http://schemas.microsoft.com/office/drawing/2014/main" id="{23E970AA-51E9-69C3-1220-BFCA230730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6841" y="1699401"/>
            <a:ext cx="3006542" cy="2854312"/>
          </a:xfrm>
          <a:prstGeom prst="rect">
            <a:avLst/>
          </a:prstGeom>
        </p:spPr>
      </p:pic>
    </p:spTree>
    <p:extLst>
      <p:ext uri="{BB962C8B-B14F-4D97-AF65-F5344CB8AC3E}">
        <p14:creationId xmlns:p14="http://schemas.microsoft.com/office/powerpoint/2010/main" val="1053362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F9C98-094F-00E5-2C2C-7CC5EC2534DA}"/>
              </a:ext>
            </a:extLst>
          </p:cNvPr>
          <p:cNvSpPr>
            <a:spLocks noGrp="1"/>
          </p:cNvSpPr>
          <p:nvPr>
            <p:ph type="title"/>
          </p:nvPr>
        </p:nvSpPr>
        <p:spPr>
          <a:xfrm>
            <a:off x="701040" y="383413"/>
            <a:ext cx="10515600" cy="1325563"/>
          </a:xfrm>
        </p:spPr>
        <p:txBody>
          <a:bodyPr>
            <a:normAutofit fontScale="90000"/>
          </a:bodyPr>
          <a:lstStyle/>
          <a:p>
            <a:r>
              <a:rPr lang="en-NZ" sz="2400" dirty="0"/>
              <a:t>Q6) </a:t>
            </a:r>
            <a:r>
              <a:rPr lang="en-US" sz="2700" dirty="0"/>
              <a:t>Steam at 95 kPa and 5 percent quality is contained in a spring-loaded piston–cylinder device, with an initial volume of 1.2 m</a:t>
            </a:r>
            <a:r>
              <a:rPr lang="en-US" sz="2700" baseline="30000" dirty="0"/>
              <a:t>3</a:t>
            </a:r>
            <a:r>
              <a:rPr lang="en-US" sz="2700" dirty="0"/>
              <a:t>. Steam is now heated until its volume is 5.5 m</a:t>
            </a:r>
            <a:r>
              <a:rPr lang="en-US" sz="2700" baseline="30000" dirty="0"/>
              <a:t>3</a:t>
            </a:r>
            <a:r>
              <a:rPr lang="en-US" sz="2700" dirty="0"/>
              <a:t> and its pressure is 230 kPa. Determine the heat transferred to and the work produced by the steam during this process.</a:t>
            </a:r>
            <a:br>
              <a:rPr lang="en-US" sz="2700" dirty="0"/>
            </a:br>
            <a:endParaRPr lang="en-NZ" sz="2700" dirty="0"/>
          </a:p>
        </p:txBody>
      </p:sp>
      <p:pic>
        <p:nvPicPr>
          <p:cNvPr id="5" name="Picture 4">
            <a:extLst>
              <a:ext uri="{FF2B5EF4-FFF2-40B4-BE49-F238E27FC236}">
                <a16:creationId xmlns:a16="http://schemas.microsoft.com/office/drawing/2014/main" id="{4539AC7E-5CDF-EF91-751D-4E3B4761B2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361" y="1797034"/>
            <a:ext cx="10593278" cy="2038635"/>
          </a:xfrm>
          <a:prstGeom prst="rect">
            <a:avLst/>
          </a:prstGeom>
        </p:spPr>
      </p:pic>
      <p:pic>
        <p:nvPicPr>
          <p:cNvPr id="7" name="Picture 6">
            <a:extLst>
              <a:ext uri="{FF2B5EF4-FFF2-40B4-BE49-F238E27FC236}">
                <a16:creationId xmlns:a16="http://schemas.microsoft.com/office/drawing/2014/main" id="{99F78156-D307-2E07-D512-BD00DDF1E7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6662" y="3997027"/>
            <a:ext cx="3674180" cy="2641518"/>
          </a:xfrm>
          <a:prstGeom prst="rect">
            <a:avLst/>
          </a:prstGeom>
        </p:spPr>
      </p:pic>
    </p:spTree>
    <p:extLst>
      <p:ext uri="{BB962C8B-B14F-4D97-AF65-F5344CB8AC3E}">
        <p14:creationId xmlns:p14="http://schemas.microsoft.com/office/powerpoint/2010/main" val="3368738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36A13-528B-22EF-5062-7ADFC16B4C7D}"/>
              </a:ext>
            </a:extLst>
          </p:cNvPr>
          <p:cNvSpPr>
            <a:spLocks noGrp="1"/>
          </p:cNvSpPr>
          <p:nvPr>
            <p:ph type="title"/>
          </p:nvPr>
        </p:nvSpPr>
        <p:spPr>
          <a:xfrm>
            <a:off x="365760" y="246253"/>
            <a:ext cx="11265408" cy="1325563"/>
          </a:xfrm>
        </p:spPr>
        <p:txBody>
          <a:bodyPr>
            <a:noAutofit/>
          </a:bodyPr>
          <a:lstStyle/>
          <a:p>
            <a:r>
              <a:rPr lang="en-NZ" sz="2400" dirty="0"/>
              <a:t>Q6) </a:t>
            </a:r>
            <a:r>
              <a:rPr lang="en-US" sz="2400" dirty="0"/>
              <a:t>Steam at 95 kPa and 5 percent quality is contained in a spring-loaded piston–cylinder device, with an initial volume of 1.2 m</a:t>
            </a:r>
            <a:r>
              <a:rPr lang="en-US" sz="2400" baseline="30000" dirty="0"/>
              <a:t>3</a:t>
            </a:r>
            <a:r>
              <a:rPr lang="en-US" sz="2400" dirty="0"/>
              <a:t>. Steam is now heated until its volume is 5.5 m</a:t>
            </a:r>
            <a:r>
              <a:rPr lang="en-US" sz="2400" baseline="30000" dirty="0"/>
              <a:t>3</a:t>
            </a:r>
            <a:r>
              <a:rPr lang="en-US" sz="2400" dirty="0"/>
              <a:t> and its pressure is 230 kPa. Determine the heat transferred to and the work produced by the steam during this process.</a:t>
            </a:r>
            <a:endParaRPr lang="en-NZ" sz="24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3846955-AEAA-CF75-F6F8-A841FE104EEB}"/>
                  </a:ext>
                </a:extLst>
              </p:cNvPr>
              <p:cNvSpPr>
                <a:spLocks noGrp="1"/>
              </p:cNvSpPr>
              <p:nvPr>
                <p:ph idx="1"/>
              </p:nvPr>
            </p:nvSpPr>
            <p:spPr>
              <a:xfrm>
                <a:off x="746760" y="1834768"/>
                <a:ext cx="11359896" cy="4950079"/>
              </a:xfrm>
            </p:spPr>
            <p:txBody>
              <a:bodyPr>
                <a:normAutofit fontScale="92500" lnSpcReduction="20000"/>
              </a:bodyPr>
              <a:lstStyle/>
              <a:p>
                <a:pPr algn="just">
                  <a:buFontTx/>
                  <a:buChar char="-"/>
                </a:pPr>
                <a:r>
                  <a:rPr lang="en-NZ" sz="2400" dirty="0"/>
                  <a:t>Initial state: Given </a:t>
                </a:r>
                <a14:m>
                  <m:oMath xmlns:m="http://schemas.openxmlformats.org/officeDocument/2006/math">
                    <m:sSub>
                      <m:sSubPr>
                        <m:ctrlPr>
                          <a:rPr lang="en-NZ" sz="2400"/>
                        </m:ctrlPr>
                      </m:sSubPr>
                      <m:e>
                        <m:r>
                          <a:rPr lang="en-NZ" sz="2400" b="0" i="1"/>
                          <m:t>𝑃</m:t>
                        </m:r>
                      </m:e>
                      <m:sub>
                        <m:r>
                          <a:rPr lang="en-NZ" sz="2400" b="0" i="1"/>
                          <m:t>1</m:t>
                        </m:r>
                      </m:sub>
                    </m:sSub>
                    <m:r>
                      <a:rPr lang="en-NZ" sz="2400" b="0"/>
                      <m:t>=</m:t>
                    </m:r>
                    <m:r>
                      <a:rPr lang="en-NZ" sz="2400" b="0" i="1"/>
                      <m:t>95</m:t>
                    </m:r>
                  </m:oMath>
                </a14:m>
                <a:r>
                  <a:rPr lang="en-NZ" sz="2400" dirty="0"/>
                  <a:t>kPa and </a:t>
                </a:r>
                <a14:m>
                  <m:oMath xmlns:m="http://schemas.openxmlformats.org/officeDocument/2006/math">
                    <m:sSub>
                      <m:sSubPr>
                        <m:ctrlPr>
                          <a:rPr lang="en-NZ" sz="2400"/>
                        </m:ctrlPr>
                      </m:sSubPr>
                      <m:e>
                        <m:r>
                          <a:rPr lang="en-NZ" sz="2400" b="0" i="1"/>
                          <m:t>𝑥</m:t>
                        </m:r>
                      </m:e>
                      <m:sub>
                        <m:r>
                          <a:rPr lang="en-NZ" sz="2400" b="0" i="1"/>
                          <m:t>1</m:t>
                        </m:r>
                      </m:sub>
                    </m:sSub>
                    <m:r>
                      <a:rPr lang="en-NZ" sz="2400" b="0"/>
                      <m:t>=</m:t>
                    </m:r>
                    <m:r>
                      <a:rPr lang="en-NZ" sz="2400" b="0" i="1"/>
                      <m:t>0</m:t>
                    </m:r>
                    <m:r>
                      <a:rPr lang="en-NZ" sz="2400" b="0"/>
                      <m:t>.</m:t>
                    </m:r>
                    <m:r>
                      <a:rPr lang="en-NZ" sz="2400" b="0" i="1"/>
                      <m:t>05</m:t>
                    </m:r>
                  </m:oMath>
                </a14:m>
                <a:r>
                  <a:rPr lang="en-NZ" sz="2400" dirty="0"/>
                  <a:t>. From </a:t>
                </a:r>
                <a:r>
                  <a:rPr lang="en-NZ" sz="2400" dirty="0">
                    <a:highlight>
                      <a:srgbClr val="FFFF00"/>
                    </a:highlight>
                  </a:rPr>
                  <a:t>Table A-5</a:t>
                </a:r>
                <a:r>
                  <a:rPr lang="en-NZ" sz="2400" dirty="0"/>
                  <a:t>, interpolate between 75 and 100 kPa to obtain </a:t>
                </a:r>
                <a14:m>
                  <m:oMath xmlns:m="http://schemas.openxmlformats.org/officeDocument/2006/math">
                    <m:sSub>
                      <m:sSubPr>
                        <m:ctrlPr>
                          <a:rPr lang="en-NZ" sz="2400"/>
                        </m:ctrlPr>
                      </m:sSubPr>
                      <m:e>
                        <m:r>
                          <a:rPr lang="en-NZ" sz="2400" b="0" i="1"/>
                          <m:t>𝑣</m:t>
                        </m:r>
                      </m:e>
                      <m:sub>
                        <m:r>
                          <a:rPr lang="en-NZ" sz="2400" b="0" i="1"/>
                          <m:t>𝑓</m:t>
                        </m:r>
                      </m:sub>
                    </m:sSub>
                    <m:r>
                      <a:rPr lang="en-NZ" sz="2400" b="0"/>
                      <m:t>,</m:t>
                    </m:r>
                    <m:sSub>
                      <m:sSubPr>
                        <m:ctrlPr>
                          <a:rPr lang="en-NZ" sz="2400" i="1"/>
                        </m:ctrlPr>
                      </m:sSubPr>
                      <m:e>
                        <m:r>
                          <a:rPr lang="en-NZ" sz="2400" b="0" i="1"/>
                          <m:t>𝑣</m:t>
                        </m:r>
                      </m:e>
                      <m:sub>
                        <m:r>
                          <a:rPr lang="en-NZ" sz="2400" b="0" i="1"/>
                          <m:t>𝑔</m:t>
                        </m:r>
                      </m:sub>
                    </m:sSub>
                    <m:r>
                      <a:rPr lang="en-NZ" sz="2400" b="0"/>
                      <m:t>,</m:t>
                    </m:r>
                    <m:sSub>
                      <m:sSubPr>
                        <m:ctrlPr>
                          <a:rPr lang="en-NZ" sz="2400" i="1"/>
                        </m:ctrlPr>
                      </m:sSubPr>
                      <m:e>
                        <m:r>
                          <a:rPr lang="en-NZ" sz="2400" b="0" i="1"/>
                          <m:t>𝑢</m:t>
                        </m:r>
                      </m:e>
                      <m:sub>
                        <m:r>
                          <a:rPr lang="en-NZ" sz="2400" b="0" i="1"/>
                          <m:t>𝑓</m:t>
                        </m:r>
                      </m:sub>
                    </m:sSub>
                    <m:r>
                      <a:rPr lang="en-NZ" sz="2400" b="0"/>
                      <m:t>,</m:t>
                    </m:r>
                  </m:oMath>
                </a14:m>
                <a:r>
                  <a:rPr lang="en-NZ" sz="2400" dirty="0"/>
                  <a:t>and </a:t>
                </a:r>
                <a14:m>
                  <m:oMath xmlns:m="http://schemas.openxmlformats.org/officeDocument/2006/math">
                    <m:sSub>
                      <m:sSubPr>
                        <m:ctrlPr>
                          <a:rPr lang="en-NZ" sz="2400"/>
                        </m:ctrlPr>
                      </m:sSubPr>
                      <m:e>
                        <m:r>
                          <a:rPr lang="en-NZ" sz="2400" b="0" i="1"/>
                          <m:t>𝑢</m:t>
                        </m:r>
                      </m:e>
                      <m:sub>
                        <m:r>
                          <a:rPr lang="en-NZ" sz="2400" b="0" i="1"/>
                          <m:t>𝑓𝑔</m:t>
                        </m:r>
                      </m:sub>
                    </m:sSub>
                  </m:oMath>
                </a14:m>
                <a:r>
                  <a:rPr lang="en-NZ" sz="2400" dirty="0"/>
                  <a:t>.</a:t>
                </a:r>
              </a:p>
              <a:p>
                <a:pPr>
                  <a:buFontTx/>
                  <a:buChar char="-"/>
                </a:pPr>
                <a:r>
                  <a:rPr lang="en-NZ" sz="2400" dirty="0"/>
                  <a:t> Calculate the initial specific volume: </a:t>
                </a:r>
                <a14:m>
                  <m:oMath xmlns:m="http://schemas.openxmlformats.org/officeDocument/2006/math">
                    <m:sSub>
                      <m:sSubPr>
                        <m:ctrlPr>
                          <a:rPr lang="en-NZ" sz="2400"/>
                        </m:ctrlPr>
                      </m:sSubPr>
                      <m:e>
                        <m:r>
                          <a:rPr lang="en-NZ" sz="2400" b="0" i="1"/>
                          <m:t>𝑣</m:t>
                        </m:r>
                      </m:e>
                      <m:sub>
                        <m:r>
                          <a:rPr lang="en-NZ" sz="2400" b="0"/>
                          <m:t>1</m:t>
                        </m:r>
                      </m:sub>
                    </m:sSub>
                    <m:r>
                      <a:rPr lang="en-NZ" sz="2400" b="0"/>
                      <m:t>=</m:t>
                    </m:r>
                    <m:sSub>
                      <m:sSubPr>
                        <m:ctrlPr>
                          <a:rPr lang="en-NZ" sz="2400" i="1"/>
                        </m:ctrlPr>
                      </m:sSubPr>
                      <m:e>
                        <m:r>
                          <a:rPr lang="en-NZ" sz="2400" b="0" i="1"/>
                          <m:t>𝑣</m:t>
                        </m:r>
                      </m:e>
                      <m:sub>
                        <m:r>
                          <a:rPr lang="en-NZ" sz="2400" b="0" i="1"/>
                          <m:t>𝑓</m:t>
                        </m:r>
                      </m:sub>
                    </m:sSub>
                    <m:r>
                      <a:rPr lang="en-NZ" sz="2400" b="0"/>
                      <m:t>+</m:t>
                    </m:r>
                    <m:sSub>
                      <m:sSubPr>
                        <m:ctrlPr>
                          <a:rPr lang="en-NZ" sz="2400" i="1"/>
                        </m:ctrlPr>
                      </m:sSubPr>
                      <m:e>
                        <m:r>
                          <a:rPr lang="en-NZ" sz="2400" b="0" i="1"/>
                          <m:t>𝑥</m:t>
                        </m:r>
                      </m:e>
                      <m:sub>
                        <m:r>
                          <a:rPr lang="en-NZ" sz="2400" b="0"/>
                          <m:t>1</m:t>
                        </m:r>
                      </m:sub>
                    </m:sSub>
                    <m:sSub>
                      <m:sSubPr>
                        <m:ctrlPr>
                          <a:rPr lang="en-NZ" sz="2400" i="1"/>
                        </m:ctrlPr>
                      </m:sSubPr>
                      <m:e>
                        <m:r>
                          <a:rPr lang="en-NZ" sz="2400" b="0" i="1"/>
                          <m:t>𝑣</m:t>
                        </m:r>
                      </m:e>
                      <m:sub>
                        <m:r>
                          <a:rPr lang="en-NZ" sz="2400" b="0" i="1"/>
                          <m:t>𝑓𝑔</m:t>
                        </m:r>
                      </m:sub>
                    </m:sSub>
                  </m:oMath>
                </a14:m>
                <a:endParaRPr lang="en-NZ" sz="2400" dirty="0"/>
              </a:p>
              <a:p>
                <a:pPr>
                  <a:buFontTx/>
                  <a:buChar char="-"/>
                </a:pPr>
                <a:r>
                  <a:rPr lang="en-NZ" sz="2400" dirty="0"/>
                  <a:t>Calculate the mass: </a:t>
                </a:r>
                <a14:m>
                  <m:oMath xmlns:m="http://schemas.openxmlformats.org/officeDocument/2006/math">
                    <m:r>
                      <a:rPr lang="en-NZ" sz="2400" b="0" i="1" smtClean="0">
                        <a:latin typeface="Cambria Math" panose="02040503050406030204" pitchFamily="18" charset="0"/>
                      </a:rPr>
                      <m:t>𝑚</m:t>
                    </m:r>
                    <m:r>
                      <a:rPr lang="en-NZ" sz="2400" b="0" i="1" smtClean="0">
                        <a:latin typeface="Cambria Math" panose="02040503050406030204" pitchFamily="18" charset="0"/>
                      </a:rPr>
                      <m:t>=</m:t>
                    </m:r>
                    <m:f>
                      <m:fPr>
                        <m:ctrlPr>
                          <a:rPr lang="en-NZ" sz="2400" b="0" i="1" smtClean="0">
                            <a:latin typeface="Cambria Math" panose="02040503050406030204" pitchFamily="18" charset="0"/>
                          </a:rPr>
                        </m:ctrlPr>
                      </m:fPr>
                      <m:num>
                        <m:sSub>
                          <m:sSubPr>
                            <m:ctrlPr>
                              <a:rPr lang="en-NZ" sz="2400" b="0" i="1" smtClean="0">
                                <a:latin typeface="Cambria Math" panose="02040503050406030204" pitchFamily="18" charset="0"/>
                              </a:rPr>
                            </m:ctrlPr>
                          </m:sSubPr>
                          <m:e>
                            <m:r>
                              <a:rPr lang="en-NZ" sz="2400" b="0" i="1" smtClean="0">
                                <a:latin typeface="Cambria Math" panose="02040503050406030204" pitchFamily="18" charset="0"/>
                              </a:rPr>
                              <m:t>𝑉</m:t>
                            </m:r>
                          </m:e>
                          <m:sub>
                            <m:r>
                              <a:rPr lang="en-NZ" sz="2400" b="0" i="1" smtClean="0">
                                <a:latin typeface="Cambria Math" panose="02040503050406030204" pitchFamily="18" charset="0"/>
                              </a:rPr>
                              <m:t>1</m:t>
                            </m:r>
                          </m:sub>
                        </m:sSub>
                      </m:num>
                      <m:den>
                        <m:sSub>
                          <m:sSubPr>
                            <m:ctrlPr>
                              <a:rPr lang="en-NZ" sz="2400" b="0" i="1" smtClean="0">
                                <a:latin typeface="Cambria Math" panose="02040503050406030204" pitchFamily="18" charset="0"/>
                              </a:rPr>
                            </m:ctrlPr>
                          </m:sSubPr>
                          <m:e>
                            <m:r>
                              <a:rPr lang="en-NZ" sz="2400" b="0" i="1" smtClean="0">
                                <a:latin typeface="Cambria Math" panose="02040503050406030204" pitchFamily="18" charset="0"/>
                              </a:rPr>
                              <m:t>𝑣</m:t>
                            </m:r>
                          </m:e>
                          <m:sub>
                            <m:r>
                              <a:rPr lang="en-NZ" sz="2400" b="0" i="1" smtClean="0">
                                <a:latin typeface="Cambria Math" panose="02040503050406030204" pitchFamily="18" charset="0"/>
                              </a:rPr>
                              <m:t>1</m:t>
                            </m:r>
                          </m:sub>
                        </m:sSub>
                      </m:den>
                    </m:f>
                    <m:r>
                      <a:rPr lang="en-NZ" sz="2400" b="0" i="0" smtClean="0">
                        <a:latin typeface="Cambria Math" panose="02040503050406030204" pitchFamily="18" charset="0"/>
                      </a:rPr>
                      <m:t>=</m:t>
                    </m:r>
                    <m:f>
                      <m:fPr>
                        <m:ctrlPr>
                          <a:rPr lang="en-NZ" sz="2400" b="0" i="1" smtClean="0">
                            <a:latin typeface="Cambria Math" panose="02040503050406030204" pitchFamily="18" charset="0"/>
                          </a:rPr>
                        </m:ctrlPr>
                      </m:fPr>
                      <m:num>
                        <m:r>
                          <a:rPr lang="en-NZ" sz="2400" b="0" i="1" smtClean="0">
                            <a:latin typeface="Cambria Math" panose="02040503050406030204" pitchFamily="18" charset="0"/>
                          </a:rPr>
                          <m:t>1.2</m:t>
                        </m:r>
                      </m:num>
                      <m:den>
                        <m:sSub>
                          <m:sSubPr>
                            <m:ctrlPr>
                              <a:rPr lang="en-NZ" sz="2400" b="0" i="1" smtClean="0">
                                <a:latin typeface="Cambria Math" panose="02040503050406030204" pitchFamily="18" charset="0"/>
                              </a:rPr>
                            </m:ctrlPr>
                          </m:sSubPr>
                          <m:e>
                            <m:r>
                              <a:rPr lang="en-NZ" sz="2400" b="0" i="1" smtClean="0">
                                <a:latin typeface="Cambria Math" panose="02040503050406030204" pitchFamily="18" charset="0"/>
                              </a:rPr>
                              <m:t>𝑣</m:t>
                            </m:r>
                          </m:e>
                          <m:sub>
                            <m:r>
                              <a:rPr lang="en-NZ" sz="2400" b="0" i="1" smtClean="0">
                                <a:latin typeface="Cambria Math" panose="02040503050406030204" pitchFamily="18" charset="0"/>
                              </a:rPr>
                              <m:t>1</m:t>
                            </m:r>
                          </m:sub>
                        </m:sSub>
                      </m:den>
                    </m:f>
                  </m:oMath>
                </a14:m>
                <a:endParaRPr lang="en-NZ" sz="2400" dirty="0"/>
              </a:p>
              <a:p>
                <a:pPr>
                  <a:buFontTx/>
                  <a:buChar char="-"/>
                </a:pPr>
                <a:r>
                  <a:rPr lang="en-NZ" sz="2400" dirty="0"/>
                  <a:t> Calculate the initial internal energy: </a:t>
                </a:r>
                <a14:m>
                  <m:oMath xmlns:m="http://schemas.openxmlformats.org/officeDocument/2006/math">
                    <m:sSub>
                      <m:sSubPr>
                        <m:ctrlPr>
                          <a:rPr lang="en-NZ" sz="2400" i="1" smtClean="0">
                            <a:latin typeface="Cambria Math" panose="02040503050406030204" pitchFamily="18" charset="0"/>
                          </a:rPr>
                        </m:ctrlPr>
                      </m:sSubPr>
                      <m:e>
                        <m:r>
                          <a:rPr lang="en-NZ" sz="2400" b="0" i="1" smtClean="0">
                            <a:latin typeface="Cambria Math" panose="02040503050406030204" pitchFamily="18" charset="0"/>
                          </a:rPr>
                          <m:t>𝑢</m:t>
                        </m:r>
                      </m:e>
                      <m:sub>
                        <m:r>
                          <a:rPr lang="en-NZ" sz="2400" b="0">
                            <a:latin typeface="Cambria Math" panose="02040503050406030204" pitchFamily="18" charset="0"/>
                          </a:rPr>
                          <m:t>1</m:t>
                        </m:r>
                      </m:sub>
                    </m:sSub>
                    <m:r>
                      <a:rPr lang="en-NZ" sz="2400" b="0">
                        <a:latin typeface="Cambria Math" panose="02040503050406030204" pitchFamily="18" charset="0"/>
                      </a:rPr>
                      <m:t>=</m:t>
                    </m:r>
                    <m:sSub>
                      <m:sSubPr>
                        <m:ctrlPr>
                          <a:rPr lang="en-NZ" sz="2400" i="1">
                            <a:latin typeface="Cambria Math" panose="02040503050406030204" pitchFamily="18" charset="0"/>
                          </a:rPr>
                        </m:ctrlPr>
                      </m:sSubPr>
                      <m:e>
                        <m:r>
                          <a:rPr lang="en-NZ" sz="2400" b="0" i="1" smtClean="0">
                            <a:latin typeface="Cambria Math" panose="02040503050406030204" pitchFamily="18" charset="0"/>
                          </a:rPr>
                          <m:t>𝑢</m:t>
                        </m:r>
                      </m:e>
                      <m:sub>
                        <m:r>
                          <a:rPr lang="en-NZ" sz="2400" b="0" i="1">
                            <a:latin typeface="Cambria Math" panose="02040503050406030204" pitchFamily="18" charset="0"/>
                          </a:rPr>
                          <m:t>𝑓</m:t>
                        </m:r>
                      </m:sub>
                    </m:sSub>
                    <m:r>
                      <a:rPr lang="en-NZ" sz="2400" b="0">
                        <a:latin typeface="Cambria Math" panose="02040503050406030204" pitchFamily="18" charset="0"/>
                      </a:rPr>
                      <m:t>+</m:t>
                    </m:r>
                    <m:sSub>
                      <m:sSubPr>
                        <m:ctrlPr>
                          <a:rPr lang="en-NZ" sz="2400" i="1">
                            <a:latin typeface="Cambria Math" panose="02040503050406030204" pitchFamily="18" charset="0"/>
                          </a:rPr>
                        </m:ctrlPr>
                      </m:sSubPr>
                      <m:e>
                        <m:r>
                          <a:rPr lang="en-NZ" sz="2400" b="0" i="1">
                            <a:latin typeface="Cambria Math" panose="02040503050406030204" pitchFamily="18" charset="0"/>
                          </a:rPr>
                          <m:t>𝑥</m:t>
                        </m:r>
                      </m:e>
                      <m:sub>
                        <m:r>
                          <a:rPr lang="en-NZ" sz="2400" b="0">
                            <a:latin typeface="Cambria Math" panose="02040503050406030204" pitchFamily="18" charset="0"/>
                          </a:rPr>
                          <m:t>1</m:t>
                        </m:r>
                      </m:sub>
                    </m:sSub>
                    <m:sSub>
                      <m:sSubPr>
                        <m:ctrlPr>
                          <a:rPr lang="en-NZ" sz="2400" i="1">
                            <a:latin typeface="Cambria Math" panose="02040503050406030204" pitchFamily="18" charset="0"/>
                          </a:rPr>
                        </m:ctrlPr>
                      </m:sSubPr>
                      <m:e>
                        <m:r>
                          <a:rPr lang="en-NZ" sz="2400" b="0" i="1" smtClean="0">
                            <a:latin typeface="Cambria Math" panose="02040503050406030204" pitchFamily="18" charset="0"/>
                          </a:rPr>
                          <m:t>𝑢</m:t>
                        </m:r>
                      </m:e>
                      <m:sub>
                        <m:r>
                          <a:rPr lang="en-NZ" sz="2400" b="0" i="1">
                            <a:latin typeface="Cambria Math" panose="02040503050406030204" pitchFamily="18" charset="0"/>
                          </a:rPr>
                          <m:t>𝑓𝑔</m:t>
                        </m:r>
                      </m:sub>
                    </m:sSub>
                  </m:oMath>
                </a14:m>
                <a:endParaRPr lang="en-NZ" sz="2400" dirty="0"/>
              </a:p>
              <a:p>
                <a:pPr>
                  <a:buFontTx/>
                  <a:buChar char="-"/>
                </a:pPr>
                <a:r>
                  <a:rPr lang="en-NZ" sz="2400" dirty="0"/>
                  <a:t> Calculate the final specific volume: </a:t>
                </a:r>
                <a14:m>
                  <m:oMath xmlns:m="http://schemas.openxmlformats.org/officeDocument/2006/math">
                    <m:sSub>
                      <m:sSubPr>
                        <m:ctrlPr>
                          <a:rPr lang="en-NZ" sz="2400" b="0" i="1" smtClean="0">
                            <a:latin typeface="Cambria Math" panose="02040503050406030204" pitchFamily="18" charset="0"/>
                          </a:rPr>
                        </m:ctrlPr>
                      </m:sSubPr>
                      <m:e>
                        <m:r>
                          <a:rPr lang="en-NZ" sz="2400" b="0" i="1" smtClean="0">
                            <a:latin typeface="Cambria Math" panose="02040503050406030204" pitchFamily="18" charset="0"/>
                          </a:rPr>
                          <m:t>𝑣</m:t>
                        </m:r>
                      </m:e>
                      <m:sub>
                        <m:r>
                          <a:rPr lang="en-NZ" sz="2400" b="0" i="1" smtClean="0">
                            <a:latin typeface="Cambria Math" panose="02040503050406030204" pitchFamily="18" charset="0"/>
                          </a:rPr>
                          <m:t>2</m:t>
                        </m:r>
                      </m:sub>
                    </m:sSub>
                    <m:r>
                      <a:rPr lang="en-NZ" sz="2400" b="0" i="1" smtClean="0">
                        <a:latin typeface="Cambria Math" panose="02040503050406030204" pitchFamily="18" charset="0"/>
                      </a:rPr>
                      <m:t>=</m:t>
                    </m:r>
                    <m:f>
                      <m:fPr>
                        <m:ctrlPr>
                          <a:rPr lang="en-NZ" sz="2400" b="0" i="1" smtClean="0">
                            <a:latin typeface="Cambria Math" panose="02040503050406030204" pitchFamily="18" charset="0"/>
                          </a:rPr>
                        </m:ctrlPr>
                      </m:fPr>
                      <m:num>
                        <m:sSub>
                          <m:sSubPr>
                            <m:ctrlPr>
                              <a:rPr lang="en-NZ" sz="2400" b="0" i="1" smtClean="0">
                                <a:latin typeface="Cambria Math" panose="02040503050406030204" pitchFamily="18" charset="0"/>
                              </a:rPr>
                            </m:ctrlPr>
                          </m:sSubPr>
                          <m:e>
                            <m:r>
                              <a:rPr lang="en-NZ" sz="2400" b="0" i="1" smtClean="0">
                                <a:latin typeface="Cambria Math" panose="02040503050406030204" pitchFamily="18" charset="0"/>
                              </a:rPr>
                              <m:t>𝑉</m:t>
                            </m:r>
                          </m:e>
                          <m:sub>
                            <m:r>
                              <a:rPr lang="en-NZ" sz="2400" b="0" i="1" smtClean="0">
                                <a:latin typeface="Cambria Math" panose="02040503050406030204" pitchFamily="18" charset="0"/>
                              </a:rPr>
                              <m:t>2</m:t>
                            </m:r>
                          </m:sub>
                        </m:sSub>
                      </m:num>
                      <m:den>
                        <m:r>
                          <a:rPr lang="en-NZ" sz="2400" b="0" i="1" smtClean="0">
                            <a:latin typeface="Cambria Math" panose="02040503050406030204" pitchFamily="18" charset="0"/>
                          </a:rPr>
                          <m:t>𝑚</m:t>
                        </m:r>
                      </m:den>
                    </m:f>
                    <m:r>
                      <a:rPr lang="en-NZ" sz="2400" b="0" i="0" smtClean="0">
                        <a:latin typeface="Cambria Math" panose="02040503050406030204" pitchFamily="18" charset="0"/>
                      </a:rPr>
                      <m:t>=</m:t>
                    </m:r>
                    <m:f>
                      <m:fPr>
                        <m:ctrlPr>
                          <a:rPr lang="en-NZ" sz="2400" b="0" i="1" smtClean="0">
                            <a:latin typeface="Cambria Math" panose="02040503050406030204" pitchFamily="18" charset="0"/>
                          </a:rPr>
                        </m:ctrlPr>
                      </m:fPr>
                      <m:num>
                        <m:r>
                          <a:rPr lang="en-NZ" sz="2400" b="0" i="1" smtClean="0">
                            <a:latin typeface="Cambria Math" panose="02040503050406030204" pitchFamily="18" charset="0"/>
                          </a:rPr>
                          <m:t>5.5</m:t>
                        </m:r>
                      </m:num>
                      <m:den>
                        <m:r>
                          <a:rPr lang="en-NZ" sz="2400" b="0" i="1" smtClean="0">
                            <a:latin typeface="Cambria Math" panose="02040503050406030204" pitchFamily="18" charset="0"/>
                          </a:rPr>
                          <m:t>𝑚</m:t>
                        </m:r>
                      </m:den>
                    </m:f>
                  </m:oMath>
                </a14:m>
                <a:endParaRPr lang="en-NZ" sz="2400" dirty="0"/>
              </a:p>
              <a:p>
                <a:pPr marL="0" indent="0">
                  <a:buNone/>
                </a:pPr>
                <a:r>
                  <a:rPr lang="en-NZ" sz="2400" dirty="0"/>
                  <a:t>- Final state</a:t>
                </a:r>
                <a:r>
                  <a:rPr lang="en-NZ" sz="2400" b="1" dirty="0"/>
                  <a:t>:</a:t>
                </a:r>
                <a:r>
                  <a:rPr lang="en-NZ" sz="2400" dirty="0"/>
                  <a:t> At </a:t>
                </a:r>
                <a14:m>
                  <m:oMath xmlns:m="http://schemas.openxmlformats.org/officeDocument/2006/math">
                    <m:sSub>
                      <m:sSubPr>
                        <m:ctrlPr>
                          <a:rPr lang="en-NZ" sz="2400"/>
                        </m:ctrlPr>
                      </m:sSubPr>
                      <m:e>
                        <m:r>
                          <a:rPr lang="en-NZ" sz="2400" i="1"/>
                          <m:t>𝑃</m:t>
                        </m:r>
                      </m:e>
                      <m:sub>
                        <m:r>
                          <a:rPr lang="en-NZ" sz="2400"/>
                          <m:t>2</m:t>
                        </m:r>
                      </m:sub>
                    </m:sSub>
                    <m:r>
                      <a:rPr lang="en-NZ" sz="2400"/>
                      <m:t>=230</m:t>
                    </m:r>
                  </m:oMath>
                </a14:m>
                <a:r>
                  <a:rPr lang="en-NZ" sz="2400" dirty="0"/>
                  <a:t>kPa, use </a:t>
                </a:r>
                <a:r>
                  <a:rPr lang="en-NZ" sz="2400" dirty="0">
                    <a:highlight>
                      <a:srgbClr val="FFFF00"/>
                    </a:highlight>
                  </a:rPr>
                  <a:t>Table A-5 </a:t>
                </a:r>
                <a:r>
                  <a:rPr lang="en-NZ" sz="2400" dirty="0"/>
                  <a:t>and interpolate between the surrounding pressures to obtain </a:t>
                </a:r>
                <a14:m>
                  <m:oMath xmlns:m="http://schemas.openxmlformats.org/officeDocument/2006/math">
                    <m:sSub>
                      <m:sSubPr>
                        <m:ctrlPr>
                          <a:rPr lang="en-NZ" sz="2400"/>
                        </m:ctrlPr>
                      </m:sSubPr>
                      <m:e>
                        <m:r>
                          <a:rPr lang="en-NZ" sz="2400" i="1"/>
                          <m:t>𝑣</m:t>
                        </m:r>
                      </m:e>
                      <m:sub>
                        <m:r>
                          <a:rPr lang="en-NZ" sz="2400" i="1"/>
                          <m:t>𝑓</m:t>
                        </m:r>
                      </m:sub>
                    </m:sSub>
                    <m:r>
                      <a:rPr lang="en-NZ" sz="2400"/>
                      <m:t>,</m:t>
                    </m:r>
                    <m:sSub>
                      <m:sSubPr>
                        <m:ctrlPr>
                          <a:rPr lang="en-NZ" sz="2400" i="1"/>
                        </m:ctrlPr>
                      </m:sSubPr>
                      <m:e>
                        <m:r>
                          <a:rPr lang="en-NZ" sz="2400" i="1"/>
                          <m:t>𝑣</m:t>
                        </m:r>
                      </m:e>
                      <m:sub>
                        <m:r>
                          <a:rPr lang="en-NZ" sz="2400" i="1"/>
                          <m:t>𝑔</m:t>
                        </m:r>
                      </m:sub>
                    </m:sSub>
                    <m:r>
                      <a:rPr lang="en-NZ" sz="2400"/>
                      <m:t>,</m:t>
                    </m:r>
                    <m:sSub>
                      <m:sSubPr>
                        <m:ctrlPr>
                          <a:rPr lang="en-NZ" sz="2400" i="1"/>
                        </m:ctrlPr>
                      </m:sSubPr>
                      <m:e>
                        <m:r>
                          <a:rPr lang="en-NZ" sz="2400" i="1"/>
                          <m:t>𝑢</m:t>
                        </m:r>
                      </m:e>
                      <m:sub>
                        <m:r>
                          <a:rPr lang="en-NZ" sz="2400" i="1"/>
                          <m:t>𝑓</m:t>
                        </m:r>
                      </m:sub>
                    </m:sSub>
                    <m:r>
                      <a:rPr lang="en-NZ" sz="2400"/>
                      <m:t>,</m:t>
                    </m:r>
                  </m:oMath>
                </a14:m>
                <a:r>
                  <a:rPr lang="en-NZ" sz="2400" dirty="0"/>
                  <a:t>and </a:t>
                </a:r>
                <a14:m>
                  <m:oMath xmlns:m="http://schemas.openxmlformats.org/officeDocument/2006/math">
                    <m:sSub>
                      <m:sSubPr>
                        <m:ctrlPr>
                          <a:rPr lang="en-NZ" sz="2400"/>
                        </m:ctrlPr>
                      </m:sSubPr>
                      <m:e>
                        <m:r>
                          <a:rPr lang="en-NZ" sz="2400" i="1"/>
                          <m:t>𝑢</m:t>
                        </m:r>
                      </m:e>
                      <m:sub>
                        <m:r>
                          <a:rPr lang="en-NZ" sz="2400" i="1"/>
                          <m:t>𝑓𝑔</m:t>
                        </m:r>
                      </m:sub>
                    </m:sSub>
                  </m:oMath>
                </a14:m>
                <a:r>
                  <a:rPr lang="en-NZ" sz="2400" dirty="0"/>
                  <a:t>. Since </a:t>
                </a:r>
                <a14:m>
                  <m:oMath xmlns:m="http://schemas.openxmlformats.org/officeDocument/2006/math">
                    <m:sSub>
                      <m:sSubPr>
                        <m:ctrlPr>
                          <a:rPr lang="en-NZ" sz="2400">
                            <a:highlight>
                              <a:srgbClr val="FFFF00"/>
                            </a:highlight>
                          </a:rPr>
                        </m:ctrlPr>
                      </m:sSubPr>
                      <m:e>
                        <m:r>
                          <a:rPr lang="en-NZ" sz="2400" i="1">
                            <a:highlight>
                              <a:srgbClr val="FFFF00"/>
                            </a:highlight>
                          </a:rPr>
                          <m:t>𝑣</m:t>
                        </m:r>
                      </m:e>
                      <m:sub>
                        <m:r>
                          <a:rPr lang="en-NZ" sz="2400" i="1">
                            <a:highlight>
                              <a:srgbClr val="FFFF00"/>
                            </a:highlight>
                          </a:rPr>
                          <m:t>𝑓</m:t>
                        </m:r>
                      </m:sub>
                    </m:sSub>
                    <m:r>
                      <a:rPr lang="en-NZ" sz="2400">
                        <a:highlight>
                          <a:srgbClr val="FFFF00"/>
                        </a:highlight>
                      </a:rPr>
                      <m:t>&lt;</m:t>
                    </m:r>
                    <m:sSub>
                      <m:sSubPr>
                        <m:ctrlPr>
                          <a:rPr lang="en-NZ" sz="2400" i="1">
                            <a:highlight>
                              <a:srgbClr val="FFFF00"/>
                            </a:highlight>
                          </a:rPr>
                        </m:ctrlPr>
                      </m:sSubPr>
                      <m:e>
                        <m:r>
                          <a:rPr lang="en-NZ" sz="2400" i="1">
                            <a:highlight>
                              <a:srgbClr val="FFFF00"/>
                            </a:highlight>
                          </a:rPr>
                          <m:t>𝑣</m:t>
                        </m:r>
                      </m:e>
                      <m:sub>
                        <m:r>
                          <a:rPr lang="en-NZ" sz="2400">
                            <a:highlight>
                              <a:srgbClr val="FFFF00"/>
                            </a:highlight>
                          </a:rPr>
                          <m:t>2</m:t>
                        </m:r>
                      </m:sub>
                    </m:sSub>
                    <m:r>
                      <a:rPr lang="en-NZ" sz="2400">
                        <a:highlight>
                          <a:srgbClr val="FFFF00"/>
                        </a:highlight>
                      </a:rPr>
                      <m:t>&lt;</m:t>
                    </m:r>
                    <m:sSub>
                      <m:sSubPr>
                        <m:ctrlPr>
                          <a:rPr lang="en-NZ" sz="2400" i="1">
                            <a:highlight>
                              <a:srgbClr val="FFFF00"/>
                            </a:highlight>
                          </a:rPr>
                        </m:ctrlPr>
                      </m:sSubPr>
                      <m:e>
                        <m:r>
                          <a:rPr lang="en-NZ" sz="2400" i="1">
                            <a:highlight>
                              <a:srgbClr val="FFFF00"/>
                            </a:highlight>
                          </a:rPr>
                          <m:t>𝑣</m:t>
                        </m:r>
                      </m:e>
                      <m:sub>
                        <m:r>
                          <a:rPr lang="en-NZ" sz="2400" i="1">
                            <a:highlight>
                              <a:srgbClr val="FFFF00"/>
                            </a:highlight>
                          </a:rPr>
                          <m:t>𝑔</m:t>
                        </m:r>
                      </m:sub>
                    </m:sSub>
                  </m:oMath>
                </a14:m>
                <a:r>
                  <a:rPr lang="en-NZ" sz="2400" dirty="0">
                    <a:highlight>
                      <a:srgbClr val="FFFF00"/>
                    </a:highlight>
                  </a:rPr>
                  <a:t>, </a:t>
                </a:r>
                <a:r>
                  <a:rPr lang="en-NZ" sz="2400" dirty="0"/>
                  <a:t>state 2 is a </a:t>
                </a:r>
                <a:r>
                  <a:rPr lang="en-NZ" sz="2400" dirty="0">
                    <a:highlight>
                      <a:srgbClr val="FFFF00"/>
                    </a:highlight>
                  </a:rPr>
                  <a:t>saturated mixture</a:t>
                </a:r>
                <a:r>
                  <a:rPr lang="en-NZ" sz="2400" dirty="0"/>
                  <a:t>.</a:t>
                </a:r>
              </a:p>
              <a:p>
                <a:pPr>
                  <a:buFontTx/>
                  <a:buChar char="-"/>
                </a:pPr>
                <a:r>
                  <a:rPr lang="en-NZ" sz="2400" dirty="0"/>
                  <a:t>Calculate the final quality: </a:t>
                </a:r>
                <a14:m>
                  <m:oMath xmlns:m="http://schemas.openxmlformats.org/officeDocument/2006/math">
                    <m:sSub>
                      <m:sSubPr>
                        <m:ctrlPr>
                          <a:rPr lang="en-NZ" sz="2400" i="1" smtClean="0">
                            <a:latin typeface="Cambria Math" panose="02040503050406030204" pitchFamily="18" charset="0"/>
                          </a:rPr>
                        </m:ctrlPr>
                      </m:sSubPr>
                      <m:e>
                        <m:r>
                          <a:rPr lang="en-NZ" sz="2400" b="0" i="1" smtClean="0">
                            <a:latin typeface="Cambria Math" panose="02040503050406030204" pitchFamily="18" charset="0"/>
                          </a:rPr>
                          <m:t>𝑥</m:t>
                        </m:r>
                      </m:e>
                      <m:sub>
                        <m:r>
                          <a:rPr lang="en-NZ" sz="2400" b="0" i="1" smtClean="0">
                            <a:latin typeface="Cambria Math" panose="02040503050406030204" pitchFamily="18" charset="0"/>
                          </a:rPr>
                          <m:t>2</m:t>
                        </m:r>
                      </m:sub>
                    </m:sSub>
                    <m:r>
                      <a:rPr lang="en-NZ" sz="2400" b="0" i="1" smtClean="0">
                        <a:latin typeface="Cambria Math" panose="02040503050406030204" pitchFamily="18" charset="0"/>
                      </a:rPr>
                      <m:t>=</m:t>
                    </m:r>
                    <m:f>
                      <m:fPr>
                        <m:ctrlPr>
                          <a:rPr lang="en-NZ" sz="2400" b="0" i="1" smtClean="0">
                            <a:latin typeface="Cambria Math" panose="02040503050406030204" pitchFamily="18" charset="0"/>
                          </a:rPr>
                        </m:ctrlPr>
                      </m:fPr>
                      <m:num>
                        <m:sSub>
                          <m:sSubPr>
                            <m:ctrlPr>
                              <a:rPr lang="en-NZ" sz="2400" b="0" i="1" smtClean="0">
                                <a:latin typeface="Cambria Math" panose="02040503050406030204" pitchFamily="18" charset="0"/>
                              </a:rPr>
                            </m:ctrlPr>
                          </m:sSubPr>
                          <m:e>
                            <m:r>
                              <a:rPr lang="en-NZ" sz="2400" b="0" i="1" smtClean="0">
                                <a:latin typeface="Cambria Math" panose="02040503050406030204" pitchFamily="18" charset="0"/>
                              </a:rPr>
                              <m:t>𝑣</m:t>
                            </m:r>
                          </m:e>
                          <m:sub>
                            <m:r>
                              <a:rPr lang="en-NZ" sz="2400" b="0" i="1" smtClean="0">
                                <a:latin typeface="Cambria Math" panose="02040503050406030204" pitchFamily="18" charset="0"/>
                              </a:rPr>
                              <m:t>2</m:t>
                            </m:r>
                          </m:sub>
                        </m:sSub>
                        <m:r>
                          <a:rPr lang="en-NZ" sz="2400" b="0" i="1" smtClean="0">
                            <a:latin typeface="Cambria Math" panose="02040503050406030204" pitchFamily="18" charset="0"/>
                          </a:rPr>
                          <m:t>−</m:t>
                        </m:r>
                        <m:sSub>
                          <m:sSubPr>
                            <m:ctrlPr>
                              <a:rPr lang="en-NZ" sz="2400" b="0" i="1" smtClean="0">
                                <a:latin typeface="Cambria Math" panose="02040503050406030204" pitchFamily="18" charset="0"/>
                              </a:rPr>
                            </m:ctrlPr>
                          </m:sSubPr>
                          <m:e>
                            <m:r>
                              <a:rPr lang="en-NZ" sz="2400" b="0" i="1" smtClean="0">
                                <a:latin typeface="Cambria Math" panose="02040503050406030204" pitchFamily="18" charset="0"/>
                              </a:rPr>
                              <m:t>𝑣</m:t>
                            </m:r>
                          </m:e>
                          <m:sub>
                            <m:r>
                              <a:rPr lang="en-NZ" sz="2400" b="0" i="1" smtClean="0">
                                <a:latin typeface="Cambria Math" panose="02040503050406030204" pitchFamily="18" charset="0"/>
                              </a:rPr>
                              <m:t>𝑓</m:t>
                            </m:r>
                          </m:sub>
                        </m:sSub>
                      </m:num>
                      <m:den>
                        <m:sSub>
                          <m:sSubPr>
                            <m:ctrlPr>
                              <a:rPr lang="en-NZ" sz="2400" b="0" i="1" smtClean="0">
                                <a:latin typeface="Cambria Math" panose="02040503050406030204" pitchFamily="18" charset="0"/>
                              </a:rPr>
                            </m:ctrlPr>
                          </m:sSubPr>
                          <m:e>
                            <m:r>
                              <a:rPr lang="en-NZ" sz="2400" b="0" i="1" smtClean="0">
                                <a:latin typeface="Cambria Math" panose="02040503050406030204" pitchFamily="18" charset="0"/>
                              </a:rPr>
                              <m:t>𝑣</m:t>
                            </m:r>
                          </m:e>
                          <m:sub>
                            <m:r>
                              <a:rPr lang="en-NZ" sz="2400" b="0" i="1" smtClean="0">
                                <a:latin typeface="Cambria Math" panose="02040503050406030204" pitchFamily="18" charset="0"/>
                              </a:rPr>
                              <m:t>𝑓𝑔</m:t>
                            </m:r>
                          </m:sub>
                        </m:sSub>
                      </m:den>
                    </m:f>
                  </m:oMath>
                </a14:m>
                <a:endParaRPr lang="en-NZ" sz="2400" b="0" dirty="0"/>
              </a:p>
              <a:p>
                <a:pPr>
                  <a:buFontTx/>
                  <a:buChar char="-"/>
                </a:pPr>
                <a:r>
                  <a:rPr lang="en-NZ" sz="2400" dirty="0"/>
                  <a:t> Calculate the final internal energy: </a:t>
                </a:r>
                <a14:m>
                  <m:oMath xmlns:m="http://schemas.openxmlformats.org/officeDocument/2006/math">
                    <m:sSub>
                      <m:sSubPr>
                        <m:ctrlPr>
                          <a:rPr lang="en-NZ" sz="2400" i="1" smtClean="0">
                            <a:latin typeface="Cambria Math" panose="02040503050406030204" pitchFamily="18" charset="0"/>
                          </a:rPr>
                        </m:ctrlPr>
                      </m:sSubPr>
                      <m:e>
                        <m:r>
                          <a:rPr lang="en-NZ" sz="2400" b="0" i="1" smtClean="0">
                            <a:latin typeface="Cambria Math" panose="02040503050406030204" pitchFamily="18" charset="0"/>
                          </a:rPr>
                          <m:t>𝑢</m:t>
                        </m:r>
                      </m:e>
                      <m:sub>
                        <m:r>
                          <a:rPr lang="en-NZ" sz="2400" b="0" i="0" smtClean="0">
                            <a:latin typeface="Cambria Math" panose="02040503050406030204" pitchFamily="18" charset="0"/>
                          </a:rPr>
                          <m:t>2</m:t>
                        </m:r>
                      </m:sub>
                    </m:sSub>
                    <m:r>
                      <a:rPr lang="en-NZ" sz="2400" b="0">
                        <a:latin typeface="Cambria Math" panose="02040503050406030204" pitchFamily="18" charset="0"/>
                      </a:rPr>
                      <m:t>=</m:t>
                    </m:r>
                    <m:sSub>
                      <m:sSubPr>
                        <m:ctrlPr>
                          <a:rPr lang="en-NZ" sz="2400" i="1">
                            <a:latin typeface="Cambria Math" panose="02040503050406030204" pitchFamily="18" charset="0"/>
                          </a:rPr>
                        </m:ctrlPr>
                      </m:sSubPr>
                      <m:e>
                        <m:r>
                          <a:rPr lang="en-NZ" sz="2400" b="0" i="1" smtClean="0">
                            <a:latin typeface="Cambria Math" panose="02040503050406030204" pitchFamily="18" charset="0"/>
                          </a:rPr>
                          <m:t>𝑢</m:t>
                        </m:r>
                      </m:e>
                      <m:sub>
                        <m:r>
                          <a:rPr lang="en-NZ" sz="2400" b="0" i="1">
                            <a:latin typeface="Cambria Math" panose="02040503050406030204" pitchFamily="18" charset="0"/>
                          </a:rPr>
                          <m:t>𝑓</m:t>
                        </m:r>
                      </m:sub>
                    </m:sSub>
                    <m:r>
                      <a:rPr lang="en-NZ" sz="2400" b="0">
                        <a:latin typeface="Cambria Math" panose="02040503050406030204" pitchFamily="18" charset="0"/>
                      </a:rPr>
                      <m:t>+</m:t>
                    </m:r>
                    <m:sSub>
                      <m:sSubPr>
                        <m:ctrlPr>
                          <a:rPr lang="en-NZ" sz="2400" i="1">
                            <a:latin typeface="Cambria Math" panose="02040503050406030204" pitchFamily="18" charset="0"/>
                          </a:rPr>
                        </m:ctrlPr>
                      </m:sSubPr>
                      <m:e>
                        <m:r>
                          <a:rPr lang="en-NZ" sz="2400" b="0" i="1">
                            <a:latin typeface="Cambria Math" panose="02040503050406030204" pitchFamily="18" charset="0"/>
                          </a:rPr>
                          <m:t>𝑥</m:t>
                        </m:r>
                      </m:e>
                      <m:sub>
                        <m:r>
                          <a:rPr lang="en-NZ" sz="2400" b="0" i="0" smtClean="0">
                            <a:latin typeface="Cambria Math" panose="02040503050406030204" pitchFamily="18" charset="0"/>
                          </a:rPr>
                          <m:t>2</m:t>
                        </m:r>
                      </m:sub>
                    </m:sSub>
                    <m:sSub>
                      <m:sSubPr>
                        <m:ctrlPr>
                          <a:rPr lang="en-NZ" sz="2400" i="1">
                            <a:latin typeface="Cambria Math" panose="02040503050406030204" pitchFamily="18" charset="0"/>
                          </a:rPr>
                        </m:ctrlPr>
                      </m:sSubPr>
                      <m:e>
                        <m:r>
                          <a:rPr lang="en-NZ" sz="2400" b="0" i="1" smtClean="0">
                            <a:latin typeface="Cambria Math" panose="02040503050406030204" pitchFamily="18" charset="0"/>
                          </a:rPr>
                          <m:t>𝑢</m:t>
                        </m:r>
                      </m:e>
                      <m:sub>
                        <m:r>
                          <a:rPr lang="en-NZ" sz="2400" b="0" i="1">
                            <a:latin typeface="Cambria Math" panose="02040503050406030204" pitchFamily="18" charset="0"/>
                          </a:rPr>
                          <m:t>𝑓𝑔</m:t>
                        </m:r>
                      </m:sub>
                    </m:sSub>
                  </m:oMath>
                </a14:m>
                <a:endParaRPr lang="en-NZ" sz="2400" dirty="0"/>
              </a:p>
              <a:p>
                <a:pPr>
                  <a:buFontTx/>
                  <a:buChar char="-"/>
                </a:pPr>
                <a:r>
                  <a:rPr lang="en-NZ" sz="2400" dirty="0"/>
                  <a:t> Calculate the boundary work (W)  based on the P-V diagram </a:t>
                </a:r>
              </a:p>
              <a:p>
                <a:pPr>
                  <a:buFontTx/>
                  <a:buChar char="-"/>
                </a:pPr>
                <a:r>
                  <a:rPr lang="en-NZ" sz="2400" dirty="0"/>
                  <a:t> Q−W=ΔU  -----------</a:t>
                </a:r>
                <a:r>
                  <a:rPr lang="en-NZ" sz="2400" dirty="0">
                    <a:sym typeface="Wingdings" panose="05000000000000000000" pitchFamily="2" charset="2"/>
                  </a:rPr>
                  <a:t> Q=m(u</a:t>
                </a:r>
                <a:r>
                  <a:rPr lang="en-NZ" sz="2400" baseline="-25000" dirty="0">
                    <a:sym typeface="Wingdings" panose="05000000000000000000" pitchFamily="2" charset="2"/>
                  </a:rPr>
                  <a:t>2</a:t>
                </a:r>
                <a:r>
                  <a:rPr lang="en-NZ" sz="2400" dirty="0">
                    <a:sym typeface="Wingdings" panose="05000000000000000000" pitchFamily="2" charset="2"/>
                  </a:rPr>
                  <a:t>-u</a:t>
                </a:r>
                <a:r>
                  <a:rPr lang="en-NZ" sz="2400" baseline="-25000" dirty="0">
                    <a:sym typeface="Wingdings" panose="05000000000000000000" pitchFamily="2" charset="2"/>
                  </a:rPr>
                  <a:t>1</a:t>
                </a:r>
                <a:r>
                  <a:rPr lang="en-NZ" sz="2400" dirty="0">
                    <a:sym typeface="Wingdings" panose="05000000000000000000" pitchFamily="2" charset="2"/>
                  </a:rPr>
                  <a:t>)+W </a:t>
                </a:r>
                <a:endParaRPr lang="en-NZ" sz="2400" dirty="0"/>
              </a:p>
            </p:txBody>
          </p:sp>
        </mc:Choice>
        <mc:Fallback>
          <p:sp>
            <p:nvSpPr>
              <p:cNvPr id="3" name="Content Placeholder 2">
                <a:extLst>
                  <a:ext uri="{FF2B5EF4-FFF2-40B4-BE49-F238E27FC236}">
                    <a16:creationId xmlns:a16="http://schemas.microsoft.com/office/drawing/2014/main" id="{B3846955-AEAA-CF75-F6F8-A841FE104EEB}"/>
                  </a:ext>
                </a:extLst>
              </p:cNvPr>
              <p:cNvSpPr>
                <a:spLocks noGrp="1" noRot="1" noChangeAspect="1" noMove="1" noResize="1" noEditPoints="1" noAdjustHandles="1" noChangeArrowheads="1" noChangeShapeType="1" noTextEdit="1"/>
              </p:cNvSpPr>
              <p:nvPr>
                <p:ph idx="1"/>
              </p:nvPr>
            </p:nvSpPr>
            <p:spPr>
              <a:xfrm>
                <a:off x="746760" y="1834768"/>
                <a:ext cx="11359896" cy="4950079"/>
              </a:xfrm>
              <a:blipFill>
                <a:blip r:embed="rId2"/>
                <a:stretch>
                  <a:fillRect l="-751" t="-2586" r="-644"/>
                </a:stretch>
              </a:blipFill>
            </p:spPr>
            <p:txBody>
              <a:bodyPr/>
              <a:lstStyle/>
              <a:p>
                <a:r>
                  <a:rPr lang="en-NZ">
                    <a:noFill/>
                  </a:rPr>
                  <a:t> </a:t>
                </a:r>
              </a:p>
            </p:txBody>
          </p:sp>
        </mc:Fallback>
      </mc:AlternateContent>
    </p:spTree>
    <p:extLst>
      <p:ext uri="{BB962C8B-B14F-4D97-AF65-F5344CB8AC3E}">
        <p14:creationId xmlns:p14="http://schemas.microsoft.com/office/powerpoint/2010/main" val="623237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45D04-3817-8EAE-FCDF-1A4FA5AB597C}"/>
              </a:ext>
            </a:extLst>
          </p:cNvPr>
          <p:cNvSpPr>
            <a:spLocks noGrp="1"/>
          </p:cNvSpPr>
          <p:nvPr>
            <p:ph type="title"/>
          </p:nvPr>
        </p:nvSpPr>
        <p:spPr>
          <a:xfrm>
            <a:off x="563880" y="264541"/>
            <a:ext cx="10789920" cy="1325563"/>
          </a:xfrm>
        </p:spPr>
        <p:txBody>
          <a:bodyPr>
            <a:normAutofit fontScale="90000"/>
          </a:bodyPr>
          <a:lstStyle/>
          <a:p>
            <a:pPr algn="just"/>
            <a:r>
              <a:rPr lang="en-NZ" sz="2400" dirty="0"/>
              <a:t>Q7) </a:t>
            </a:r>
            <a:r>
              <a:rPr lang="en-US" sz="2700" dirty="0"/>
              <a:t>Long cylindrical steel rods (ρ = 7833 kg/m</a:t>
            </a:r>
            <a:r>
              <a:rPr lang="en-US" sz="2700" baseline="30000" dirty="0"/>
              <a:t>3</a:t>
            </a:r>
            <a:r>
              <a:rPr lang="en-US" sz="2700" dirty="0"/>
              <a:t> and cp = 0.465 kJ/kg·°C) of 10 cm diameter are heat-treated by drawing them at a velocity of 3 m/min through an oven maintained at 1000°C. If the rods enter the oven at 30°C and leave at a mean temperature of 400°C, determine the rate of heat transfer to the rods in the oven.</a:t>
            </a:r>
            <a:endParaRPr lang="en-NZ" sz="27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88773A1-7B0A-3F90-98BD-3CBFA4BEADCA}"/>
                  </a:ext>
                </a:extLst>
              </p:cNvPr>
              <p:cNvSpPr>
                <a:spLocks noGrp="1"/>
              </p:cNvSpPr>
              <p:nvPr>
                <p:ph idx="1"/>
              </p:nvPr>
            </p:nvSpPr>
            <p:spPr>
              <a:xfrm>
                <a:off x="417576" y="2242121"/>
                <a:ext cx="10789920" cy="4351338"/>
              </a:xfrm>
            </p:spPr>
            <p:txBody>
              <a:bodyPr/>
              <a:lstStyle/>
              <a:p>
                <a:pPr>
                  <a:buFontTx/>
                  <a:buChar char="-"/>
                </a:pPr>
                <a:r>
                  <a:rPr lang="en-NZ" sz="2400" dirty="0"/>
                  <a:t>Calculate the rod cross-sectional area: </a:t>
                </a:r>
                <a14:m>
                  <m:oMath xmlns:m="http://schemas.openxmlformats.org/officeDocument/2006/math">
                    <m:r>
                      <a:rPr lang="en-NZ" sz="2400" b="0" i="1" smtClean="0">
                        <a:latin typeface="Cambria Math" panose="02040503050406030204" pitchFamily="18" charset="0"/>
                      </a:rPr>
                      <m:t>𝐴</m:t>
                    </m:r>
                    <m:r>
                      <a:rPr lang="en-NZ" sz="2400" b="0" i="1" smtClean="0">
                        <a:latin typeface="Cambria Math" panose="02040503050406030204" pitchFamily="18" charset="0"/>
                      </a:rPr>
                      <m:t>=</m:t>
                    </m:r>
                    <m:f>
                      <m:fPr>
                        <m:ctrlPr>
                          <a:rPr lang="en-NZ" sz="2400" b="0" i="1" smtClean="0">
                            <a:latin typeface="Cambria Math" panose="02040503050406030204" pitchFamily="18" charset="0"/>
                          </a:rPr>
                        </m:ctrlPr>
                      </m:fPr>
                      <m:num>
                        <m:r>
                          <a:rPr lang="en-NZ" sz="2400" b="0" i="1" smtClean="0">
                            <a:latin typeface="Cambria Math" panose="02040503050406030204" pitchFamily="18" charset="0"/>
                            <a:ea typeface="Cambria Math" panose="02040503050406030204" pitchFamily="18" charset="0"/>
                          </a:rPr>
                          <m:t>𝜋</m:t>
                        </m:r>
                        <m:sSup>
                          <m:sSupPr>
                            <m:ctrlPr>
                              <a:rPr lang="en-NZ" sz="2400" b="0" i="1" smtClean="0">
                                <a:latin typeface="Cambria Math" panose="02040503050406030204" pitchFamily="18" charset="0"/>
                                <a:ea typeface="Cambria Math" panose="02040503050406030204" pitchFamily="18" charset="0"/>
                              </a:rPr>
                            </m:ctrlPr>
                          </m:sSupPr>
                          <m:e>
                            <m:r>
                              <a:rPr lang="en-NZ" sz="2400" b="0" i="1" smtClean="0">
                                <a:latin typeface="Cambria Math" panose="02040503050406030204" pitchFamily="18" charset="0"/>
                                <a:ea typeface="Cambria Math" panose="02040503050406030204" pitchFamily="18" charset="0"/>
                              </a:rPr>
                              <m:t>𝐷</m:t>
                            </m:r>
                          </m:e>
                          <m:sup>
                            <m:r>
                              <a:rPr lang="en-NZ" sz="2400" b="0" i="1" smtClean="0">
                                <a:latin typeface="Cambria Math" panose="02040503050406030204" pitchFamily="18" charset="0"/>
                                <a:ea typeface="Cambria Math" panose="02040503050406030204" pitchFamily="18" charset="0"/>
                              </a:rPr>
                              <m:t>2</m:t>
                            </m:r>
                          </m:sup>
                        </m:sSup>
                      </m:num>
                      <m:den>
                        <m:r>
                          <a:rPr lang="en-NZ" sz="2400" b="0" i="1" smtClean="0">
                            <a:latin typeface="Cambria Math" panose="02040503050406030204" pitchFamily="18" charset="0"/>
                          </a:rPr>
                          <m:t>4</m:t>
                        </m:r>
                      </m:den>
                    </m:f>
                  </m:oMath>
                </a14:m>
                <a:endParaRPr lang="en-NZ" sz="2400" b="0" dirty="0"/>
              </a:p>
              <a:p>
                <a:pPr>
                  <a:buFontTx/>
                  <a:buChar char="-"/>
                </a:pPr>
                <a:endParaRPr lang="en-NZ" sz="2400" b="0" dirty="0"/>
              </a:p>
              <a:p>
                <a:pPr>
                  <a:buFontTx/>
                  <a:buChar char="-"/>
                </a:pPr>
                <a:r>
                  <a:rPr lang="en-NZ" sz="2400" dirty="0"/>
                  <a:t> Calculate the mass flow rate: </a:t>
                </a:r>
                <a14:m>
                  <m:oMath xmlns:m="http://schemas.openxmlformats.org/officeDocument/2006/math">
                    <m:acc>
                      <m:accPr>
                        <m:chr m:val="̇"/>
                        <m:ctrlPr>
                          <a:rPr lang="en-NZ" sz="2400" i="1" smtClean="0">
                            <a:latin typeface="Cambria Math" panose="02040503050406030204" pitchFamily="18" charset="0"/>
                          </a:rPr>
                        </m:ctrlPr>
                      </m:accPr>
                      <m:e>
                        <m:r>
                          <a:rPr lang="en-NZ" sz="2400" b="0" i="1" smtClean="0">
                            <a:latin typeface="Cambria Math" panose="02040503050406030204" pitchFamily="18" charset="0"/>
                          </a:rPr>
                          <m:t>𝑚</m:t>
                        </m:r>
                      </m:e>
                    </m:acc>
                    <m:r>
                      <a:rPr lang="en-NZ" sz="2400" b="0" i="1" smtClean="0">
                        <a:latin typeface="Cambria Math" panose="02040503050406030204" pitchFamily="18" charset="0"/>
                      </a:rPr>
                      <m:t>=</m:t>
                    </m:r>
                    <m:r>
                      <a:rPr lang="en-NZ" sz="2400" b="0" i="1" smtClean="0">
                        <a:latin typeface="Cambria Math" panose="02040503050406030204" pitchFamily="18" charset="0"/>
                        <a:ea typeface="Cambria Math" panose="02040503050406030204" pitchFamily="18" charset="0"/>
                      </a:rPr>
                      <m:t>𝜌</m:t>
                    </m:r>
                    <m:r>
                      <a:rPr lang="en-NZ" sz="2400" b="0" i="1" smtClean="0">
                        <a:latin typeface="Cambria Math" panose="02040503050406030204" pitchFamily="18" charset="0"/>
                        <a:ea typeface="Cambria Math" panose="02040503050406030204" pitchFamily="18" charset="0"/>
                      </a:rPr>
                      <m:t>𝐴𝑉</m:t>
                    </m:r>
                  </m:oMath>
                </a14:m>
                <a:r>
                  <a:rPr lang="en-NZ" sz="2400" dirty="0"/>
                  <a:t> </a:t>
                </a:r>
              </a:p>
              <a:p>
                <a:pPr>
                  <a:buFontTx/>
                  <a:buChar char="-"/>
                </a:pPr>
                <a:endParaRPr lang="en-NZ" sz="2400" dirty="0"/>
              </a:p>
              <a:p>
                <a:pPr>
                  <a:buFontTx/>
                  <a:buChar char="-"/>
                </a:pPr>
                <a:r>
                  <a:rPr lang="en-NZ" sz="2400" dirty="0"/>
                  <a:t> Apply the steady-flow energy balance: </a:t>
                </a:r>
                <a14:m>
                  <m:oMath xmlns:m="http://schemas.openxmlformats.org/officeDocument/2006/math">
                    <m:acc>
                      <m:accPr>
                        <m:chr m:val="̇"/>
                        <m:ctrlPr>
                          <a:rPr lang="en-NZ" sz="2400" i="1" smtClean="0">
                            <a:latin typeface="Cambria Math" panose="02040503050406030204" pitchFamily="18" charset="0"/>
                          </a:rPr>
                        </m:ctrlPr>
                      </m:accPr>
                      <m:e>
                        <m:r>
                          <a:rPr lang="en-NZ" sz="2400" b="0" i="1" smtClean="0">
                            <a:latin typeface="Cambria Math" panose="02040503050406030204" pitchFamily="18" charset="0"/>
                          </a:rPr>
                          <m:t>𝑄</m:t>
                        </m:r>
                      </m:e>
                    </m:acc>
                    <m:r>
                      <a:rPr lang="en-NZ" sz="2400" b="0" i="1" smtClean="0">
                        <a:latin typeface="Cambria Math" panose="02040503050406030204" pitchFamily="18" charset="0"/>
                      </a:rPr>
                      <m:t>=</m:t>
                    </m:r>
                    <m:acc>
                      <m:accPr>
                        <m:chr m:val="̇"/>
                        <m:ctrlPr>
                          <a:rPr lang="en-NZ" sz="2400" b="0" i="1" smtClean="0">
                            <a:latin typeface="Cambria Math" panose="02040503050406030204" pitchFamily="18" charset="0"/>
                          </a:rPr>
                        </m:ctrlPr>
                      </m:accPr>
                      <m:e>
                        <m:r>
                          <a:rPr lang="en-NZ" sz="2400" b="0" i="1" smtClean="0">
                            <a:latin typeface="Cambria Math" panose="02040503050406030204" pitchFamily="18" charset="0"/>
                          </a:rPr>
                          <m:t>𝑚</m:t>
                        </m:r>
                      </m:e>
                    </m:acc>
                    <m:sSub>
                      <m:sSubPr>
                        <m:ctrlPr>
                          <a:rPr lang="en-NZ" sz="2400" i="1" smtClean="0">
                            <a:latin typeface="Cambria Math" panose="02040503050406030204" pitchFamily="18" charset="0"/>
                          </a:rPr>
                        </m:ctrlPr>
                      </m:sSubPr>
                      <m:e>
                        <m:r>
                          <a:rPr lang="en-NZ" sz="2400" b="0" i="1" smtClean="0">
                            <a:latin typeface="Cambria Math" panose="02040503050406030204" pitchFamily="18" charset="0"/>
                          </a:rPr>
                          <m:t>𝐶</m:t>
                        </m:r>
                      </m:e>
                      <m:sub>
                        <m:r>
                          <a:rPr lang="en-NZ" sz="2400" b="0" i="1" smtClean="0">
                            <a:latin typeface="Cambria Math" panose="02040503050406030204" pitchFamily="18" charset="0"/>
                          </a:rPr>
                          <m:t>𝑝</m:t>
                        </m:r>
                      </m:sub>
                    </m:sSub>
                    <m:r>
                      <a:rPr lang="en-NZ" sz="2400" b="0" i="1" smtClean="0">
                        <a:latin typeface="Cambria Math" panose="02040503050406030204" pitchFamily="18" charset="0"/>
                      </a:rPr>
                      <m:t>(</m:t>
                    </m:r>
                    <m:sSub>
                      <m:sSubPr>
                        <m:ctrlPr>
                          <a:rPr lang="en-NZ" sz="2400" b="0" i="1" smtClean="0">
                            <a:latin typeface="Cambria Math" panose="02040503050406030204" pitchFamily="18" charset="0"/>
                          </a:rPr>
                        </m:ctrlPr>
                      </m:sSubPr>
                      <m:e>
                        <m:r>
                          <a:rPr lang="en-NZ" sz="2400" b="0" i="1" smtClean="0">
                            <a:latin typeface="Cambria Math" panose="02040503050406030204" pitchFamily="18" charset="0"/>
                          </a:rPr>
                          <m:t>𝑇</m:t>
                        </m:r>
                      </m:e>
                      <m:sub>
                        <m:r>
                          <a:rPr lang="en-NZ" sz="2400" b="0" i="1" smtClean="0">
                            <a:latin typeface="Cambria Math" panose="02040503050406030204" pitchFamily="18" charset="0"/>
                          </a:rPr>
                          <m:t>𝑜𝑢𝑡</m:t>
                        </m:r>
                      </m:sub>
                    </m:sSub>
                    <m:r>
                      <a:rPr lang="en-NZ" sz="2400" b="0" i="1" smtClean="0">
                        <a:latin typeface="Cambria Math" panose="02040503050406030204" pitchFamily="18" charset="0"/>
                      </a:rPr>
                      <m:t>−</m:t>
                    </m:r>
                    <m:sSub>
                      <m:sSubPr>
                        <m:ctrlPr>
                          <a:rPr lang="en-NZ" sz="2400" b="0" i="1" smtClean="0">
                            <a:latin typeface="Cambria Math" panose="02040503050406030204" pitchFamily="18" charset="0"/>
                          </a:rPr>
                        </m:ctrlPr>
                      </m:sSubPr>
                      <m:e>
                        <m:r>
                          <a:rPr lang="en-NZ" sz="2400" b="0" i="1" smtClean="0">
                            <a:latin typeface="Cambria Math" panose="02040503050406030204" pitchFamily="18" charset="0"/>
                          </a:rPr>
                          <m:t>𝑇</m:t>
                        </m:r>
                      </m:e>
                      <m:sub>
                        <m:r>
                          <a:rPr lang="en-NZ" sz="2400" b="0" i="1" smtClean="0">
                            <a:latin typeface="Cambria Math" panose="02040503050406030204" pitchFamily="18" charset="0"/>
                          </a:rPr>
                          <m:t>𝑖𝑛</m:t>
                        </m:r>
                      </m:sub>
                    </m:sSub>
                    <m:r>
                      <a:rPr lang="en-NZ" sz="2400" b="0" i="1" smtClean="0">
                        <a:latin typeface="Cambria Math" panose="02040503050406030204" pitchFamily="18" charset="0"/>
                      </a:rPr>
                      <m:t>)</m:t>
                    </m:r>
                  </m:oMath>
                </a14:m>
                <a:endParaRPr lang="en-NZ" sz="2400" dirty="0"/>
              </a:p>
            </p:txBody>
          </p:sp>
        </mc:Choice>
        <mc:Fallback>
          <p:sp>
            <p:nvSpPr>
              <p:cNvPr id="3" name="Content Placeholder 2">
                <a:extLst>
                  <a:ext uri="{FF2B5EF4-FFF2-40B4-BE49-F238E27FC236}">
                    <a16:creationId xmlns:a16="http://schemas.microsoft.com/office/drawing/2014/main" id="{888773A1-7B0A-3F90-98BD-3CBFA4BEADCA}"/>
                  </a:ext>
                </a:extLst>
              </p:cNvPr>
              <p:cNvSpPr>
                <a:spLocks noGrp="1" noRot="1" noChangeAspect="1" noMove="1" noResize="1" noEditPoints="1" noAdjustHandles="1" noChangeArrowheads="1" noChangeShapeType="1" noTextEdit="1"/>
              </p:cNvSpPr>
              <p:nvPr>
                <p:ph idx="1"/>
              </p:nvPr>
            </p:nvSpPr>
            <p:spPr>
              <a:xfrm>
                <a:off x="417576" y="2242121"/>
                <a:ext cx="10789920" cy="4351338"/>
              </a:xfrm>
              <a:blipFill>
                <a:blip r:embed="rId2"/>
                <a:stretch>
                  <a:fillRect l="-904"/>
                </a:stretch>
              </a:blipFill>
            </p:spPr>
            <p:txBody>
              <a:bodyPr/>
              <a:lstStyle/>
              <a:p>
                <a:r>
                  <a:rPr lang="en-NZ">
                    <a:noFill/>
                  </a:rPr>
                  <a:t> </a:t>
                </a:r>
              </a:p>
            </p:txBody>
          </p:sp>
        </mc:Fallback>
      </mc:AlternateContent>
    </p:spTree>
    <p:extLst>
      <p:ext uri="{BB962C8B-B14F-4D97-AF65-F5344CB8AC3E}">
        <p14:creationId xmlns:p14="http://schemas.microsoft.com/office/powerpoint/2010/main" val="1716566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5B032-4E3D-5711-F037-F35DEBB8F292}"/>
              </a:ext>
            </a:extLst>
          </p:cNvPr>
          <p:cNvSpPr>
            <a:spLocks noGrp="1"/>
          </p:cNvSpPr>
          <p:nvPr>
            <p:ph type="title"/>
          </p:nvPr>
        </p:nvSpPr>
        <p:spPr>
          <a:xfrm>
            <a:off x="838200" y="410845"/>
            <a:ext cx="10515600" cy="1325563"/>
          </a:xfrm>
        </p:spPr>
        <p:txBody>
          <a:bodyPr>
            <a:noAutofit/>
          </a:bodyPr>
          <a:lstStyle/>
          <a:p>
            <a:pPr algn="just"/>
            <a:r>
              <a:rPr lang="en-NZ" sz="2400" dirty="0"/>
              <a:t>Q8) </a:t>
            </a:r>
            <a:r>
              <a:rPr lang="en-US" sz="2400" dirty="0"/>
              <a:t>An ordinary egg can be approximated as a 5.5-cm-diameter sphere. The egg is initially at a uniform temperature of 4°C and is dropped into boiling water at 97°C. Taking the properties of the egg to be ρ = 1020 kg/m</a:t>
            </a:r>
            <a:r>
              <a:rPr lang="en-US" sz="2400" baseline="30000" dirty="0"/>
              <a:t>3</a:t>
            </a:r>
            <a:r>
              <a:rPr lang="en-US" sz="2400" dirty="0"/>
              <a:t> and cp = 3.32 kJ/kg·°C, determine how much heat is transferred to the egg by the time the average temperature of the egg rises to 90°C.</a:t>
            </a:r>
            <a:endParaRPr lang="en-NZ" sz="24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FDB80B9-2714-63BD-55D7-858C9691CE47}"/>
                  </a:ext>
                </a:extLst>
              </p:cNvPr>
              <p:cNvSpPr>
                <a:spLocks noGrp="1"/>
              </p:cNvSpPr>
              <p:nvPr>
                <p:ph idx="1"/>
              </p:nvPr>
            </p:nvSpPr>
            <p:spPr>
              <a:xfrm>
                <a:off x="838200" y="2095817"/>
                <a:ext cx="11423904" cy="4351338"/>
              </a:xfrm>
            </p:spPr>
            <p:txBody>
              <a:bodyPr/>
              <a:lstStyle/>
              <a:p>
                <a:pPr>
                  <a:buFontTx/>
                  <a:buChar char="-"/>
                </a:pPr>
                <a:r>
                  <a:rPr lang="en-NZ" dirty="0"/>
                  <a:t>Calculate the egg volume (assume as a sphere) : </a:t>
                </a:r>
                <a14:m>
                  <m:oMath xmlns:m="http://schemas.openxmlformats.org/officeDocument/2006/math">
                    <m:r>
                      <a:rPr lang="en-NZ" b="0" i="1" smtClean="0">
                        <a:latin typeface="Cambria Math" panose="02040503050406030204" pitchFamily="18" charset="0"/>
                      </a:rPr>
                      <m:t>𝑉</m:t>
                    </m:r>
                    <m:r>
                      <a:rPr lang="en-NZ" b="0" i="1" smtClean="0">
                        <a:latin typeface="Cambria Math" panose="02040503050406030204" pitchFamily="18" charset="0"/>
                      </a:rPr>
                      <m:t>=</m:t>
                    </m:r>
                    <m:f>
                      <m:fPr>
                        <m:ctrlPr>
                          <a:rPr lang="en-NZ" b="0" i="1" smtClean="0">
                            <a:latin typeface="Cambria Math" panose="02040503050406030204" pitchFamily="18" charset="0"/>
                          </a:rPr>
                        </m:ctrlPr>
                      </m:fPr>
                      <m:num>
                        <m:r>
                          <a:rPr lang="en-NZ" b="0" i="1" smtClean="0">
                            <a:latin typeface="Cambria Math" panose="02040503050406030204" pitchFamily="18" charset="0"/>
                          </a:rPr>
                          <m:t>4</m:t>
                        </m:r>
                      </m:num>
                      <m:den>
                        <m:r>
                          <a:rPr lang="en-NZ" b="0" i="1" smtClean="0">
                            <a:latin typeface="Cambria Math" panose="02040503050406030204" pitchFamily="18" charset="0"/>
                          </a:rPr>
                          <m:t>3</m:t>
                        </m:r>
                      </m:den>
                    </m:f>
                    <m:r>
                      <a:rPr lang="en-NZ" b="0" i="1" smtClean="0">
                        <a:latin typeface="Cambria Math" panose="02040503050406030204" pitchFamily="18" charset="0"/>
                        <a:ea typeface="Cambria Math" panose="02040503050406030204" pitchFamily="18" charset="0"/>
                      </a:rPr>
                      <m:t>𝜋</m:t>
                    </m:r>
                    <m:sSup>
                      <m:sSupPr>
                        <m:ctrlPr>
                          <a:rPr lang="en-NZ" b="0" i="1" smtClean="0">
                            <a:latin typeface="Cambria Math" panose="02040503050406030204" pitchFamily="18" charset="0"/>
                            <a:ea typeface="Cambria Math" panose="02040503050406030204" pitchFamily="18" charset="0"/>
                          </a:rPr>
                        </m:ctrlPr>
                      </m:sSupPr>
                      <m:e>
                        <m:r>
                          <a:rPr lang="en-NZ" b="0" i="1" smtClean="0">
                            <a:latin typeface="Cambria Math" panose="02040503050406030204" pitchFamily="18" charset="0"/>
                            <a:ea typeface="Cambria Math" panose="02040503050406030204" pitchFamily="18" charset="0"/>
                          </a:rPr>
                          <m:t>𝑟</m:t>
                        </m:r>
                      </m:e>
                      <m:sup>
                        <m:r>
                          <a:rPr lang="en-NZ" b="0" i="1" smtClean="0">
                            <a:latin typeface="Cambria Math" panose="02040503050406030204" pitchFamily="18" charset="0"/>
                            <a:ea typeface="Cambria Math" panose="02040503050406030204" pitchFamily="18" charset="0"/>
                          </a:rPr>
                          <m:t>3</m:t>
                        </m:r>
                      </m:sup>
                    </m:sSup>
                  </m:oMath>
                </a14:m>
                <a:endParaRPr lang="en-NZ" dirty="0"/>
              </a:p>
              <a:p>
                <a:pPr>
                  <a:buFontTx/>
                  <a:buChar char="-"/>
                </a:pPr>
                <a:r>
                  <a:rPr lang="en-NZ" dirty="0"/>
                  <a:t>Calculate the egg mass: </a:t>
                </a:r>
                <a14:m>
                  <m:oMath xmlns:m="http://schemas.openxmlformats.org/officeDocument/2006/math">
                    <m:r>
                      <a:rPr lang="en-NZ" b="0" i="1" smtClean="0">
                        <a:latin typeface="Cambria Math" panose="02040503050406030204" pitchFamily="18" charset="0"/>
                      </a:rPr>
                      <m:t>𝑚</m:t>
                    </m:r>
                    <m:r>
                      <a:rPr lang="en-NZ" b="0" i="1" smtClean="0">
                        <a:latin typeface="Cambria Math" panose="02040503050406030204" pitchFamily="18" charset="0"/>
                      </a:rPr>
                      <m:t>=</m:t>
                    </m:r>
                    <m:r>
                      <a:rPr lang="en-NZ" b="0" i="1" smtClean="0">
                        <a:latin typeface="Cambria Math" panose="02040503050406030204" pitchFamily="18" charset="0"/>
                        <a:ea typeface="Cambria Math" panose="02040503050406030204" pitchFamily="18" charset="0"/>
                      </a:rPr>
                      <m:t>𝜌</m:t>
                    </m:r>
                    <m:r>
                      <a:rPr lang="en-NZ" b="0" i="1" smtClean="0">
                        <a:latin typeface="Cambria Math" panose="02040503050406030204" pitchFamily="18" charset="0"/>
                        <a:ea typeface="Cambria Math" panose="02040503050406030204" pitchFamily="18" charset="0"/>
                      </a:rPr>
                      <m:t>𝑉</m:t>
                    </m:r>
                  </m:oMath>
                </a14:m>
                <a:endParaRPr lang="en-NZ" dirty="0"/>
              </a:p>
              <a:p>
                <a:pPr>
                  <a:buFontTx/>
                  <a:buChar char="-"/>
                </a:pPr>
                <a:r>
                  <a:rPr lang="en-NZ" dirty="0"/>
                  <a:t> Calculate the heat transferred:  </a:t>
                </a:r>
                <a14:m>
                  <m:oMath xmlns:m="http://schemas.openxmlformats.org/officeDocument/2006/math">
                    <m:r>
                      <a:rPr lang="en-NZ" b="0" i="1" smtClean="0">
                        <a:latin typeface="Cambria Math" panose="02040503050406030204" pitchFamily="18" charset="0"/>
                      </a:rPr>
                      <m:t>𝑄</m:t>
                    </m:r>
                    <m:r>
                      <a:rPr lang="en-NZ" b="0" i="1" smtClean="0">
                        <a:latin typeface="Cambria Math" panose="02040503050406030204" pitchFamily="18" charset="0"/>
                      </a:rPr>
                      <m:t>=</m:t>
                    </m:r>
                    <m:r>
                      <a:rPr lang="en-NZ" b="0" i="1" smtClean="0">
                        <a:latin typeface="Cambria Math" panose="02040503050406030204" pitchFamily="18" charset="0"/>
                      </a:rPr>
                      <m:t>𝑚</m:t>
                    </m:r>
                    <m:sSub>
                      <m:sSubPr>
                        <m:ctrlPr>
                          <a:rPr lang="en-NZ" b="0" i="1" smtClean="0">
                            <a:latin typeface="Cambria Math" panose="02040503050406030204" pitchFamily="18" charset="0"/>
                          </a:rPr>
                        </m:ctrlPr>
                      </m:sSubPr>
                      <m:e>
                        <m:r>
                          <a:rPr lang="en-NZ" b="0" i="1" smtClean="0">
                            <a:latin typeface="Cambria Math" panose="02040503050406030204" pitchFamily="18" charset="0"/>
                          </a:rPr>
                          <m:t>𝐶</m:t>
                        </m:r>
                      </m:e>
                      <m:sub>
                        <m:r>
                          <a:rPr lang="en-NZ" b="0" i="1" smtClean="0">
                            <a:latin typeface="Cambria Math" panose="02040503050406030204" pitchFamily="18" charset="0"/>
                          </a:rPr>
                          <m:t>𝑝</m:t>
                        </m:r>
                      </m:sub>
                    </m:sSub>
                    <m:r>
                      <a:rPr lang="en-NZ" b="0" i="1" smtClean="0">
                        <a:latin typeface="Cambria Math" panose="02040503050406030204" pitchFamily="18" charset="0"/>
                      </a:rPr>
                      <m:t>(</m:t>
                    </m:r>
                    <m:sSub>
                      <m:sSubPr>
                        <m:ctrlPr>
                          <a:rPr lang="en-NZ" b="0" i="1" smtClean="0">
                            <a:latin typeface="Cambria Math" panose="02040503050406030204" pitchFamily="18" charset="0"/>
                          </a:rPr>
                        </m:ctrlPr>
                      </m:sSubPr>
                      <m:e>
                        <m:r>
                          <a:rPr lang="en-NZ" b="0" i="1" smtClean="0">
                            <a:latin typeface="Cambria Math" panose="02040503050406030204" pitchFamily="18" charset="0"/>
                          </a:rPr>
                          <m:t>𝑇</m:t>
                        </m:r>
                      </m:e>
                      <m:sub>
                        <m:r>
                          <a:rPr lang="en-NZ" b="0" i="1" smtClean="0">
                            <a:latin typeface="Cambria Math" panose="02040503050406030204" pitchFamily="18" charset="0"/>
                          </a:rPr>
                          <m:t>2</m:t>
                        </m:r>
                      </m:sub>
                    </m:sSub>
                    <m:r>
                      <a:rPr lang="en-NZ" b="0" i="1" smtClean="0">
                        <a:latin typeface="Cambria Math" panose="02040503050406030204" pitchFamily="18" charset="0"/>
                      </a:rPr>
                      <m:t>−</m:t>
                    </m:r>
                    <m:sSub>
                      <m:sSubPr>
                        <m:ctrlPr>
                          <a:rPr lang="en-NZ" b="0" i="1" smtClean="0">
                            <a:latin typeface="Cambria Math" panose="02040503050406030204" pitchFamily="18" charset="0"/>
                          </a:rPr>
                        </m:ctrlPr>
                      </m:sSubPr>
                      <m:e>
                        <m:r>
                          <a:rPr lang="en-NZ" b="0" i="1" smtClean="0">
                            <a:latin typeface="Cambria Math" panose="02040503050406030204" pitchFamily="18" charset="0"/>
                          </a:rPr>
                          <m:t>𝑇</m:t>
                        </m:r>
                      </m:e>
                      <m:sub>
                        <m:r>
                          <a:rPr lang="en-NZ" b="0" i="1" smtClean="0">
                            <a:latin typeface="Cambria Math" panose="02040503050406030204" pitchFamily="18" charset="0"/>
                          </a:rPr>
                          <m:t>1</m:t>
                        </m:r>
                      </m:sub>
                    </m:sSub>
                    <m:r>
                      <a:rPr lang="en-NZ" b="0" i="1" smtClean="0">
                        <a:latin typeface="Cambria Math" panose="02040503050406030204" pitchFamily="18" charset="0"/>
                      </a:rPr>
                      <m:t>)</m:t>
                    </m:r>
                  </m:oMath>
                </a14:m>
                <a:endParaRPr lang="en-NZ" dirty="0"/>
              </a:p>
              <a:p>
                <a:pPr>
                  <a:buFontTx/>
                  <a:buChar char="-"/>
                </a:pPr>
                <a:endParaRPr lang="en-NZ" dirty="0"/>
              </a:p>
              <a:p>
                <a:pPr marL="0" indent="0">
                  <a:buNone/>
                </a:pPr>
                <a:endParaRPr lang="en-NZ" dirty="0"/>
              </a:p>
              <a:p>
                <a:pPr marL="0" indent="0">
                  <a:buNone/>
                </a:pPr>
                <a:r>
                  <a:rPr lang="en-NZ" dirty="0">
                    <a:highlight>
                      <a:srgbClr val="FFFF00"/>
                    </a:highlight>
                  </a:rPr>
                  <a:t>The boiling-water temperature is not required for this energy calculation.</a:t>
                </a:r>
              </a:p>
            </p:txBody>
          </p:sp>
        </mc:Choice>
        <mc:Fallback>
          <p:sp>
            <p:nvSpPr>
              <p:cNvPr id="3" name="Content Placeholder 2">
                <a:extLst>
                  <a:ext uri="{FF2B5EF4-FFF2-40B4-BE49-F238E27FC236}">
                    <a16:creationId xmlns:a16="http://schemas.microsoft.com/office/drawing/2014/main" id="{9FDB80B9-2714-63BD-55D7-858C9691CE47}"/>
                  </a:ext>
                </a:extLst>
              </p:cNvPr>
              <p:cNvSpPr>
                <a:spLocks noGrp="1" noRot="1" noChangeAspect="1" noMove="1" noResize="1" noEditPoints="1" noAdjustHandles="1" noChangeArrowheads="1" noChangeShapeType="1" noTextEdit="1"/>
              </p:cNvSpPr>
              <p:nvPr>
                <p:ph idx="1"/>
              </p:nvPr>
            </p:nvSpPr>
            <p:spPr>
              <a:xfrm>
                <a:off x="838200" y="2095817"/>
                <a:ext cx="11423904" cy="4351338"/>
              </a:xfrm>
              <a:blipFill>
                <a:blip r:embed="rId2"/>
                <a:stretch>
                  <a:fillRect l="-1121" t="-420"/>
                </a:stretch>
              </a:blipFill>
            </p:spPr>
            <p:txBody>
              <a:bodyPr/>
              <a:lstStyle/>
              <a:p>
                <a:r>
                  <a:rPr lang="en-NZ">
                    <a:noFill/>
                  </a:rPr>
                  <a:t> </a:t>
                </a:r>
              </a:p>
            </p:txBody>
          </p:sp>
        </mc:Fallback>
      </mc:AlternateContent>
    </p:spTree>
    <p:extLst>
      <p:ext uri="{BB962C8B-B14F-4D97-AF65-F5344CB8AC3E}">
        <p14:creationId xmlns:p14="http://schemas.microsoft.com/office/powerpoint/2010/main" val="3282907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6E593-0088-C4DC-F09F-50AF86C782AA}"/>
              </a:ext>
            </a:extLst>
          </p:cNvPr>
          <p:cNvSpPr>
            <a:spLocks noGrp="1"/>
          </p:cNvSpPr>
          <p:nvPr>
            <p:ph type="title"/>
          </p:nvPr>
        </p:nvSpPr>
        <p:spPr>
          <a:xfrm>
            <a:off x="838200" y="365125"/>
            <a:ext cx="10628376" cy="1325563"/>
          </a:xfrm>
        </p:spPr>
        <p:txBody>
          <a:bodyPr>
            <a:normAutofit fontScale="90000"/>
          </a:bodyPr>
          <a:lstStyle/>
          <a:p>
            <a:pPr algn="just"/>
            <a:r>
              <a:rPr lang="en-NZ" sz="2700" dirty="0"/>
              <a:t>Q9) </a:t>
            </a:r>
            <a:r>
              <a:rPr lang="en-US" sz="2700" dirty="0"/>
              <a:t>A frictionless piston is used to provide a constant pressure of 400 kPa in a cylinder containing steam originally at 200℃ with a volume of 2 m</a:t>
            </a:r>
            <a:r>
              <a:rPr lang="en-US" sz="2700" baseline="30000" dirty="0"/>
              <a:t>3</a:t>
            </a:r>
            <a:r>
              <a:rPr lang="en-US" sz="2700" dirty="0"/>
              <a:t>. Calculate the final temperature if 3500 kJ of heat is added using the concept of enthalpy and the steam tables.</a:t>
            </a:r>
            <a:endParaRPr lang="en-NZ" sz="2700" dirty="0"/>
          </a:p>
        </p:txBody>
      </p:sp>
      <p:pic>
        <p:nvPicPr>
          <p:cNvPr id="5" name="Content Placeholder 4">
            <a:extLst>
              <a:ext uri="{FF2B5EF4-FFF2-40B4-BE49-F238E27FC236}">
                <a16:creationId xmlns:a16="http://schemas.microsoft.com/office/drawing/2014/main" id="{71547BE6-8E9E-8A3E-2C78-EE66F6BCDF3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296" t="11243" r="8974" b="5842"/>
          <a:stretch>
            <a:fillRect/>
          </a:stretch>
        </p:blipFill>
        <p:spPr>
          <a:xfrm>
            <a:off x="309753" y="2099692"/>
            <a:ext cx="5650069" cy="1636775"/>
          </a:xfrm>
          <a:prstGeom prst="rect">
            <a:avLst/>
          </a:prstGeom>
        </p:spPr>
      </p:pic>
      <p:pic>
        <p:nvPicPr>
          <p:cNvPr id="12" name="Picture 11">
            <a:extLst>
              <a:ext uri="{FF2B5EF4-FFF2-40B4-BE49-F238E27FC236}">
                <a16:creationId xmlns:a16="http://schemas.microsoft.com/office/drawing/2014/main" id="{C6AEB544-483D-463F-A3D6-39CE74DA5E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8540" y="1828258"/>
            <a:ext cx="4948036" cy="2474018"/>
          </a:xfrm>
          <a:prstGeom prst="rect">
            <a:avLst/>
          </a:prstGeom>
        </p:spPr>
      </p:pic>
    </p:spTree>
    <p:extLst>
      <p:ext uri="{BB962C8B-B14F-4D97-AF65-F5344CB8AC3E}">
        <p14:creationId xmlns:p14="http://schemas.microsoft.com/office/powerpoint/2010/main" val="2653722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BCD0E-EB1E-6C5B-948D-C6400E11C4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B9FB7-9552-6B6E-F08B-8FF04B9A6140}"/>
              </a:ext>
            </a:extLst>
          </p:cNvPr>
          <p:cNvSpPr>
            <a:spLocks noGrp="1"/>
          </p:cNvSpPr>
          <p:nvPr>
            <p:ph type="title"/>
          </p:nvPr>
        </p:nvSpPr>
        <p:spPr>
          <a:xfrm>
            <a:off x="838200" y="365125"/>
            <a:ext cx="10628376" cy="1325563"/>
          </a:xfrm>
        </p:spPr>
        <p:txBody>
          <a:bodyPr>
            <a:normAutofit fontScale="90000"/>
          </a:bodyPr>
          <a:lstStyle/>
          <a:p>
            <a:pPr algn="just"/>
            <a:r>
              <a:rPr lang="en-NZ" sz="2700" dirty="0"/>
              <a:t>Q9) </a:t>
            </a:r>
            <a:r>
              <a:rPr lang="en-US" sz="2700" dirty="0"/>
              <a:t>A frictionless piston is used to provide a constant pressure of 400 kPa in a cylinder containing steam originally at 200℃ with a volume of 2 m</a:t>
            </a:r>
            <a:r>
              <a:rPr lang="en-US" sz="2700" baseline="30000" dirty="0"/>
              <a:t>3</a:t>
            </a:r>
            <a:r>
              <a:rPr lang="en-US" sz="2700" dirty="0"/>
              <a:t>. Calculate the final temperature if 3500 kJ of heat is added using the concept of enthalpy and the steam tables.</a:t>
            </a:r>
            <a:endParaRPr lang="en-NZ" sz="2700" dirty="0"/>
          </a:p>
        </p:txBody>
      </p:sp>
      <p:sp>
        <p:nvSpPr>
          <p:cNvPr id="4" name="Content Placeholder 3">
            <a:extLst>
              <a:ext uri="{FF2B5EF4-FFF2-40B4-BE49-F238E27FC236}">
                <a16:creationId xmlns:a16="http://schemas.microsoft.com/office/drawing/2014/main" id="{9496B552-1D6E-4964-AAC8-3EF675719B06}"/>
              </a:ext>
            </a:extLst>
          </p:cNvPr>
          <p:cNvSpPr>
            <a:spLocks noGrp="1"/>
          </p:cNvSpPr>
          <p:nvPr>
            <p:ph idx="1"/>
          </p:nvPr>
        </p:nvSpPr>
        <p:spPr>
          <a:xfrm>
            <a:off x="838200" y="1853057"/>
            <a:ext cx="10515600" cy="4351338"/>
          </a:xfrm>
        </p:spPr>
        <p:txBody>
          <a:bodyPr/>
          <a:lstStyle/>
          <a:p>
            <a:pPr marL="0" indent="0">
              <a:buNone/>
            </a:pPr>
            <a:r>
              <a:rPr lang="en-NZ" dirty="0"/>
              <a:t> </a:t>
            </a:r>
          </a:p>
        </p:txBody>
      </p:sp>
      <p:pic>
        <p:nvPicPr>
          <p:cNvPr id="6" name="Content Placeholder 4">
            <a:extLst>
              <a:ext uri="{FF2B5EF4-FFF2-40B4-BE49-F238E27FC236}">
                <a16:creationId xmlns:a16="http://schemas.microsoft.com/office/drawing/2014/main" id="{030D402E-8772-4C9F-C1C5-1F919C00E4A0}"/>
              </a:ext>
            </a:extLst>
          </p:cNvPr>
          <p:cNvPicPr>
            <a:picLocks noChangeAspect="1"/>
          </p:cNvPicPr>
          <p:nvPr/>
        </p:nvPicPr>
        <p:blipFill>
          <a:blip r:embed="rId2">
            <a:extLst>
              <a:ext uri="{28A0092B-C50C-407E-A947-70E740481C1C}">
                <a14:useLocalDpi xmlns:a14="http://schemas.microsoft.com/office/drawing/2010/main" val="0"/>
              </a:ext>
            </a:extLst>
          </a:blip>
          <a:srcRect l="2296" t="11243" r="8974" b="5842"/>
          <a:stretch>
            <a:fillRect/>
          </a:stretch>
        </p:blipFill>
        <p:spPr>
          <a:xfrm>
            <a:off x="675513" y="1733932"/>
            <a:ext cx="5650069" cy="1636775"/>
          </a:xfrm>
          <a:prstGeom prst="rect">
            <a:avLst/>
          </a:prstGeom>
        </p:spPr>
      </p:pic>
      <p:pic>
        <p:nvPicPr>
          <p:cNvPr id="7" name="Picture 6">
            <a:extLst>
              <a:ext uri="{FF2B5EF4-FFF2-40B4-BE49-F238E27FC236}">
                <a16:creationId xmlns:a16="http://schemas.microsoft.com/office/drawing/2014/main" id="{90335F01-50BA-5004-0644-F3ED5CFA89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4300" y="1462498"/>
            <a:ext cx="4948036" cy="2474018"/>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FED371FF-7CA5-D4AB-DC7A-046835E6060F}"/>
                  </a:ext>
                </a:extLst>
              </p:cNvPr>
              <p:cNvSpPr txBox="1"/>
              <p:nvPr/>
            </p:nvSpPr>
            <p:spPr>
              <a:xfrm>
                <a:off x="667512" y="3979760"/>
                <a:ext cx="10799064" cy="2700868"/>
              </a:xfrm>
              <a:prstGeom prst="rect">
                <a:avLst/>
              </a:prstGeom>
              <a:noFill/>
            </p:spPr>
            <p:txBody>
              <a:bodyPr wrap="square" rtlCol="0">
                <a:spAutoFit/>
              </a:bodyPr>
              <a:lstStyle/>
              <a:p>
                <a:r>
                  <a:rPr lang="en-NZ" dirty="0"/>
                  <a:t>-  Identify the state: From </a:t>
                </a:r>
                <a:r>
                  <a:rPr lang="en-NZ" dirty="0">
                    <a:highlight>
                      <a:srgbClr val="FFFF00"/>
                    </a:highlight>
                  </a:rPr>
                  <a:t>Table A-5</a:t>
                </a:r>
                <a:r>
                  <a:rPr lang="en-NZ" dirty="0"/>
                  <a:t>, at </a:t>
                </a:r>
                <a14:m>
                  <m:oMath xmlns:m="http://schemas.openxmlformats.org/officeDocument/2006/math">
                    <m:sSub>
                      <m:sSubPr>
                        <m:ctrlPr>
                          <a:rPr lang="en-NZ"/>
                        </m:ctrlPr>
                      </m:sSubPr>
                      <m:e>
                        <m:r>
                          <a:rPr lang="en-NZ" b="0" i="1"/>
                          <m:t>𝑃</m:t>
                        </m:r>
                      </m:e>
                      <m:sub>
                        <m:r>
                          <a:rPr lang="en-NZ" b="0" i="1"/>
                          <m:t>1</m:t>
                        </m:r>
                      </m:sub>
                    </m:sSub>
                    <m:r>
                      <a:rPr lang="en-NZ" b="0"/>
                      <m:t>=</m:t>
                    </m:r>
                    <m:r>
                      <a:rPr lang="en-NZ" b="0" i="1"/>
                      <m:t>400</m:t>
                    </m:r>
                  </m:oMath>
                </a14:m>
                <a:r>
                  <a:rPr lang="en-NZ" dirty="0"/>
                  <a:t>kPa: </a:t>
                </a:r>
                <a14:m>
                  <m:oMath xmlns:m="http://schemas.openxmlformats.org/officeDocument/2006/math">
                    <m:sSub>
                      <m:sSubPr>
                        <m:ctrlPr>
                          <a:rPr lang="en-NZ"/>
                        </m:ctrlPr>
                      </m:sSubPr>
                      <m:e>
                        <m:r>
                          <a:rPr lang="en-NZ" b="0" i="1"/>
                          <m:t>𝑇</m:t>
                        </m:r>
                      </m:e>
                      <m:sub>
                        <m:r>
                          <a:rPr lang="en-NZ" b="0" i="1"/>
                          <m:t>𝑠𝑎𝑡</m:t>
                        </m:r>
                      </m:sub>
                    </m:sSub>
                    <m:r>
                      <a:rPr lang="en-NZ" b="0"/>
                      <m:t>=</m:t>
                    </m:r>
                    <m:sSup>
                      <m:sSupPr>
                        <m:ctrlPr>
                          <a:rPr lang="en-NZ" i="1"/>
                        </m:ctrlPr>
                      </m:sSupPr>
                      <m:e>
                        <m:r>
                          <a:rPr lang="en-NZ" b="0" i="1"/>
                          <m:t>143</m:t>
                        </m:r>
                        <m:r>
                          <a:rPr lang="en-NZ" b="0"/>
                          <m:t>.</m:t>
                        </m:r>
                        <m:r>
                          <a:rPr lang="en-NZ" b="0" i="1"/>
                          <m:t>6</m:t>
                        </m:r>
                      </m:e>
                      <m:sup>
                        <m:r>
                          <a:rPr lang="en-NZ" b="0"/>
                          <m:t>∘</m:t>
                        </m:r>
                      </m:sup>
                    </m:sSup>
                    <m:r>
                      <a:rPr lang="en-NZ" b="0" i="1"/>
                      <m:t>𝐶</m:t>
                    </m:r>
                    <m:r>
                      <a:rPr lang="en-NZ" b="0" i="1" smtClean="0">
                        <a:latin typeface="Cambria Math" panose="02040503050406030204" pitchFamily="18" charset="0"/>
                      </a:rPr>
                      <m:t>, </m:t>
                    </m:r>
                  </m:oMath>
                </a14:m>
                <a:r>
                  <a:rPr lang="en-NZ" dirty="0"/>
                  <a:t>Since </a:t>
                </a:r>
                <a14:m>
                  <m:oMath xmlns:m="http://schemas.openxmlformats.org/officeDocument/2006/math">
                    <m:sSub>
                      <m:sSubPr>
                        <m:ctrlPr>
                          <a:rPr lang="en-NZ"/>
                        </m:ctrlPr>
                      </m:sSubPr>
                      <m:e>
                        <m:r>
                          <a:rPr lang="en-NZ" b="0" i="1"/>
                          <m:t>𝑇</m:t>
                        </m:r>
                      </m:e>
                      <m:sub>
                        <m:r>
                          <a:rPr lang="en-NZ" b="0" i="1"/>
                          <m:t>1</m:t>
                        </m:r>
                      </m:sub>
                    </m:sSub>
                    <m:r>
                      <a:rPr lang="en-NZ" b="0"/>
                      <m:t>=</m:t>
                    </m:r>
                    <m:sSup>
                      <m:sSupPr>
                        <m:ctrlPr>
                          <a:rPr lang="en-NZ" i="1"/>
                        </m:ctrlPr>
                      </m:sSupPr>
                      <m:e>
                        <m:r>
                          <a:rPr lang="en-NZ" b="0" i="1"/>
                          <m:t>200</m:t>
                        </m:r>
                      </m:e>
                      <m:sup>
                        <m:r>
                          <a:rPr lang="en-NZ" b="0"/>
                          <m:t>∘</m:t>
                        </m:r>
                      </m:sup>
                    </m:sSup>
                    <m:r>
                      <a:rPr lang="en-NZ" b="0" i="1"/>
                      <m:t>𝐶</m:t>
                    </m:r>
                    <m:r>
                      <a:rPr lang="en-NZ" b="0"/>
                      <m:t>&gt;</m:t>
                    </m:r>
                    <m:sSub>
                      <m:sSubPr>
                        <m:ctrlPr>
                          <a:rPr lang="en-NZ" i="1"/>
                        </m:ctrlPr>
                      </m:sSubPr>
                      <m:e>
                        <m:r>
                          <a:rPr lang="en-NZ" b="0" i="1"/>
                          <m:t>𝑇</m:t>
                        </m:r>
                      </m:e>
                      <m:sub>
                        <m:r>
                          <a:rPr lang="en-NZ" b="0" i="1"/>
                          <m:t>𝑠𝑎𝑡</m:t>
                        </m:r>
                      </m:sub>
                    </m:sSub>
                  </m:oMath>
                </a14:m>
                <a:r>
                  <a:rPr lang="en-NZ" dirty="0"/>
                  <a:t>, the steam is </a:t>
                </a:r>
                <a:r>
                  <a:rPr lang="en-NZ" dirty="0">
                    <a:highlight>
                      <a:srgbClr val="FFFF00"/>
                    </a:highlight>
                  </a:rPr>
                  <a:t>superheated</a:t>
                </a:r>
                <a:r>
                  <a:rPr lang="en-NZ" dirty="0"/>
                  <a:t>.</a:t>
                </a:r>
              </a:p>
              <a:p>
                <a:r>
                  <a:rPr lang="en-NZ" dirty="0"/>
                  <a:t>-</a:t>
                </a:r>
                <a:r>
                  <a:rPr lang="en-NZ" b="1" dirty="0"/>
                  <a:t>   </a:t>
                </a:r>
                <a:r>
                  <a:rPr lang="en-NZ" dirty="0"/>
                  <a:t>Use </a:t>
                </a:r>
                <a:r>
                  <a:rPr lang="en-NZ" dirty="0">
                    <a:highlight>
                      <a:srgbClr val="FFFF00"/>
                    </a:highlight>
                  </a:rPr>
                  <a:t>Table A-6</a:t>
                </a:r>
                <a:r>
                  <a:rPr lang="en-NZ" b="1" dirty="0"/>
                  <a:t>:</a:t>
                </a:r>
                <a:r>
                  <a:rPr lang="en-NZ" dirty="0"/>
                  <a:t> At </a:t>
                </a:r>
                <a14:m>
                  <m:oMath xmlns:m="http://schemas.openxmlformats.org/officeDocument/2006/math">
                    <m:r>
                      <a:rPr lang="en-NZ"/>
                      <m:t>400</m:t>
                    </m:r>
                  </m:oMath>
                </a14:m>
                <a:r>
                  <a:rPr lang="en-NZ" dirty="0"/>
                  <a:t>kPa and </a:t>
                </a:r>
                <a14:m>
                  <m:oMath xmlns:m="http://schemas.openxmlformats.org/officeDocument/2006/math">
                    <m:sSup>
                      <m:sSupPr>
                        <m:ctrlPr>
                          <a:rPr lang="en-NZ"/>
                        </m:ctrlPr>
                      </m:sSupPr>
                      <m:e>
                        <m:r>
                          <a:rPr lang="en-NZ"/>
                          <m:t>200</m:t>
                        </m:r>
                      </m:e>
                      <m:sup>
                        <m:r>
                          <a:rPr lang="en-NZ"/>
                          <m:t>∘</m:t>
                        </m:r>
                      </m:sup>
                    </m:sSup>
                    <m:r>
                      <a:rPr lang="en-NZ" i="1"/>
                      <m:t>𝐶</m:t>
                    </m:r>
                    <m:r>
                      <a:rPr lang="en-NZ" b="0" i="0" smtClean="0">
                        <a:latin typeface="Cambria Math" panose="02040503050406030204" pitchFamily="18" charset="0"/>
                      </a:rPr>
                      <m:t> </m:t>
                    </m:r>
                    <m:r>
                      <m:rPr>
                        <m:sty m:val="p"/>
                      </m:rPr>
                      <a:rPr lang="en-NZ" b="0" i="0" smtClean="0">
                        <a:latin typeface="Cambria Math" panose="02040503050406030204" pitchFamily="18" charset="0"/>
                      </a:rPr>
                      <m:t>to</m:t>
                    </m:r>
                    <m:r>
                      <a:rPr lang="en-NZ" b="0" i="0" smtClean="0">
                        <a:latin typeface="Cambria Math" panose="02040503050406030204" pitchFamily="18" charset="0"/>
                      </a:rPr>
                      <m:t> </m:t>
                    </m:r>
                    <m:r>
                      <m:rPr>
                        <m:sty m:val="p"/>
                      </m:rPr>
                      <a:rPr lang="en-NZ" b="0" i="0" smtClean="0">
                        <a:latin typeface="Cambria Math" panose="02040503050406030204" pitchFamily="18" charset="0"/>
                      </a:rPr>
                      <m:t>find</m:t>
                    </m:r>
                    <m:r>
                      <a:rPr lang="en-NZ" b="0" i="0" smtClean="0">
                        <a:latin typeface="Cambria Math" panose="02040503050406030204" pitchFamily="18" charset="0"/>
                      </a:rPr>
                      <m:t> </m:t>
                    </m:r>
                    <m:r>
                      <m:rPr>
                        <m:sty m:val="p"/>
                      </m:rPr>
                      <a:rPr lang="en-NZ" b="0" i="0" smtClean="0">
                        <a:latin typeface="Cambria Math" panose="02040503050406030204" pitchFamily="18" charset="0"/>
                      </a:rPr>
                      <m:t>out</m:t>
                    </m:r>
                    <m:r>
                      <a:rPr lang="en-NZ" b="0" i="0" smtClean="0">
                        <a:latin typeface="Cambria Math" panose="02040503050406030204" pitchFamily="18" charset="0"/>
                      </a:rPr>
                      <m:t> </m:t>
                    </m:r>
                    <m:sSub>
                      <m:sSubPr>
                        <m:ctrlPr>
                          <a:rPr lang="en-NZ"/>
                        </m:ctrlPr>
                      </m:sSubPr>
                      <m:e>
                        <m:r>
                          <a:rPr lang="en-NZ" i="1"/>
                          <m:t>𝑣</m:t>
                        </m:r>
                      </m:e>
                      <m:sub>
                        <m:r>
                          <a:rPr lang="en-NZ"/>
                          <m:t>1</m:t>
                        </m:r>
                      </m:sub>
                    </m:sSub>
                    <m:r>
                      <a:rPr lang="en-NZ" b="0" i="0" smtClean="0">
                        <a:latin typeface="Cambria Math" panose="02040503050406030204" pitchFamily="18" charset="0"/>
                      </a:rPr>
                      <m:t> </m:t>
                    </m:r>
                    <m:r>
                      <a:rPr lang="en-NZ"/>
                      <m:t>, </m:t>
                    </m:r>
                    <m:sSub>
                      <m:sSubPr>
                        <m:ctrlPr>
                          <a:rPr lang="en-NZ" i="1"/>
                        </m:ctrlPr>
                      </m:sSubPr>
                      <m:e>
                        <m:r>
                          <a:rPr lang="en-NZ" i="1"/>
                          <m:t>h</m:t>
                        </m:r>
                      </m:e>
                      <m:sub>
                        <m:r>
                          <a:rPr lang="en-NZ"/>
                          <m:t>1</m:t>
                        </m:r>
                      </m:sub>
                    </m:sSub>
                  </m:oMath>
                </a14:m>
                <a:endParaRPr lang="en-NZ" dirty="0"/>
              </a:p>
              <a:p>
                <a:r>
                  <a:rPr lang="en-NZ" dirty="0"/>
                  <a:t>-  Calculate mass:  </a:t>
                </a:r>
                <a14:m>
                  <m:oMath xmlns:m="http://schemas.openxmlformats.org/officeDocument/2006/math">
                    <m:r>
                      <a:rPr lang="en-NZ" b="0" i="1" smtClean="0">
                        <a:latin typeface="Cambria Math" panose="02040503050406030204" pitchFamily="18" charset="0"/>
                      </a:rPr>
                      <m:t>𝑚</m:t>
                    </m:r>
                    <m:r>
                      <a:rPr lang="en-NZ" b="0" i="1" smtClean="0">
                        <a:latin typeface="Cambria Math" panose="02040503050406030204" pitchFamily="18" charset="0"/>
                      </a:rPr>
                      <m:t>=</m:t>
                    </m:r>
                    <m:f>
                      <m:fPr>
                        <m:ctrlPr>
                          <a:rPr lang="en-NZ" b="0" i="1" smtClean="0">
                            <a:latin typeface="Cambria Math" panose="02040503050406030204" pitchFamily="18" charset="0"/>
                          </a:rPr>
                        </m:ctrlPr>
                      </m:fPr>
                      <m:num>
                        <m:sSub>
                          <m:sSubPr>
                            <m:ctrlPr>
                              <a:rPr lang="en-NZ" b="0" i="1" smtClean="0">
                                <a:latin typeface="Cambria Math" panose="02040503050406030204" pitchFamily="18" charset="0"/>
                              </a:rPr>
                            </m:ctrlPr>
                          </m:sSubPr>
                          <m:e>
                            <m:r>
                              <a:rPr lang="en-NZ" b="0" i="1" smtClean="0">
                                <a:latin typeface="Cambria Math" panose="02040503050406030204" pitchFamily="18" charset="0"/>
                              </a:rPr>
                              <m:t>𝑉</m:t>
                            </m:r>
                          </m:e>
                          <m:sub>
                            <m:r>
                              <a:rPr lang="en-NZ" b="0" i="1" smtClean="0">
                                <a:latin typeface="Cambria Math" panose="02040503050406030204" pitchFamily="18" charset="0"/>
                              </a:rPr>
                              <m:t>1</m:t>
                            </m:r>
                          </m:sub>
                        </m:sSub>
                      </m:num>
                      <m:den>
                        <m:sSub>
                          <m:sSubPr>
                            <m:ctrlPr>
                              <a:rPr lang="en-NZ" b="0" i="1" smtClean="0">
                                <a:latin typeface="Cambria Math" panose="02040503050406030204" pitchFamily="18" charset="0"/>
                              </a:rPr>
                            </m:ctrlPr>
                          </m:sSubPr>
                          <m:e>
                            <m:r>
                              <a:rPr lang="en-NZ" b="0" i="1" smtClean="0">
                                <a:latin typeface="Cambria Math" panose="02040503050406030204" pitchFamily="18" charset="0"/>
                              </a:rPr>
                              <m:t>𝑣</m:t>
                            </m:r>
                          </m:e>
                          <m:sub>
                            <m:r>
                              <a:rPr lang="en-NZ" b="0" i="1" smtClean="0">
                                <a:latin typeface="Cambria Math" panose="02040503050406030204" pitchFamily="18" charset="0"/>
                              </a:rPr>
                              <m:t>1</m:t>
                            </m:r>
                          </m:sub>
                        </m:sSub>
                      </m:den>
                    </m:f>
                  </m:oMath>
                </a14:m>
                <a:endParaRPr lang="en-NZ" dirty="0"/>
              </a:p>
              <a:p>
                <a:r>
                  <a:rPr lang="en-NZ" dirty="0"/>
                  <a:t>-  Constant-pressure energy balance:</a:t>
                </a:r>
              </a:p>
              <a:p>
                <a14:m>
                  <m:oMathPara xmlns:m="http://schemas.openxmlformats.org/officeDocument/2006/math">
                    <m:oMathParaPr>
                      <m:jc m:val="centerGroup"/>
                    </m:oMathParaPr>
                    <m:oMath xmlns:m="http://schemas.openxmlformats.org/officeDocument/2006/math">
                      <m:r>
                        <a:rPr lang="en-NZ" i="1"/>
                        <m:t>𝑄</m:t>
                      </m:r>
                      <m:r>
                        <a:rPr lang="en-NZ"/>
                        <m:t>=</m:t>
                      </m:r>
                      <m:r>
                        <a:rPr lang="en-NZ" i="1"/>
                        <m:t>𝑚</m:t>
                      </m:r>
                      <m:d>
                        <m:dPr>
                          <m:ctrlPr>
                            <a:rPr lang="en-NZ" i="1"/>
                          </m:ctrlPr>
                        </m:dPr>
                        <m:e>
                          <m:sSub>
                            <m:sSubPr>
                              <m:ctrlPr>
                                <a:rPr lang="en-NZ" i="1"/>
                              </m:ctrlPr>
                            </m:sSubPr>
                            <m:e>
                              <m:r>
                                <a:rPr lang="en-NZ" i="1"/>
                                <m:t>h</m:t>
                              </m:r>
                            </m:e>
                            <m:sub>
                              <m:r>
                                <a:rPr lang="en-NZ"/>
                                <m:t>2</m:t>
                              </m:r>
                            </m:sub>
                          </m:sSub>
                          <m:r>
                            <a:rPr lang="en-NZ"/>
                            <m:t>−</m:t>
                          </m:r>
                          <m:sSub>
                            <m:sSubPr>
                              <m:ctrlPr>
                                <a:rPr lang="en-NZ" i="1"/>
                              </m:ctrlPr>
                            </m:sSubPr>
                            <m:e>
                              <m:r>
                                <a:rPr lang="en-NZ" i="1"/>
                                <m:t>h</m:t>
                              </m:r>
                            </m:e>
                            <m:sub>
                              <m:r>
                                <a:rPr lang="en-NZ"/>
                                <m:t>1</m:t>
                              </m:r>
                            </m:sub>
                          </m:sSub>
                        </m:e>
                      </m:d>
                    </m:oMath>
                  </m:oMathPara>
                </a14:m>
                <a:endParaRPr lang="en-NZ" dirty="0"/>
              </a:p>
              <a:p>
                <a14:m>
                  <m:oMathPara xmlns:m="http://schemas.openxmlformats.org/officeDocument/2006/math">
                    <m:oMathParaPr>
                      <m:jc m:val="centerGroup"/>
                    </m:oMathParaPr>
                    <m:oMath xmlns:m="http://schemas.openxmlformats.org/officeDocument/2006/math">
                      <m:sSub>
                        <m:sSubPr>
                          <m:ctrlPr>
                            <a:rPr lang="en-NZ" i="1" smtClean="0">
                              <a:latin typeface="Cambria Math" panose="02040503050406030204" pitchFamily="18" charset="0"/>
                            </a:rPr>
                          </m:ctrlPr>
                        </m:sSubPr>
                        <m:e>
                          <m:r>
                            <a:rPr lang="en-NZ" b="0" i="1" smtClean="0">
                              <a:latin typeface="Cambria Math" panose="02040503050406030204" pitchFamily="18" charset="0"/>
                            </a:rPr>
                            <m:t>h</m:t>
                          </m:r>
                        </m:e>
                        <m:sub>
                          <m:r>
                            <a:rPr lang="en-NZ" b="0" i="1" smtClean="0">
                              <a:latin typeface="Cambria Math" panose="02040503050406030204" pitchFamily="18" charset="0"/>
                            </a:rPr>
                            <m:t>2</m:t>
                          </m:r>
                        </m:sub>
                      </m:sSub>
                      <m:r>
                        <a:rPr lang="en-NZ" b="0" i="1" smtClean="0">
                          <a:latin typeface="Cambria Math" panose="02040503050406030204" pitchFamily="18" charset="0"/>
                        </a:rPr>
                        <m:t>=</m:t>
                      </m:r>
                      <m:sSub>
                        <m:sSubPr>
                          <m:ctrlPr>
                            <a:rPr lang="en-NZ" b="0" i="1" smtClean="0">
                              <a:latin typeface="Cambria Math" panose="02040503050406030204" pitchFamily="18" charset="0"/>
                            </a:rPr>
                          </m:ctrlPr>
                        </m:sSubPr>
                        <m:e>
                          <m:r>
                            <a:rPr lang="en-NZ" b="0" i="1" smtClean="0">
                              <a:latin typeface="Cambria Math" panose="02040503050406030204" pitchFamily="18" charset="0"/>
                            </a:rPr>
                            <m:t>h</m:t>
                          </m:r>
                        </m:e>
                        <m:sub>
                          <m:r>
                            <a:rPr lang="en-NZ" b="0" i="1" smtClean="0">
                              <a:latin typeface="Cambria Math" panose="02040503050406030204" pitchFamily="18" charset="0"/>
                            </a:rPr>
                            <m:t>1</m:t>
                          </m:r>
                        </m:sub>
                      </m:sSub>
                      <m:r>
                        <a:rPr lang="en-NZ" b="0" i="1" smtClean="0">
                          <a:latin typeface="Cambria Math" panose="02040503050406030204" pitchFamily="18" charset="0"/>
                        </a:rPr>
                        <m:t>+</m:t>
                      </m:r>
                      <m:f>
                        <m:fPr>
                          <m:ctrlPr>
                            <a:rPr lang="en-NZ" b="0" i="1" smtClean="0">
                              <a:latin typeface="Cambria Math" panose="02040503050406030204" pitchFamily="18" charset="0"/>
                            </a:rPr>
                          </m:ctrlPr>
                        </m:fPr>
                        <m:num>
                          <m:r>
                            <a:rPr lang="en-NZ" b="0" i="1" smtClean="0">
                              <a:latin typeface="Cambria Math" panose="02040503050406030204" pitchFamily="18" charset="0"/>
                            </a:rPr>
                            <m:t>𝑄</m:t>
                          </m:r>
                        </m:num>
                        <m:den>
                          <m:r>
                            <a:rPr lang="en-NZ" b="0" i="1" smtClean="0">
                              <a:latin typeface="Cambria Math" panose="02040503050406030204" pitchFamily="18" charset="0"/>
                            </a:rPr>
                            <m:t>𝑚</m:t>
                          </m:r>
                        </m:den>
                      </m:f>
                    </m:oMath>
                  </m:oMathPara>
                </a14:m>
                <a:endParaRPr lang="en-NZ" dirty="0"/>
              </a:p>
              <a:p>
                <a:r>
                  <a:rPr lang="en-NZ" dirty="0"/>
                  <a:t>- Using </a:t>
                </a:r>
                <a:r>
                  <a:rPr lang="en-NZ" dirty="0">
                    <a:highlight>
                      <a:srgbClr val="FFFF00"/>
                    </a:highlight>
                  </a:rPr>
                  <a:t>Table A-6</a:t>
                </a:r>
                <a:r>
                  <a:rPr lang="en-NZ" dirty="0"/>
                  <a:t>: to find out T</a:t>
                </a:r>
                <a:r>
                  <a:rPr lang="en-NZ" baseline="-25000" dirty="0"/>
                  <a:t>2</a:t>
                </a:r>
                <a:r>
                  <a:rPr lang="en-NZ" dirty="0"/>
                  <a:t> based on P</a:t>
                </a:r>
                <a:r>
                  <a:rPr lang="en-NZ" baseline="-25000" dirty="0"/>
                  <a:t>2</a:t>
                </a:r>
                <a:r>
                  <a:rPr lang="en-NZ" dirty="0"/>
                  <a:t> and h</a:t>
                </a:r>
                <a:r>
                  <a:rPr lang="en-NZ" baseline="-25000" dirty="0"/>
                  <a:t>2</a:t>
                </a:r>
                <a:r>
                  <a:rPr lang="en-NZ" dirty="0"/>
                  <a:t>. </a:t>
                </a:r>
              </a:p>
            </p:txBody>
          </p:sp>
        </mc:Choice>
        <mc:Fallback>
          <p:sp>
            <p:nvSpPr>
              <p:cNvPr id="8" name="TextBox 7">
                <a:extLst>
                  <a:ext uri="{FF2B5EF4-FFF2-40B4-BE49-F238E27FC236}">
                    <a16:creationId xmlns:a16="http://schemas.microsoft.com/office/drawing/2014/main" id="{FED371FF-7CA5-D4AB-DC7A-046835E6060F}"/>
                  </a:ext>
                </a:extLst>
              </p:cNvPr>
              <p:cNvSpPr txBox="1">
                <a:spLocks noRot="1" noChangeAspect="1" noMove="1" noResize="1" noEditPoints="1" noAdjustHandles="1" noChangeArrowheads="1" noChangeShapeType="1" noTextEdit="1"/>
              </p:cNvSpPr>
              <p:nvPr/>
            </p:nvSpPr>
            <p:spPr>
              <a:xfrm>
                <a:off x="667512" y="3979760"/>
                <a:ext cx="10799064" cy="2700868"/>
              </a:xfrm>
              <a:prstGeom prst="rect">
                <a:avLst/>
              </a:prstGeom>
              <a:blipFill>
                <a:blip r:embed="rId4"/>
                <a:stretch>
                  <a:fillRect l="-508" t="-1129" b="-2709"/>
                </a:stretch>
              </a:blipFill>
            </p:spPr>
            <p:txBody>
              <a:bodyPr/>
              <a:lstStyle/>
              <a:p>
                <a:r>
                  <a:rPr lang="en-NZ">
                    <a:noFill/>
                  </a:rPr>
                  <a:t> </a:t>
                </a:r>
              </a:p>
            </p:txBody>
          </p:sp>
        </mc:Fallback>
      </mc:AlternateContent>
    </p:spTree>
    <p:extLst>
      <p:ext uri="{BB962C8B-B14F-4D97-AF65-F5344CB8AC3E}">
        <p14:creationId xmlns:p14="http://schemas.microsoft.com/office/powerpoint/2010/main" val="2939053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32BF6-ABBD-6C25-4BDC-3AEEA0EFECCA}"/>
              </a:ext>
            </a:extLst>
          </p:cNvPr>
          <p:cNvSpPr>
            <a:spLocks noGrp="1"/>
          </p:cNvSpPr>
          <p:nvPr>
            <p:ph type="title"/>
          </p:nvPr>
        </p:nvSpPr>
        <p:spPr>
          <a:xfrm>
            <a:off x="838200" y="365125"/>
            <a:ext cx="10920984" cy="1325563"/>
          </a:xfrm>
        </p:spPr>
        <p:txBody>
          <a:bodyPr>
            <a:normAutofit fontScale="90000"/>
          </a:bodyPr>
          <a:lstStyle/>
          <a:p>
            <a:r>
              <a:rPr lang="en-NZ" sz="2400" dirty="0"/>
              <a:t>Q10)  </a:t>
            </a:r>
            <a:r>
              <a:rPr lang="en-US" sz="2700" dirty="0"/>
              <a:t>The specific heat of superheated steam at approximately 150 kPa can be determined by the equation below. (a) Determine the enthalpy change between 400℃ and 800℃ for 4 kg of steam. (b) Determine the average value of 𝐶𝑝 between 400℃ and 800℃.</a:t>
            </a:r>
            <a:br>
              <a:rPr lang="en-NZ" sz="2700" dirty="0"/>
            </a:br>
            <a:endParaRPr lang="en-NZ" sz="2700" dirty="0"/>
          </a:p>
        </p:txBody>
      </p:sp>
      <p:pic>
        <p:nvPicPr>
          <p:cNvPr id="4" name="Image 1">
            <a:extLst>
              <a:ext uri="{FF2B5EF4-FFF2-40B4-BE49-F238E27FC236}">
                <a16:creationId xmlns:a16="http://schemas.microsoft.com/office/drawing/2014/main" id="{8C2BFC6F-A87A-989E-8ABA-BC06CB8FC68E}"/>
              </a:ext>
            </a:extLst>
          </p:cNvPr>
          <p:cNvPicPr>
            <a:picLocks noGrp="1"/>
          </p:cNvPicPr>
          <p:nvPr>
            <p:ph idx="1"/>
          </p:nvPr>
        </p:nvPicPr>
        <p:blipFill>
          <a:blip r:embed="rId2" cstate="print"/>
          <a:stretch>
            <a:fillRect/>
          </a:stretch>
        </p:blipFill>
        <p:spPr>
          <a:xfrm>
            <a:off x="4335177" y="1425430"/>
            <a:ext cx="2852007" cy="530516"/>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FDDD8DD-B046-DD97-CA3D-B0815623553E}"/>
                  </a:ext>
                </a:extLst>
              </p:cNvPr>
              <p:cNvSpPr txBox="1"/>
              <p:nvPr/>
            </p:nvSpPr>
            <p:spPr>
              <a:xfrm>
                <a:off x="694944" y="3016251"/>
                <a:ext cx="9948672" cy="1477328"/>
              </a:xfrm>
              <a:prstGeom prst="rect">
                <a:avLst/>
              </a:prstGeom>
              <a:noFill/>
            </p:spPr>
            <p:txBody>
              <a:bodyPr wrap="square" rtlCol="0">
                <a:spAutoFit/>
              </a:bodyPr>
              <a:lstStyle/>
              <a:p>
                <a:pPr marL="285750" indent="-285750">
                  <a:buFontTx/>
                  <a:buChar char="-"/>
                </a:pPr>
                <a:r>
                  <a:rPr lang="en-NZ" dirty="0"/>
                  <a:t>To read enthalpies from Table A6: </a:t>
                </a:r>
                <a14:m>
                  <m:oMath xmlns:m="http://schemas.openxmlformats.org/officeDocument/2006/math">
                    <m:sSub>
                      <m:sSubPr>
                        <m:ctrlPr>
                          <a:rPr lang="en-NZ" i="1" smtClean="0">
                            <a:latin typeface="Cambria Math" panose="02040503050406030204" pitchFamily="18" charset="0"/>
                          </a:rPr>
                        </m:ctrlPr>
                      </m:sSubPr>
                      <m:e>
                        <m:r>
                          <a:rPr lang="en-NZ" b="0" i="1" smtClean="0">
                            <a:latin typeface="Cambria Math" panose="02040503050406030204" pitchFamily="18" charset="0"/>
                          </a:rPr>
                          <m:t>h</m:t>
                        </m:r>
                      </m:e>
                      <m:sub>
                        <m:r>
                          <a:rPr lang="en-NZ" b="0" i="1" smtClean="0">
                            <a:latin typeface="Cambria Math" panose="02040503050406030204" pitchFamily="18" charset="0"/>
                          </a:rPr>
                          <m:t>1</m:t>
                        </m:r>
                      </m:sub>
                    </m:sSub>
                    <m:r>
                      <a:rPr lang="en-NZ" b="0" i="1" smtClean="0">
                        <a:latin typeface="Cambria Math" panose="02040503050406030204" pitchFamily="18" charset="0"/>
                      </a:rPr>
                      <m:t>=</m:t>
                    </m:r>
                    <m:r>
                      <a:rPr lang="en-NZ" b="0" i="1" smtClean="0">
                        <a:latin typeface="Cambria Math" panose="02040503050406030204" pitchFamily="18" charset="0"/>
                      </a:rPr>
                      <m:t>h</m:t>
                    </m:r>
                    <m:d>
                      <m:dPr>
                        <m:ctrlPr>
                          <a:rPr lang="en-NZ" b="0" i="1" smtClean="0">
                            <a:latin typeface="Cambria Math" panose="02040503050406030204" pitchFamily="18" charset="0"/>
                          </a:rPr>
                        </m:ctrlPr>
                      </m:dPr>
                      <m:e>
                        <m:r>
                          <a:rPr lang="en-NZ" b="0" i="1" smtClean="0">
                            <a:latin typeface="Cambria Math" panose="02040503050406030204" pitchFamily="18" charset="0"/>
                          </a:rPr>
                          <m:t>150 </m:t>
                        </m:r>
                        <m:r>
                          <a:rPr lang="en-NZ" b="0" i="1" smtClean="0">
                            <a:latin typeface="Cambria Math" panose="02040503050406030204" pitchFamily="18" charset="0"/>
                          </a:rPr>
                          <m:t>𝑘𝑃𝑎</m:t>
                        </m:r>
                        <m:r>
                          <a:rPr lang="en-NZ" b="0" i="1" smtClean="0">
                            <a:latin typeface="Cambria Math" panose="02040503050406030204" pitchFamily="18" charset="0"/>
                          </a:rPr>
                          <m:t>, 400 °</m:t>
                        </m:r>
                        <m:r>
                          <a:rPr lang="en-NZ" b="0" i="1" smtClean="0">
                            <a:latin typeface="Cambria Math" panose="02040503050406030204" pitchFamily="18" charset="0"/>
                            <a:ea typeface="Cambria Math" panose="02040503050406030204" pitchFamily="18" charset="0"/>
                          </a:rPr>
                          <m:t>𝐶</m:t>
                        </m:r>
                      </m:e>
                    </m:d>
                    <m:r>
                      <a:rPr lang="en-NZ" b="0" i="1" smtClean="0">
                        <a:latin typeface="Cambria Math" panose="02040503050406030204" pitchFamily="18" charset="0"/>
                        <a:ea typeface="Cambria Math" panose="02040503050406030204" pitchFamily="18" charset="0"/>
                      </a:rPr>
                      <m:t>, </m:t>
                    </m:r>
                    <m:sSub>
                      <m:sSubPr>
                        <m:ctrlPr>
                          <a:rPr lang="en-NZ" b="0" i="1" smtClean="0">
                            <a:latin typeface="Cambria Math" panose="02040503050406030204" pitchFamily="18" charset="0"/>
                            <a:ea typeface="Cambria Math" panose="02040503050406030204" pitchFamily="18" charset="0"/>
                          </a:rPr>
                        </m:ctrlPr>
                      </m:sSubPr>
                      <m:e>
                        <m:r>
                          <a:rPr lang="en-NZ" b="0" i="1" smtClean="0">
                            <a:latin typeface="Cambria Math" panose="02040503050406030204" pitchFamily="18" charset="0"/>
                            <a:ea typeface="Cambria Math" panose="02040503050406030204" pitchFamily="18" charset="0"/>
                          </a:rPr>
                          <m:t>h</m:t>
                        </m:r>
                      </m:e>
                      <m:sub>
                        <m:r>
                          <a:rPr lang="en-NZ" b="0" i="1" smtClean="0">
                            <a:latin typeface="Cambria Math" panose="02040503050406030204" pitchFamily="18" charset="0"/>
                            <a:ea typeface="Cambria Math" panose="02040503050406030204" pitchFamily="18" charset="0"/>
                          </a:rPr>
                          <m:t>2</m:t>
                        </m:r>
                      </m:sub>
                    </m:sSub>
                    <m:r>
                      <a:rPr lang="en-NZ" b="0" i="1" smtClean="0">
                        <a:latin typeface="Cambria Math" panose="02040503050406030204" pitchFamily="18" charset="0"/>
                        <a:ea typeface="Cambria Math" panose="02040503050406030204" pitchFamily="18" charset="0"/>
                      </a:rPr>
                      <m:t>=</m:t>
                    </m:r>
                    <m:r>
                      <a:rPr lang="en-NZ" b="0" i="1" smtClean="0">
                        <a:latin typeface="Cambria Math" panose="02040503050406030204" pitchFamily="18" charset="0"/>
                        <a:ea typeface="Cambria Math" panose="02040503050406030204" pitchFamily="18" charset="0"/>
                      </a:rPr>
                      <m:t>h</m:t>
                    </m:r>
                    <m:d>
                      <m:dPr>
                        <m:ctrlPr>
                          <a:rPr lang="en-NZ" b="0" i="1" smtClean="0">
                            <a:latin typeface="Cambria Math" panose="02040503050406030204" pitchFamily="18" charset="0"/>
                            <a:ea typeface="Cambria Math" panose="02040503050406030204" pitchFamily="18" charset="0"/>
                          </a:rPr>
                        </m:ctrlPr>
                      </m:dPr>
                      <m:e>
                        <m:r>
                          <a:rPr lang="en-NZ" b="0" i="1" smtClean="0">
                            <a:latin typeface="Cambria Math" panose="02040503050406030204" pitchFamily="18" charset="0"/>
                            <a:ea typeface="Cambria Math" panose="02040503050406030204" pitchFamily="18" charset="0"/>
                          </a:rPr>
                          <m:t>150 </m:t>
                        </m:r>
                        <m:r>
                          <a:rPr lang="en-NZ" b="0" i="1" smtClean="0">
                            <a:latin typeface="Cambria Math" panose="02040503050406030204" pitchFamily="18" charset="0"/>
                            <a:ea typeface="Cambria Math" panose="02040503050406030204" pitchFamily="18" charset="0"/>
                          </a:rPr>
                          <m:t>𝑘𝑃𝑎</m:t>
                        </m:r>
                        <m:r>
                          <a:rPr lang="en-NZ" b="0" i="1" smtClean="0">
                            <a:latin typeface="Cambria Math" panose="02040503050406030204" pitchFamily="18" charset="0"/>
                            <a:ea typeface="Cambria Math" panose="02040503050406030204" pitchFamily="18" charset="0"/>
                          </a:rPr>
                          <m:t>, 800°</m:t>
                        </m:r>
                        <m:r>
                          <a:rPr lang="en-NZ" b="0" i="1" smtClean="0">
                            <a:latin typeface="Cambria Math" panose="02040503050406030204" pitchFamily="18" charset="0"/>
                            <a:ea typeface="Cambria Math" panose="02040503050406030204" pitchFamily="18" charset="0"/>
                          </a:rPr>
                          <m:t>𝐶</m:t>
                        </m:r>
                      </m:e>
                    </m:d>
                  </m:oMath>
                </a14:m>
                <a:endParaRPr lang="en-NZ" b="0" dirty="0">
                  <a:ea typeface="Cambria Math" panose="02040503050406030204" pitchFamily="18" charset="0"/>
                </a:endParaRPr>
              </a:p>
              <a:p>
                <a:pPr marL="285750" indent="-285750">
                  <a:buFontTx/>
                  <a:buChar char="-"/>
                </a:pPr>
                <a:r>
                  <a:rPr lang="en-NZ" dirty="0"/>
                  <a:t> Total enthalpy change = ΔH=m(h</a:t>
                </a:r>
                <a:r>
                  <a:rPr lang="en-NZ" baseline="-25000" dirty="0"/>
                  <a:t>2</a:t>
                </a:r>
                <a:r>
                  <a:rPr lang="en-NZ" dirty="0"/>
                  <a:t>​−h</a:t>
                </a:r>
                <a:r>
                  <a:rPr lang="en-NZ" baseline="-25000" dirty="0"/>
                  <a:t>1</a:t>
                </a:r>
                <a:r>
                  <a:rPr lang="en-NZ" dirty="0"/>
                  <a:t>​)</a:t>
                </a:r>
              </a:p>
              <a:p>
                <a:pPr marL="285750" indent="-285750">
                  <a:buFontTx/>
                  <a:buChar char="-"/>
                </a:pPr>
                <a:r>
                  <a:rPr lang="en-NZ" dirty="0"/>
                  <a:t> ΔH=</a:t>
                </a:r>
                <a:r>
                  <a:rPr lang="en-NZ" dirty="0" err="1"/>
                  <a:t>Cp_avg</a:t>
                </a:r>
                <a:r>
                  <a:rPr lang="en-NZ" dirty="0"/>
                  <a:t>  (T</a:t>
                </a:r>
                <a:r>
                  <a:rPr lang="en-NZ" baseline="-25000" dirty="0"/>
                  <a:t>2</a:t>
                </a:r>
                <a:r>
                  <a:rPr lang="en-NZ" dirty="0"/>
                  <a:t>-T</a:t>
                </a:r>
                <a:r>
                  <a:rPr lang="en-NZ" baseline="-25000" dirty="0"/>
                  <a:t>1</a:t>
                </a:r>
                <a:r>
                  <a:rPr lang="en-NZ" dirty="0"/>
                  <a:t>)</a:t>
                </a:r>
              </a:p>
              <a:p>
                <a:pPr marL="285750" indent="-285750">
                  <a:buFontTx/>
                  <a:buChar char="-"/>
                </a:pPr>
                <a:r>
                  <a:rPr lang="en-NZ" dirty="0"/>
                  <a:t>………………</a:t>
                </a:r>
              </a:p>
              <a:p>
                <a:pPr marL="285750" indent="-285750">
                  <a:buFontTx/>
                  <a:buChar char="-"/>
                </a:pPr>
                <a:endParaRPr lang="en-NZ" dirty="0"/>
              </a:p>
            </p:txBody>
          </p:sp>
        </mc:Choice>
        <mc:Fallback>
          <p:sp>
            <p:nvSpPr>
              <p:cNvPr id="5" name="TextBox 4">
                <a:extLst>
                  <a:ext uri="{FF2B5EF4-FFF2-40B4-BE49-F238E27FC236}">
                    <a16:creationId xmlns:a16="http://schemas.microsoft.com/office/drawing/2014/main" id="{FFDDD8DD-B046-DD97-CA3D-B0815623553E}"/>
                  </a:ext>
                </a:extLst>
              </p:cNvPr>
              <p:cNvSpPr txBox="1">
                <a:spLocks noRot="1" noChangeAspect="1" noMove="1" noResize="1" noEditPoints="1" noAdjustHandles="1" noChangeArrowheads="1" noChangeShapeType="1" noTextEdit="1"/>
              </p:cNvSpPr>
              <p:nvPr/>
            </p:nvSpPr>
            <p:spPr>
              <a:xfrm>
                <a:off x="694944" y="3016251"/>
                <a:ext cx="9948672" cy="1477328"/>
              </a:xfrm>
              <a:prstGeom prst="rect">
                <a:avLst/>
              </a:prstGeom>
              <a:blipFill>
                <a:blip r:embed="rId3"/>
                <a:stretch>
                  <a:fillRect l="-551" t="-2479"/>
                </a:stretch>
              </a:blipFill>
            </p:spPr>
            <p:txBody>
              <a:bodyPr/>
              <a:lstStyle/>
              <a:p>
                <a:r>
                  <a:rPr lang="en-NZ">
                    <a:noFill/>
                  </a:rPr>
                  <a:t> </a:t>
                </a:r>
              </a:p>
            </p:txBody>
          </p:sp>
        </mc:Fallback>
      </mc:AlternateContent>
    </p:spTree>
    <p:extLst>
      <p:ext uri="{BB962C8B-B14F-4D97-AF65-F5344CB8AC3E}">
        <p14:creationId xmlns:p14="http://schemas.microsoft.com/office/powerpoint/2010/main" val="652763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90B29-2A0B-06A5-D6CB-3F61A0A36AFC}"/>
              </a:ext>
            </a:extLst>
          </p:cNvPr>
          <p:cNvSpPr>
            <a:spLocks noGrp="1"/>
          </p:cNvSpPr>
          <p:nvPr>
            <p:ph type="title"/>
          </p:nvPr>
        </p:nvSpPr>
        <p:spPr/>
        <p:txBody>
          <a:bodyPr>
            <a:normAutofit/>
          </a:bodyPr>
          <a:lstStyle/>
          <a:p>
            <a:r>
              <a:rPr lang="en-US" sz="2700" dirty="0"/>
              <a:t>11) Determine the enthalpy change for 2 kg of nitrogen which is heated from 250 K to 1300 K by (a) using the gas tables,  Use M = 28 kg/</a:t>
            </a:r>
            <a:r>
              <a:rPr lang="en-US" sz="2700" dirty="0" err="1"/>
              <a:t>kmol</a:t>
            </a:r>
            <a:r>
              <a:rPr lang="en-US" sz="2700" dirty="0"/>
              <a:t>.</a:t>
            </a:r>
            <a:endParaRPr lang="en-NZ" sz="27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1686850-A706-50C0-A0E2-91940D0EB24E}"/>
                  </a:ext>
                </a:extLst>
              </p:cNvPr>
              <p:cNvSpPr>
                <a:spLocks noGrp="1"/>
              </p:cNvSpPr>
              <p:nvPr>
                <p:ph idx="1"/>
              </p:nvPr>
            </p:nvSpPr>
            <p:spPr/>
            <p:txBody>
              <a:bodyPr/>
              <a:lstStyle/>
              <a:p>
                <a:pPr marL="0" indent="0">
                  <a:buNone/>
                </a:pPr>
                <a:r>
                  <a:rPr lang="en-NZ" dirty="0"/>
                  <a:t>Table A-18 for molar specific enthalpies of nitrogen (at 250 K and at 1300 K)</a:t>
                </a:r>
              </a:p>
              <a:p>
                <a:pPr marL="0" indent="0" algn="ctr">
                  <a:buNone/>
                </a:pPr>
                <a:r>
                  <a:rPr lang="en-NZ" dirty="0"/>
                  <a:t> </a:t>
                </a:r>
                <a14:m>
                  <m:oMath xmlns:m="http://schemas.openxmlformats.org/officeDocument/2006/math">
                    <m:r>
                      <a:rPr lang="en-NZ" i="1" smtClean="0">
                        <a:latin typeface="Cambria Math" panose="02040503050406030204" pitchFamily="18" charset="0"/>
                        <a:ea typeface="Cambria Math" panose="02040503050406030204" pitchFamily="18" charset="0"/>
                      </a:rPr>
                      <m:t>∆</m:t>
                    </m:r>
                    <m:r>
                      <a:rPr lang="en-NZ" b="0" i="1" smtClean="0">
                        <a:latin typeface="Cambria Math" panose="02040503050406030204" pitchFamily="18" charset="0"/>
                        <a:ea typeface="Cambria Math" panose="02040503050406030204" pitchFamily="18" charset="0"/>
                      </a:rPr>
                      <m:t>h</m:t>
                    </m:r>
                    <m:r>
                      <a:rPr lang="en-NZ" b="0" i="1" smtClean="0">
                        <a:latin typeface="Cambria Math" panose="02040503050406030204" pitchFamily="18" charset="0"/>
                        <a:ea typeface="Cambria Math" panose="02040503050406030204" pitchFamily="18" charset="0"/>
                      </a:rPr>
                      <m:t>=</m:t>
                    </m:r>
                    <m:f>
                      <m:fPr>
                        <m:ctrlPr>
                          <a:rPr lang="en-NZ" b="0" i="1" smtClean="0">
                            <a:latin typeface="Cambria Math" panose="02040503050406030204" pitchFamily="18" charset="0"/>
                            <a:ea typeface="Cambria Math" panose="02040503050406030204" pitchFamily="18" charset="0"/>
                          </a:rPr>
                        </m:ctrlPr>
                      </m:fPr>
                      <m:num>
                        <m:bar>
                          <m:barPr>
                            <m:pos m:val="top"/>
                            <m:ctrlPr>
                              <a:rPr lang="en-NZ" b="0" i="1" smtClean="0">
                                <a:latin typeface="Cambria Math" panose="02040503050406030204" pitchFamily="18" charset="0"/>
                                <a:ea typeface="Cambria Math" panose="02040503050406030204" pitchFamily="18" charset="0"/>
                              </a:rPr>
                            </m:ctrlPr>
                          </m:barPr>
                          <m:e>
                            <m:sSub>
                              <m:sSubPr>
                                <m:ctrlPr>
                                  <a:rPr lang="en-NZ" b="0" i="1" smtClean="0">
                                    <a:latin typeface="Cambria Math" panose="02040503050406030204" pitchFamily="18" charset="0"/>
                                    <a:ea typeface="Cambria Math" panose="02040503050406030204" pitchFamily="18" charset="0"/>
                                  </a:rPr>
                                </m:ctrlPr>
                              </m:sSubPr>
                              <m:e>
                                <m:r>
                                  <a:rPr lang="en-NZ" b="0" i="1" smtClean="0">
                                    <a:latin typeface="Cambria Math" panose="02040503050406030204" pitchFamily="18" charset="0"/>
                                    <a:ea typeface="Cambria Math" panose="02040503050406030204" pitchFamily="18" charset="0"/>
                                  </a:rPr>
                                  <m:t>h</m:t>
                                </m:r>
                              </m:e>
                              <m:sub>
                                <m:r>
                                  <a:rPr lang="en-NZ" b="0" i="1" smtClean="0">
                                    <a:latin typeface="Cambria Math" panose="02040503050406030204" pitchFamily="18" charset="0"/>
                                    <a:ea typeface="Cambria Math" panose="02040503050406030204" pitchFamily="18" charset="0"/>
                                  </a:rPr>
                                  <m:t>2</m:t>
                                </m:r>
                              </m:sub>
                            </m:sSub>
                          </m:e>
                        </m:bar>
                        <m:r>
                          <a:rPr lang="en-NZ" b="0" i="1" smtClean="0">
                            <a:latin typeface="Cambria Math" panose="02040503050406030204" pitchFamily="18" charset="0"/>
                            <a:ea typeface="Cambria Math" panose="02040503050406030204" pitchFamily="18" charset="0"/>
                          </a:rPr>
                          <m:t>−</m:t>
                        </m:r>
                        <m:bar>
                          <m:barPr>
                            <m:pos m:val="top"/>
                            <m:ctrlPr>
                              <a:rPr lang="en-NZ" b="0" i="1" smtClean="0">
                                <a:latin typeface="Cambria Math" panose="02040503050406030204" pitchFamily="18" charset="0"/>
                                <a:ea typeface="Cambria Math" panose="02040503050406030204" pitchFamily="18" charset="0"/>
                              </a:rPr>
                            </m:ctrlPr>
                          </m:barPr>
                          <m:e>
                            <m:sSub>
                              <m:sSubPr>
                                <m:ctrlPr>
                                  <a:rPr lang="en-NZ" b="0" i="1" smtClean="0">
                                    <a:latin typeface="Cambria Math" panose="02040503050406030204" pitchFamily="18" charset="0"/>
                                    <a:ea typeface="Cambria Math" panose="02040503050406030204" pitchFamily="18" charset="0"/>
                                  </a:rPr>
                                </m:ctrlPr>
                              </m:sSubPr>
                              <m:e>
                                <m:r>
                                  <a:rPr lang="en-NZ" b="0" i="1" smtClean="0">
                                    <a:latin typeface="Cambria Math" panose="02040503050406030204" pitchFamily="18" charset="0"/>
                                    <a:ea typeface="Cambria Math" panose="02040503050406030204" pitchFamily="18" charset="0"/>
                                  </a:rPr>
                                  <m:t>h</m:t>
                                </m:r>
                              </m:e>
                              <m:sub>
                                <m:r>
                                  <a:rPr lang="en-NZ" b="0" i="1" smtClean="0">
                                    <a:latin typeface="Cambria Math" panose="02040503050406030204" pitchFamily="18" charset="0"/>
                                    <a:ea typeface="Cambria Math" panose="02040503050406030204" pitchFamily="18" charset="0"/>
                                  </a:rPr>
                                  <m:t>1</m:t>
                                </m:r>
                              </m:sub>
                            </m:sSub>
                          </m:e>
                        </m:bar>
                      </m:num>
                      <m:den>
                        <m:r>
                          <a:rPr lang="en-NZ" b="0" i="1" smtClean="0">
                            <a:latin typeface="Cambria Math" panose="02040503050406030204" pitchFamily="18" charset="0"/>
                            <a:ea typeface="Cambria Math" panose="02040503050406030204" pitchFamily="18" charset="0"/>
                          </a:rPr>
                          <m:t>𝑀</m:t>
                        </m:r>
                      </m:den>
                    </m:f>
                  </m:oMath>
                </a14:m>
                <a:endParaRPr lang="en-NZ" dirty="0"/>
              </a:p>
              <a:p>
                <a:pPr marL="0" indent="0" algn="ctr">
                  <a:buNone/>
                </a:pPr>
                <a:endParaRPr lang="en-NZ" dirty="0"/>
              </a:p>
              <a:p>
                <a:pPr marL="0" indent="0" algn="ctr">
                  <a:buNone/>
                </a:pPr>
                <a14:m>
                  <m:oMathPara xmlns:m="http://schemas.openxmlformats.org/officeDocument/2006/math">
                    <m:oMathParaPr>
                      <m:jc m:val="centerGroup"/>
                    </m:oMathParaPr>
                    <m:oMath xmlns:m="http://schemas.openxmlformats.org/officeDocument/2006/math">
                      <m:r>
                        <a:rPr lang="en-NZ" i="1" smtClean="0">
                          <a:latin typeface="Cambria Math" panose="02040503050406030204" pitchFamily="18" charset="0"/>
                          <a:ea typeface="Cambria Math" panose="02040503050406030204" pitchFamily="18" charset="0"/>
                        </a:rPr>
                        <m:t>∆</m:t>
                      </m:r>
                      <m:r>
                        <a:rPr lang="en-NZ" b="0" i="1" smtClean="0">
                          <a:latin typeface="Cambria Math" panose="02040503050406030204" pitchFamily="18" charset="0"/>
                          <a:ea typeface="Cambria Math" panose="02040503050406030204" pitchFamily="18" charset="0"/>
                        </a:rPr>
                        <m:t>𝐻</m:t>
                      </m:r>
                      <m:r>
                        <a:rPr lang="en-NZ" b="0" i="1" smtClean="0">
                          <a:latin typeface="Cambria Math" panose="02040503050406030204" pitchFamily="18" charset="0"/>
                          <a:ea typeface="Cambria Math" panose="02040503050406030204" pitchFamily="18" charset="0"/>
                        </a:rPr>
                        <m:t>=</m:t>
                      </m:r>
                      <m:r>
                        <a:rPr lang="en-NZ" b="0" i="1" smtClean="0">
                          <a:latin typeface="Cambria Math" panose="02040503050406030204" pitchFamily="18" charset="0"/>
                          <a:ea typeface="Cambria Math" panose="02040503050406030204" pitchFamily="18" charset="0"/>
                        </a:rPr>
                        <m:t>𝑚</m:t>
                      </m:r>
                      <m:r>
                        <a:rPr lang="en-NZ" i="1" smtClean="0">
                          <a:latin typeface="Cambria Math" panose="02040503050406030204" pitchFamily="18" charset="0"/>
                          <a:ea typeface="Cambria Math" panose="02040503050406030204" pitchFamily="18" charset="0"/>
                        </a:rPr>
                        <m:t>∆</m:t>
                      </m:r>
                      <m:r>
                        <a:rPr lang="en-NZ" b="0" i="1" smtClean="0">
                          <a:latin typeface="Cambria Math" panose="02040503050406030204" pitchFamily="18" charset="0"/>
                          <a:ea typeface="Cambria Math" panose="02040503050406030204" pitchFamily="18" charset="0"/>
                        </a:rPr>
                        <m:t>h</m:t>
                      </m:r>
                    </m:oMath>
                  </m:oMathPara>
                </a14:m>
                <a:endParaRPr lang="en-NZ" dirty="0"/>
              </a:p>
              <a:p>
                <a:pPr marL="0" indent="0">
                  <a:buNone/>
                </a:pPr>
                <a:endParaRPr lang="en-NZ" dirty="0"/>
              </a:p>
              <a:p>
                <a:pPr marL="0" indent="0">
                  <a:buNone/>
                </a:pPr>
                <a:r>
                  <a:rPr lang="en-NZ" dirty="0"/>
                  <a:t> ………</a:t>
                </a:r>
              </a:p>
            </p:txBody>
          </p:sp>
        </mc:Choice>
        <mc:Fallback>
          <p:sp>
            <p:nvSpPr>
              <p:cNvPr id="3" name="Content Placeholder 2">
                <a:extLst>
                  <a:ext uri="{FF2B5EF4-FFF2-40B4-BE49-F238E27FC236}">
                    <a16:creationId xmlns:a16="http://schemas.microsoft.com/office/drawing/2014/main" id="{A1686850-A706-50C0-A0E2-91940D0EB24E}"/>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NZ">
                    <a:noFill/>
                  </a:rPr>
                  <a:t> </a:t>
                </a:r>
              </a:p>
            </p:txBody>
          </p:sp>
        </mc:Fallback>
      </mc:AlternateContent>
    </p:spTree>
    <p:extLst>
      <p:ext uri="{BB962C8B-B14F-4D97-AF65-F5344CB8AC3E}">
        <p14:creationId xmlns:p14="http://schemas.microsoft.com/office/powerpoint/2010/main" val="5366168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6773D-248A-54F3-39C7-0CE749C3F9F3}"/>
              </a:ext>
            </a:extLst>
          </p:cNvPr>
          <p:cNvSpPr>
            <a:spLocks noGrp="1"/>
          </p:cNvSpPr>
          <p:nvPr>
            <p:ph type="title"/>
          </p:nvPr>
        </p:nvSpPr>
        <p:spPr>
          <a:xfrm>
            <a:off x="838200" y="346837"/>
            <a:ext cx="10515600" cy="1325563"/>
          </a:xfrm>
        </p:spPr>
        <p:txBody>
          <a:bodyPr>
            <a:normAutofit fontScale="90000"/>
          </a:bodyPr>
          <a:lstStyle/>
          <a:p>
            <a:pPr algn="just"/>
            <a:r>
              <a:rPr lang="en-NZ" sz="2700" dirty="0"/>
              <a:t>Q12) </a:t>
            </a:r>
            <a:r>
              <a:rPr lang="en-US" sz="2700" dirty="0"/>
              <a:t>What is the change in the enthalpy, in kJ/kg, of oxygen as its temperature changes from 300 K to 400 K? Is there any difference if the temperature change were from 900 K to 1000 K? Does the pressure at the beginning and end of this process have any effect on the enthalpy change?</a:t>
            </a:r>
            <a:endParaRPr lang="en-NZ" sz="27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1D6578E-727B-CD5C-DA73-A616F1FB3301}"/>
                  </a:ext>
                </a:extLst>
              </p:cNvPr>
              <p:cNvSpPr>
                <a:spLocks noGrp="1"/>
              </p:cNvSpPr>
              <p:nvPr>
                <p:ph idx="1"/>
              </p:nvPr>
            </p:nvSpPr>
            <p:spPr/>
            <p:txBody>
              <a:bodyPr>
                <a:normAutofit/>
              </a:bodyPr>
              <a:lstStyle/>
              <a:p>
                <a:pPr marL="0" indent="0">
                  <a:buNone/>
                </a:pPr>
                <a:r>
                  <a:rPr lang="en-NZ" sz="2400" dirty="0">
                    <a:highlight>
                      <a:srgbClr val="FFFF00"/>
                    </a:highlight>
                  </a:rPr>
                  <a:t>Table A-1: </a:t>
                </a:r>
                <a:r>
                  <a:rPr lang="en-NZ" sz="2400" dirty="0"/>
                  <a:t>for the molar mass of oxygen.</a:t>
                </a:r>
              </a:p>
              <a:p>
                <a:pPr marL="0" indent="0">
                  <a:buNone/>
                </a:pPr>
                <a:r>
                  <a:rPr lang="en-NZ" sz="2400" dirty="0">
                    <a:highlight>
                      <a:srgbClr val="FFFF00"/>
                    </a:highlight>
                  </a:rPr>
                  <a:t>Table A-19: </a:t>
                </a:r>
                <a:r>
                  <a:rPr lang="en-NZ" sz="2400" dirty="0"/>
                  <a:t>Ideal-Gas Properties of Oxygen for the enthalpy values.</a:t>
                </a:r>
              </a:p>
              <a:p>
                <a:pPr marL="0" indent="0">
                  <a:buNone/>
                </a:pPr>
                <a:endParaRPr lang="en-NZ" sz="2400" dirty="0"/>
              </a:p>
              <a:p>
                <a:pPr marL="0" indent="0">
                  <a:buNone/>
                </a:pPr>
                <a:r>
                  <a:rPr lang="en-NZ" sz="2400" b="1" dirty="0"/>
                  <a:t>(</a:t>
                </a:r>
                <a:r>
                  <a:rPr lang="en-NZ" sz="2400" dirty="0"/>
                  <a:t>From </a:t>
                </a:r>
                <a:r>
                  <a:rPr lang="en-NZ" sz="2400" dirty="0">
                    <a:highlight>
                      <a:srgbClr val="FFFF00"/>
                    </a:highlight>
                  </a:rPr>
                  <a:t>Table A-19</a:t>
                </a:r>
                <a:r>
                  <a:rPr lang="en-NZ" sz="2400" b="1" dirty="0"/>
                  <a:t>)</a:t>
                </a:r>
                <a:r>
                  <a:rPr lang="en-NZ" sz="2400" dirty="0"/>
                  <a:t>, obtain: </a:t>
                </a:r>
                <a14:m>
                  <m:oMath xmlns:m="http://schemas.openxmlformats.org/officeDocument/2006/math">
                    <m:bar>
                      <m:barPr>
                        <m:pos m:val="top"/>
                        <m:ctrlPr>
                          <a:rPr lang="en-NZ" sz="2400" b="0" i="1" smtClean="0">
                            <a:latin typeface="Cambria Math" panose="02040503050406030204" pitchFamily="18" charset="0"/>
                            <a:ea typeface="Cambria Math" panose="02040503050406030204" pitchFamily="18" charset="0"/>
                          </a:rPr>
                        </m:ctrlPr>
                      </m:barPr>
                      <m:e>
                        <m:sSub>
                          <m:sSubPr>
                            <m:ctrlPr>
                              <a:rPr lang="en-NZ" sz="2400" b="0" i="1" smtClean="0">
                                <a:latin typeface="Cambria Math" panose="02040503050406030204" pitchFamily="18" charset="0"/>
                                <a:ea typeface="Cambria Math" panose="02040503050406030204" pitchFamily="18" charset="0"/>
                              </a:rPr>
                            </m:ctrlPr>
                          </m:sSubPr>
                          <m:e>
                            <m:r>
                              <a:rPr lang="en-NZ" sz="2400" b="0" i="1" smtClean="0">
                                <a:latin typeface="Cambria Math" panose="02040503050406030204" pitchFamily="18" charset="0"/>
                                <a:ea typeface="Cambria Math" panose="02040503050406030204" pitchFamily="18" charset="0"/>
                              </a:rPr>
                              <m:t>h</m:t>
                            </m:r>
                          </m:e>
                          <m:sub>
                            <m:r>
                              <a:rPr lang="en-NZ" sz="2400" b="0" i="1" smtClean="0">
                                <a:latin typeface="Cambria Math" panose="02040503050406030204" pitchFamily="18" charset="0"/>
                                <a:ea typeface="Cambria Math" panose="02040503050406030204" pitchFamily="18" charset="0"/>
                              </a:rPr>
                              <m:t>1</m:t>
                            </m:r>
                          </m:sub>
                        </m:sSub>
                      </m:e>
                    </m:bar>
                  </m:oMath>
                </a14:m>
                <a:r>
                  <a:rPr lang="en-NZ" sz="2400" dirty="0"/>
                  <a:t>=</a:t>
                </a:r>
                <a14:m>
                  <m:oMath xmlns:m="http://schemas.openxmlformats.org/officeDocument/2006/math">
                    <m:bar>
                      <m:barPr>
                        <m:pos m:val="top"/>
                        <m:ctrlPr>
                          <a:rPr lang="en-NZ" sz="2400" i="1" dirty="0" smtClean="0">
                            <a:latin typeface="Cambria Math" panose="02040503050406030204" pitchFamily="18" charset="0"/>
                          </a:rPr>
                        </m:ctrlPr>
                      </m:barPr>
                      <m:e>
                        <m:r>
                          <a:rPr lang="en-NZ" sz="2400" b="0" i="1" dirty="0" smtClean="0">
                            <a:latin typeface="Cambria Math" panose="02040503050406030204" pitchFamily="18" charset="0"/>
                          </a:rPr>
                          <m:t>h</m:t>
                        </m:r>
                      </m:e>
                    </m:bar>
                    <m:d>
                      <m:dPr>
                        <m:ctrlPr>
                          <a:rPr lang="en-NZ" sz="2400" b="0" i="1" dirty="0" smtClean="0">
                            <a:latin typeface="Cambria Math" panose="02040503050406030204" pitchFamily="18" charset="0"/>
                          </a:rPr>
                        </m:ctrlPr>
                      </m:dPr>
                      <m:e>
                        <m:r>
                          <a:rPr lang="en-NZ" sz="2400" b="0" i="1" dirty="0" smtClean="0">
                            <a:latin typeface="Cambria Math" panose="02040503050406030204" pitchFamily="18" charset="0"/>
                          </a:rPr>
                          <m:t>300</m:t>
                        </m:r>
                        <m:r>
                          <a:rPr lang="en-NZ" sz="2400" b="0" i="1" dirty="0" smtClean="0">
                            <a:latin typeface="Cambria Math" panose="02040503050406030204" pitchFamily="18" charset="0"/>
                          </a:rPr>
                          <m:t>𝐾</m:t>
                        </m:r>
                      </m:e>
                    </m:d>
                    <m:r>
                      <a:rPr lang="en-NZ" sz="2400" b="0" i="1" dirty="0" smtClean="0">
                        <a:latin typeface="Cambria Math" panose="02040503050406030204" pitchFamily="18" charset="0"/>
                      </a:rPr>
                      <m:t>, </m:t>
                    </m:r>
                    <m:bar>
                      <m:barPr>
                        <m:pos m:val="top"/>
                        <m:ctrlPr>
                          <a:rPr lang="en-NZ" sz="2400" b="0" i="1" smtClean="0">
                            <a:latin typeface="Cambria Math" panose="02040503050406030204" pitchFamily="18" charset="0"/>
                            <a:ea typeface="Cambria Math" panose="02040503050406030204" pitchFamily="18" charset="0"/>
                          </a:rPr>
                        </m:ctrlPr>
                      </m:barPr>
                      <m:e>
                        <m:sSub>
                          <m:sSubPr>
                            <m:ctrlPr>
                              <a:rPr lang="en-NZ" sz="2400" b="0" i="1" smtClean="0">
                                <a:latin typeface="Cambria Math" panose="02040503050406030204" pitchFamily="18" charset="0"/>
                                <a:ea typeface="Cambria Math" panose="02040503050406030204" pitchFamily="18" charset="0"/>
                              </a:rPr>
                            </m:ctrlPr>
                          </m:sSubPr>
                          <m:e>
                            <m:r>
                              <a:rPr lang="en-NZ" sz="2400" b="0" i="1" smtClean="0">
                                <a:latin typeface="Cambria Math" panose="02040503050406030204" pitchFamily="18" charset="0"/>
                                <a:ea typeface="Cambria Math" panose="02040503050406030204" pitchFamily="18" charset="0"/>
                              </a:rPr>
                              <m:t>h</m:t>
                            </m:r>
                          </m:e>
                          <m:sub>
                            <m:r>
                              <a:rPr lang="en-NZ" sz="2400" b="0" i="1" smtClean="0">
                                <a:latin typeface="Cambria Math" panose="02040503050406030204" pitchFamily="18" charset="0"/>
                                <a:ea typeface="Cambria Math" panose="02040503050406030204" pitchFamily="18" charset="0"/>
                              </a:rPr>
                              <m:t>2</m:t>
                            </m:r>
                          </m:sub>
                        </m:sSub>
                      </m:e>
                    </m:bar>
                  </m:oMath>
                </a14:m>
                <a:r>
                  <a:rPr lang="en-NZ" sz="2400" dirty="0"/>
                  <a:t>=</a:t>
                </a:r>
                <a14:m>
                  <m:oMath xmlns:m="http://schemas.openxmlformats.org/officeDocument/2006/math">
                    <m:bar>
                      <m:barPr>
                        <m:pos m:val="top"/>
                        <m:ctrlPr>
                          <a:rPr lang="en-NZ" sz="2400" i="1" dirty="0" smtClean="0">
                            <a:latin typeface="Cambria Math" panose="02040503050406030204" pitchFamily="18" charset="0"/>
                          </a:rPr>
                        </m:ctrlPr>
                      </m:barPr>
                      <m:e>
                        <m:r>
                          <a:rPr lang="en-NZ" sz="2400" b="0" i="1" dirty="0" smtClean="0">
                            <a:latin typeface="Cambria Math" panose="02040503050406030204" pitchFamily="18" charset="0"/>
                          </a:rPr>
                          <m:t>h</m:t>
                        </m:r>
                      </m:e>
                    </m:bar>
                    <m:d>
                      <m:dPr>
                        <m:ctrlPr>
                          <a:rPr lang="en-NZ" sz="2400" b="0" i="1" dirty="0" smtClean="0">
                            <a:latin typeface="Cambria Math" panose="02040503050406030204" pitchFamily="18" charset="0"/>
                          </a:rPr>
                        </m:ctrlPr>
                      </m:dPr>
                      <m:e>
                        <m:r>
                          <a:rPr lang="en-NZ" sz="2400" b="0" i="1" dirty="0" smtClean="0">
                            <a:latin typeface="Cambria Math" panose="02040503050406030204" pitchFamily="18" charset="0"/>
                          </a:rPr>
                          <m:t>4</m:t>
                        </m:r>
                        <m:r>
                          <a:rPr lang="en-NZ" sz="2400" b="0" i="1" dirty="0" smtClean="0">
                            <a:latin typeface="Cambria Math" panose="02040503050406030204" pitchFamily="18" charset="0"/>
                          </a:rPr>
                          <m:t>00</m:t>
                        </m:r>
                        <m:r>
                          <a:rPr lang="en-NZ" sz="2400" b="0" i="1" dirty="0" smtClean="0">
                            <a:latin typeface="Cambria Math" panose="02040503050406030204" pitchFamily="18" charset="0"/>
                          </a:rPr>
                          <m:t>𝐾</m:t>
                        </m:r>
                      </m:e>
                    </m:d>
                  </m:oMath>
                </a14:m>
                <a:endParaRPr lang="en-NZ" sz="2400" dirty="0"/>
              </a:p>
              <a:p>
                <a:pPr marL="0" indent="0">
                  <a:buNone/>
                </a:pPr>
                <a:endParaRPr lang="en-NZ" sz="2400" dirty="0"/>
              </a:p>
              <a:p>
                <a:pPr marL="0" indent="0">
                  <a:buNone/>
                </a:pPr>
                <a14:m>
                  <m:oMathPara xmlns:m="http://schemas.openxmlformats.org/officeDocument/2006/math">
                    <m:oMathParaPr>
                      <m:jc m:val="centerGroup"/>
                    </m:oMathParaPr>
                    <m:oMath xmlns:m="http://schemas.openxmlformats.org/officeDocument/2006/math">
                      <m:r>
                        <a:rPr lang="en-NZ" sz="2400" i="1" smtClean="0">
                          <a:latin typeface="Cambria Math" panose="02040503050406030204" pitchFamily="18" charset="0"/>
                          <a:ea typeface="Cambria Math" panose="02040503050406030204" pitchFamily="18" charset="0"/>
                        </a:rPr>
                        <m:t>∆</m:t>
                      </m:r>
                      <m:r>
                        <a:rPr lang="en-NZ" sz="2400" b="0" i="1" smtClean="0">
                          <a:latin typeface="Cambria Math" panose="02040503050406030204" pitchFamily="18" charset="0"/>
                          <a:ea typeface="Cambria Math" panose="02040503050406030204" pitchFamily="18" charset="0"/>
                        </a:rPr>
                        <m:t>h</m:t>
                      </m:r>
                      <m:r>
                        <a:rPr lang="en-NZ" sz="2400" b="0" i="1" smtClean="0">
                          <a:latin typeface="Cambria Math" panose="02040503050406030204" pitchFamily="18" charset="0"/>
                          <a:ea typeface="Cambria Math" panose="02040503050406030204" pitchFamily="18" charset="0"/>
                        </a:rPr>
                        <m:t>=</m:t>
                      </m:r>
                      <m:f>
                        <m:fPr>
                          <m:ctrlPr>
                            <a:rPr lang="en-NZ" sz="2400" b="0" i="1" smtClean="0">
                              <a:latin typeface="Cambria Math" panose="02040503050406030204" pitchFamily="18" charset="0"/>
                              <a:ea typeface="Cambria Math" panose="02040503050406030204" pitchFamily="18" charset="0"/>
                            </a:rPr>
                          </m:ctrlPr>
                        </m:fPr>
                        <m:num>
                          <m:bar>
                            <m:barPr>
                              <m:pos m:val="top"/>
                              <m:ctrlPr>
                                <a:rPr lang="en-NZ" sz="2400" b="0" i="1" smtClean="0">
                                  <a:latin typeface="Cambria Math" panose="02040503050406030204" pitchFamily="18" charset="0"/>
                                  <a:ea typeface="Cambria Math" panose="02040503050406030204" pitchFamily="18" charset="0"/>
                                </a:rPr>
                              </m:ctrlPr>
                            </m:barPr>
                            <m:e>
                              <m:sSub>
                                <m:sSubPr>
                                  <m:ctrlPr>
                                    <a:rPr lang="en-NZ" sz="2400" b="0" i="1" smtClean="0">
                                      <a:latin typeface="Cambria Math" panose="02040503050406030204" pitchFamily="18" charset="0"/>
                                      <a:ea typeface="Cambria Math" panose="02040503050406030204" pitchFamily="18" charset="0"/>
                                    </a:rPr>
                                  </m:ctrlPr>
                                </m:sSubPr>
                                <m:e>
                                  <m:r>
                                    <a:rPr lang="en-NZ" sz="2400" b="0" i="1" smtClean="0">
                                      <a:latin typeface="Cambria Math" panose="02040503050406030204" pitchFamily="18" charset="0"/>
                                      <a:ea typeface="Cambria Math" panose="02040503050406030204" pitchFamily="18" charset="0"/>
                                    </a:rPr>
                                    <m:t>h</m:t>
                                  </m:r>
                                </m:e>
                                <m:sub>
                                  <m:r>
                                    <a:rPr lang="en-NZ" sz="2400" b="0" i="1" smtClean="0">
                                      <a:latin typeface="Cambria Math" panose="02040503050406030204" pitchFamily="18" charset="0"/>
                                      <a:ea typeface="Cambria Math" panose="02040503050406030204" pitchFamily="18" charset="0"/>
                                    </a:rPr>
                                    <m:t>2</m:t>
                                  </m:r>
                                </m:sub>
                              </m:sSub>
                            </m:e>
                          </m:bar>
                          <m:r>
                            <a:rPr lang="en-NZ" sz="2400" b="0" i="1" smtClean="0">
                              <a:latin typeface="Cambria Math" panose="02040503050406030204" pitchFamily="18" charset="0"/>
                              <a:ea typeface="Cambria Math" panose="02040503050406030204" pitchFamily="18" charset="0"/>
                            </a:rPr>
                            <m:t>−</m:t>
                          </m:r>
                          <m:bar>
                            <m:barPr>
                              <m:pos m:val="top"/>
                              <m:ctrlPr>
                                <a:rPr lang="en-NZ" sz="2400" b="0" i="1" smtClean="0">
                                  <a:latin typeface="Cambria Math" panose="02040503050406030204" pitchFamily="18" charset="0"/>
                                  <a:ea typeface="Cambria Math" panose="02040503050406030204" pitchFamily="18" charset="0"/>
                                </a:rPr>
                              </m:ctrlPr>
                            </m:barPr>
                            <m:e>
                              <m:sSub>
                                <m:sSubPr>
                                  <m:ctrlPr>
                                    <a:rPr lang="en-NZ" sz="2400" b="0" i="1" smtClean="0">
                                      <a:latin typeface="Cambria Math" panose="02040503050406030204" pitchFamily="18" charset="0"/>
                                      <a:ea typeface="Cambria Math" panose="02040503050406030204" pitchFamily="18" charset="0"/>
                                    </a:rPr>
                                  </m:ctrlPr>
                                </m:sSubPr>
                                <m:e>
                                  <m:r>
                                    <a:rPr lang="en-NZ" sz="2400" b="0" i="1" smtClean="0">
                                      <a:latin typeface="Cambria Math" panose="02040503050406030204" pitchFamily="18" charset="0"/>
                                      <a:ea typeface="Cambria Math" panose="02040503050406030204" pitchFamily="18" charset="0"/>
                                    </a:rPr>
                                    <m:t>h</m:t>
                                  </m:r>
                                </m:e>
                                <m:sub>
                                  <m:r>
                                    <a:rPr lang="en-NZ" sz="2400" b="0" i="1" smtClean="0">
                                      <a:latin typeface="Cambria Math" panose="02040503050406030204" pitchFamily="18" charset="0"/>
                                      <a:ea typeface="Cambria Math" panose="02040503050406030204" pitchFamily="18" charset="0"/>
                                    </a:rPr>
                                    <m:t>1</m:t>
                                  </m:r>
                                </m:sub>
                              </m:sSub>
                            </m:e>
                          </m:bar>
                        </m:num>
                        <m:den>
                          <m:r>
                            <a:rPr lang="en-NZ" sz="2400" b="0" i="1" smtClean="0">
                              <a:latin typeface="Cambria Math" panose="02040503050406030204" pitchFamily="18" charset="0"/>
                              <a:ea typeface="Cambria Math" panose="02040503050406030204" pitchFamily="18" charset="0"/>
                            </a:rPr>
                            <m:t>𝑀</m:t>
                          </m:r>
                        </m:den>
                      </m:f>
                    </m:oMath>
                  </m:oMathPara>
                </a14:m>
                <a:endParaRPr lang="en-NZ" sz="2400" dirty="0"/>
              </a:p>
              <a:p>
                <a:pPr marL="0" indent="0">
                  <a:buNone/>
                </a:pPr>
                <a:endParaRPr lang="en-NZ" sz="2400" dirty="0"/>
              </a:p>
              <a:p>
                <a:pPr marL="0" indent="0">
                  <a:buNone/>
                </a:pPr>
                <a:r>
                  <a:rPr lang="en-NZ" sz="2400" dirty="0"/>
                  <a:t>The initial and final pressures have no effect on the enthalpy change. Only the temperatures matter.</a:t>
                </a:r>
              </a:p>
            </p:txBody>
          </p:sp>
        </mc:Choice>
        <mc:Fallback>
          <p:sp>
            <p:nvSpPr>
              <p:cNvPr id="3" name="Content Placeholder 2">
                <a:extLst>
                  <a:ext uri="{FF2B5EF4-FFF2-40B4-BE49-F238E27FC236}">
                    <a16:creationId xmlns:a16="http://schemas.microsoft.com/office/drawing/2014/main" id="{F1D6578E-727B-CD5C-DA73-A616F1FB3301}"/>
                  </a:ext>
                </a:extLst>
              </p:cNvPr>
              <p:cNvSpPr>
                <a:spLocks noGrp="1" noRot="1" noChangeAspect="1" noMove="1" noResize="1" noEditPoints="1" noAdjustHandles="1" noChangeArrowheads="1" noChangeShapeType="1" noTextEdit="1"/>
              </p:cNvSpPr>
              <p:nvPr>
                <p:ph idx="1"/>
              </p:nvPr>
            </p:nvSpPr>
            <p:spPr>
              <a:blipFill>
                <a:blip r:embed="rId2"/>
                <a:stretch>
                  <a:fillRect l="-928" t="-1821" b="-700"/>
                </a:stretch>
              </a:blipFill>
            </p:spPr>
            <p:txBody>
              <a:bodyPr/>
              <a:lstStyle/>
              <a:p>
                <a:r>
                  <a:rPr lang="en-NZ">
                    <a:noFill/>
                  </a:rPr>
                  <a:t> </a:t>
                </a:r>
              </a:p>
            </p:txBody>
          </p:sp>
        </mc:Fallback>
      </mc:AlternateContent>
    </p:spTree>
    <p:extLst>
      <p:ext uri="{BB962C8B-B14F-4D97-AF65-F5344CB8AC3E}">
        <p14:creationId xmlns:p14="http://schemas.microsoft.com/office/powerpoint/2010/main" val="3850111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237</TotalTime>
  <Words>1646</Words>
  <Application>Microsoft Office PowerPoint</Application>
  <PresentationFormat>Widescreen</PresentationFormat>
  <Paragraphs>104</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Cambria Math</vt:lpstr>
      <vt:lpstr>Wingdings</vt:lpstr>
      <vt:lpstr>Office Theme</vt:lpstr>
      <vt:lpstr>Tutorial Week 4</vt:lpstr>
      <vt:lpstr>Q1) Calculate the total work, in kJ, for process 1–3 shown in the figure below when the system consists of 3 kg of nitrogen.</vt:lpstr>
      <vt:lpstr>Q1) Calculate the total work, in kJ, for process 1–3 shown in the figure below when the system consists of 3 kg of nitrogen.</vt:lpstr>
      <vt:lpstr>Q2) 2 m3 of saturated liquid water at 220°C is expanded isothermally in a closed system until its quality is 80 percent. Determine the total work produced by this expansion, in kJ. </vt:lpstr>
      <vt:lpstr>Q3) The volume of 1 kg of helium in a piston–cylinder device is initially 4 m3. Now helium is compressed to 1 m3 while its pressure is maintained constant at 120 kPa. Determine the initial and final temperatures of helium as well as the work required to compress it, in kJ.</vt:lpstr>
      <vt:lpstr>Q4) A gas is compressed from an initial volume of 0.2 m3 to a final volume of 0.1m3. During the quasi-equilibrium process, the pressure changes with volume according to the relation P = aV + b, where a = –1500 kPa/m3 and b = 400 kPa. Calculate the work done during this process: (a) by plotting the process on a P-V diagram and finding the area under the process curve and (b) by performing the necessary integrations.</vt:lpstr>
      <vt:lpstr>Q5) A 0.8-m3 rigid tank contains refrigerant-134a initially at 180 kPa and 45 percent quality. Heat is now transferred to the refrigerant until the pressure reaches 600 kPa. Determine (a) the mass of the refrigerant in the tank and (b) the amount of heat transferred. Also, show the process on a P-v diagram with respect to saturation lines.</vt:lpstr>
      <vt:lpstr>Q6) Steam at 95 kPa and 5 percent quality is contained in a spring-loaded piston–cylinder device, with an initial volume of 1.2 m3. Steam is now heated until its volume is 5.5 m3 and its pressure is 230 kPa. Determine the heat transferred to and the work produced by the steam during this process. </vt:lpstr>
      <vt:lpstr>Q6) Steam at 95 kPa and 5 percent quality is contained in a spring-loaded piston–cylinder device, with an initial volume of 1.2 m3. Steam is now heated until its volume is 5.5 m3 and its pressure is 230 kPa. Determine the heat transferred to and the work produced by the steam during this process.</vt:lpstr>
      <vt:lpstr>Q7) Long cylindrical steel rods (ρ = 7833 kg/m3 and cp = 0.465 kJ/kg·°C) of 10 cm diameter are heat-treated by drawing them at a velocity of 3 m/min through an oven maintained at 1000°C. If the rods enter the oven at 30°C and leave at a mean temperature of 400°C, determine the rate of heat transfer to the rods in the oven.</vt:lpstr>
      <vt:lpstr>Q8) An ordinary egg can be approximated as a 5.5-cm-diameter sphere. The egg is initially at a uniform temperature of 4°C and is dropped into boiling water at 97°C. Taking the properties of the egg to be ρ = 1020 kg/m3 and cp = 3.32 kJ/kg·°C, determine how much heat is transferred to the egg by the time the average temperature of the egg rises to 90°C.</vt:lpstr>
      <vt:lpstr>Q9) A frictionless piston is used to provide a constant pressure of 400 kPa in a cylinder containing steam originally at 200℃ with a volume of 2 m3. Calculate the final temperature if 3500 kJ of heat is added using the concept of enthalpy and the steam tables.</vt:lpstr>
      <vt:lpstr>Q9) A frictionless piston is used to provide a constant pressure of 400 kPa in a cylinder containing steam originally at 200℃ with a volume of 2 m3. Calculate the final temperature if 3500 kJ of heat is added using the concept of enthalpy and the steam tables.</vt:lpstr>
      <vt:lpstr>Q10)  The specific heat of superheated steam at approximately 150 kPa can be determined by the equation below. (a) Determine the enthalpy change between 400℃ and 800℃ for 4 kg of steam. (b) Determine the average value of 𝐶𝑝 between 400℃ and 800℃. </vt:lpstr>
      <vt:lpstr>11) Determine the enthalpy change for 2 kg of nitrogen which is heated from 250 K to 1300 K by (a) using the gas tables,  Use M = 28 kg/kmol.</vt:lpstr>
      <vt:lpstr>Q12) What is the change in the enthalpy, in kJ/kg, of oxygen as its temperature changes from 300 K to 400 K? Is there any difference if the temperature change were from 900 K to 1000 K? Does the pressure at the beginning and end of this process have any effect on the enthalpy change?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 Wang</dc:creator>
  <cp:lastModifiedBy>Jay Wang</cp:lastModifiedBy>
  <cp:revision>15</cp:revision>
  <dcterms:created xsi:type="dcterms:W3CDTF">2026-08-05T09:37:43Z</dcterms:created>
  <dcterms:modified xsi:type="dcterms:W3CDTF">2026-08-05T13:34:52Z</dcterms:modified>
</cp:coreProperties>
</file>