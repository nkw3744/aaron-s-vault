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361" r:id="rId3"/>
    <p:sldId id="346" r:id="rId4"/>
    <p:sldId id="347" r:id="rId5"/>
    <p:sldId id="348" r:id="rId6"/>
    <p:sldId id="349" r:id="rId7"/>
    <p:sldId id="350" r:id="rId8"/>
    <p:sldId id="351" r:id="rId9"/>
    <p:sldId id="352" r:id="rId10"/>
    <p:sldId id="353" r:id="rId11"/>
    <p:sldId id="362" r:id="rId12"/>
    <p:sldId id="363" r:id="rId13"/>
  </p:sldIdLst>
  <p:sldSz cx="12192000" cy="6858000"/>
  <p:notesSz cx="12192000" cy="6858000"/>
  <p:embeddedFontLst>
    <p:embeddedFont>
      <p:font typeface="Cambria Math" panose="02040503050406030204" pitchFamily="18" charset="0"/>
      <p:regular r:id="rId15"/>
    </p:embeddedFont>
  </p:embeddedFontLst>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93"/>
  </p:normalViewPr>
  <p:slideViewPr>
    <p:cSldViewPr>
      <p:cViewPr varScale="1">
        <p:scale>
          <a:sx n="105" d="100"/>
          <a:sy n="105" d="100"/>
        </p:scale>
        <p:origin x="696"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D3B1CBA-4DA3-4AD8-A43B-05B50A750C44}" type="datetimeFigureOut">
              <a:rPr lang="en-NZ" smtClean="0"/>
              <a:t>12/08/2026</a:t>
            </a:fld>
            <a:endParaRPr lang="en-NZ"/>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881B2AA-5DB1-498A-A072-8E62DBE9B283}" type="slidenum">
              <a:rPr lang="en-NZ" smtClean="0"/>
              <a:t>‹#›</a:t>
            </a:fld>
            <a:endParaRPr lang="en-NZ"/>
          </a:p>
        </p:txBody>
      </p:sp>
    </p:spTree>
    <p:extLst>
      <p:ext uri="{BB962C8B-B14F-4D97-AF65-F5344CB8AC3E}">
        <p14:creationId xmlns:p14="http://schemas.microsoft.com/office/powerpoint/2010/main" val="4112085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F0632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0632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0632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0632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111" y="0"/>
            <a:ext cx="12183888" cy="6849885"/>
          </a:xfrm>
          <a:prstGeom prst="rect">
            <a:avLst/>
          </a:prstGeom>
        </p:spPr>
      </p:pic>
      <p:pic>
        <p:nvPicPr>
          <p:cNvPr id="17" name="bg object 17"/>
          <p:cNvPicPr/>
          <p:nvPr/>
        </p:nvPicPr>
        <p:blipFill>
          <a:blip r:embed="rId3" cstate="print"/>
          <a:stretch>
            <a:fillRect/>
          </a:stretch>
        </p:blipFill>
        <p:spPr>
          <a:xfrm>
            <a:off x="9778492" y="0"/>
            <a:ext cx="2007616" cy="199504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 cy="6857997"/>
          </a:xfrm>
          <a:prstGeom prst="rect">
            <a:avLst/>
          </a:prstGeom>
        </p:spPr>
      </p:pic>
      <p:sp>
        <p:nvSpPr>
          <p:cNvPr id="2" name="Holder 2"/>
          <p:cNvSpPr>
            <a:spLocks noGrp="1"/>
          </p:cNvSpPr>
          <p:nvPr>
            <p:ph type="title"/>
          </p:nvPr>
        </p:nvSpPr>
        <p:spPr>
          <a:xfrm>
            <a:off x="1432941" y="220802"/>
            <a:ext cx="7871459" cy="514350"/>
          </a:xfrm>
          <a:prstGeom prst="rect">
            <a:avLst/>
          </a:prstGeom>
        </p:spPr>
        <p:txBody>
          <a:bodyPr wrap="square" lIns="0" tIns="0" rIns="0" bIns="0">
            <a:spAutoFit/>
          </a:bodyPr>
          <a:lstStyle>
            <a:lvl1pPr>
              <a:defRPr sz="3200" b="1" i="0">
                <a:solidFill>
                  <a:srgbClr val="F06320"/>
                </a:solidFill>
                <a:latin typeface="Calibri"/>
                <a:cs typeface="Calibri"/>
              </a:defRPr>
            </a:lvl1pPr>
          </a:lstStyle>
          <a:p>
            <a:endParaRPr/>
          </a:p>
        </p:txBody>
      </p:sp>
      <p:sp>
        <p:nvSpPr>
          <p:cNvPr id="3" name="Holder 3"/>
          <p:cNvSpPr>
            <a:spLocks noGrp="1"/>
          </p:cNvSpPr>
          <p:nvPr>
            <p:ph type="body" idx="1"/>
          </p:nvPr>
        </p:nvSpPr>
        <p:spPr>
          <a:xfrm>
            <a:off x="1432941" y="3036315"/>
            <a:ext cx="6759575" cy="350456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3340112"/>
            <a:ext cx="9182100" cy="2773045"/>
          </a:xfrm>
          <a:prstGeom prst="rect">
            <a:avLst/>
          </a:prstGeom>
          <a:solidFill>
            <a:srgbClr val="F06320">
              <a:alpha val="79998"/>
            </a:srgbClr>
          </a:solidFill>
        </p:spPr>
        <p:txBody>
          <a:bodyPr vert="horz" wrap="square" lIns="0" tIns="0" rIns="0" bIns="0" rtlCol="0">
            <a:spAutoFit/>
          </a:bodyPr>
          <a:lstStyle/>
          <a:p>
            <a:pPr>
              <a:lnSpc>
                <a:spcPct val="100000"/>
              </a:lnSpc>
            </a:pPr>
            <a:endParaRPr sz="2800" dirty="0">
              <a:latin typeface="Times New Roman"/>
              <a:cs typeface="Times New Roman"/>
            </a:endParaRPr>
          </a:p>
          <a:p>
            <a:pPr>
              <a:lnSpc>
                <a:spcPct val="100000"/>
              </a:lnSpc>
              <a:spcBef>
                <a:spcPts val="1505"/>
              </a:spcBef>
            </a:pPr>
            <a:endParaRPr sz="2800" dirty="0">
              <a:latin typeface="Times New Roman"/>
              <a:cs typeface="Times New Roman"/>
            </a:endParaRPr>
          </a:p>
          <a:p>
            <a:pPr marL="840740">
              <a:lnSpc>
                <a:spcPct val="100000"/>
              </a:lnSpc>
              <a:spcBef>
                <a:spcPts val="5"/>
              </a:spcBef>
            </a:pPr>
            <a:r>
              <a:rPr sz="2800" b="1" dirty="0">
                <a:solidFill>
                  <a:srgbClr val="FFFFFF"/>
                </a:solidFill>
                <a:latin typeface="Calibri"/>
                <a:cs typeface="Calibri"/>
              </a:rPr>
              <a:t>ENME601</a:t>
            </a:r>
            <a:r>
              <a:rPr sz="2800" b="1" spc="-125" dirty="0">
                <a:solidFill>
                  <a:srgbClr val="FFFFFF"/>
                </a:solidFill>
                <a:latin typeface="Calibri"/>
                <a:cs typeface="Calibri"/>
              </a:rPr>
              <a:t> </a:t>
            </a:r>
            <a:r>
              <a:rPr sz="2800" b="1" spc="-10" dirty="0">
                <a:solidFill>
                  <a:srgbClr val="FFFFFF"/>
                </a:solidFill>
                <a:latin typeface="Calibri"/>
                <a:cs typeface="Calibri"/>
              </a:rPr>
              <a:t>Thermodynamics</a:t>
            </a:r>
            <a:endParaRPr sz="2800" dirty="0">
              <a:latin typeface="Calibri"/>
              <a:cs typeface="Calibri"/>
            </a:endParaRPr>
          </a:p>
          <a:p>
            <a:pPr marL="840740">
              <a:lnSpc>
                <a:spcPct val="100000"/>
              </a:lnSpc>
              <a:spcBef>
                <a:spcPts val="530"/>
              </a:spcBef>
              <a:tabLst>
                <a:tab pos="2115185" algn="l"/>
              </a:tabLst>
            </a:pPr>
            <a:r>
              <a:rPr lang="en-NZ" sz="2400" dirty="0">
                <a:solidFill>
                  <a:srgbClr val="FFFFFF"/>
                </a:solidFill>
                <a:latin typeface="Calibri"/>
                <a:cs typeface="Calibri"/>
              </a:rPr>
              <a:t>Tutorial Session </a:t>
            </a:r>
            <a:endParaRPr sz="2400" dirty="0">
              <a:latin typeface="Calibri"/>
              <a:cs typeface="Calibri"/>
            </a:endParaRPr>
          </a:p>
          <a:p>
            <a:pPr>
              <a:lnSpc>
                <a:spcPct val="100000"/>
              </a:lnSpc>
              <a:spcBef>
                <a:spcPts val="950"/>
              </a:spcBef>
            </a:pPr>
            <a:endParaRPr sz="2400" dirty="0">
              <a:latin typeface="Calibri"/>
              <a:cs typeface="Calibri"/>
            </a:endParaRPr>
          </a:p>
          <a:p>
            <a:pPr marL="840740">
              <a:lnSpc>
                <a:spcPct val="100000"/>
              </a:lnSpc>
            </a:pPr>
            <a:r>
              <a:rPr sz="2400" dirty="0">
                <a:solidFill>
                  <a:srgbClr val="FFFFFF"/>
                </a:solidFill>
                <a:latin typeface="Calibri"/>
                <a:cs typeface="Calibri"/>
              </a:rPr>
              <a:t>Presenter</a:t>
            </a:r>
            <a:r>
              <a:rPr sz="2400" spc="-60" dirty="0">
                <a:solidFill>
                  <a:srgbClr val="FFFFFF"/>
                </a:solidFill>
                <a:latin typeface="Calibri"/>
                <a:cs typeface="Calibri"/>
              </a:rPr>
              <a:t> </a:t>
            </a:r>
            <a:r>
              <a:rPr sz="2400" dirty="0">
                <a:solidFill>
                  <a:srgbClr val="FFFFFF"/>
                </a:solidFill>
                <a:latin typeface="Calibri"/>
                <a:cs typeface="Calibri"/>
              </a:rPr>
              <a:t>:</a:t>
            </a:r>
            <a:r>
              <a:rPr sz="2400" spc="385" dirty="0">
                <a:solidFill>
                  <a:srgbClr val="FFFFFF"/>
                </a:solidFill>
                <a:latin typeface="Calibri"/>
                <a:cs typeface="Calibri"/>
              </a:rPr>
              <a:t> </a:t>
            </a:r>
            <a:r>
              <a:rPr sz="2400" dirty="0">
                <a:solidFill>
                  <a:srgbClr val="FFFFFF"/>
                </a:solidFill>
                <a:latin typeface="Calibri"/>
                <a:cs typeface="Calibri"/>
              </a:rPr>
              <a:t>Dr.</a:t>
            </a:r>
            <a:r>
              <a:rPr sz="2400" spc="-85" dirty="0">
                <a:solidFill>
                  <a:srgbClr val="FFFFFF"/>
                </a:solidFill>
                <a:latin typeface="Calibri"/>
                <a:cs typeface="Calibri"/>
              </a:rPr>
              <a:t> </a:t>
            </a:r>
            <a:r>
              <a:rPr sz="2400" dirty="0">
                <a:solidFill>
                  <a:srgbClr val="FFFFFF"/>
                </a:solidFill>
                <a:latin typeface="Calibri"/>
                <a:cs typeface="Calibri"/>
              </a:rPr>
              <a:t>Jay</a:t>
            </a:r>
            <a:r>
              <a:rPr sz="2400" spc="-85" dirty="0">
                <a:solidFill>
                  <a:srgbClr val="FFFFFF"/>
                </a:solidFill>
                <a:latin typeface="Calibri"/>
                <a:cs typeface="Calibri"/>
              </a:rPr>
              <a:t> </a:t>
            </a:r>
            <a:r>
              <a:rPr sz="2400" spc="-20" dirty="0">
                <a:solidFill>
                  <a:srgbClr val="FFFFFF"/>
                </a:solidFill>
                <a:latin typeface="Calibri"/>
                <a:cs typeface="Calibri"/>
              </a:rPr>
              <a:t>Wang</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AD482-5519-C5F2-4976-9A76F93EAB85}"/>
              </a:ext>
            </a:extLst>
          </p:cNvPr>
          <p:cNvSpPr>
            <a:spLocks noGrp="1"/>
          </p:cNvSpPr>
          <p:nvPr>
            <p:ph type="title"/>
          </p:nvPr>
        </p:nvSpPr>
        <p:spPr>
          <a:xfrm>
            <a:off x="2667000" y="2667000"/>
            <a:ext cx="8534400" cy="984885"/>
          </a:xfrm>
        </p:spPr>
        <p:txBody>
          <a:bodyPr/>
          <a:lstStyle/>
          <a:p>
            <a:r>
              <a:rPr lang="en-NZ" dirty="0"/>
              <a:t>Tutorial Questions (Week 5) Q1-Q10 Guidelines </a:t>
            </a:r>
          </a:p>
        </p:txBody>
      </p:sp>
    </p:spTree>
    <p:extLst>
      <p:ext uri="{BB962C8B-B14F-4D97-AF65-F5344CB8AC3E}">
        <p14:creationId xmlns:p14="http://schemas.microsoft.com/office/powerpoint/2010/main" val="3065097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0E739-6D56-1543-E908-AB59EFD49F0C}"/>
              </a:ext>
            </a:extLst>
          </p:cNvPr>
          <p:cNvSpPr>
            <a:spLocks noGrp="1"/>
          </p:cNvSpPr>
          <p:nvPr>
            <p:ph type="title"/>
          </p:nvPr>
        </p:nvSpPr>
        <p:spPr>
          <a:xfrm>
            <a:off x="1432941" y="220802"/>
            <a:ext cx="7871459" cy="492443"/>
          </a:xfrm>
        </p:spPr>
        <p:txBody>
          <a:bodyPr/>
          <a:lstStyle/>
          <a:p>
            <a:r>
              <a:rPr lang="en-NZ" dirty="0"/>
              <a:t>Tutorial Question Q1</a:t>
            </a:r>
          </a:p>
        </p:txBody>
      </p:sp>
      <p:sp>
        <p:nvSpPr>
          <p:cNvPr id="3" name="TextBox 2">
            <a:extLst>
              <a:ext uri="{FF2B5EF4-FFF2-40B4-BE49-F238E27FC236}">
                <a16:creationId xmlns:a16="http://schemas.microsoft.com/office/drawing/2014/main" id="{50A4C9C8-286D-0352-4119-3E6BD6246414}"/>
              </a:ext>
            </a:extLst>
          </p:cNvPr>
          <p:cNvSpPr txBox="1"/>
          <p:nvPr/>
        </p:nvSpPr>
        <p:spPr>
          <a:xfrm>
            <a:off x="1406815" y="856124"/>
            <a:ext cx="10728960" cy="707886"/>
          </a:xfrm>
          <a:prstGeom prst="rect">
            <a:avLst/>
          </a:prstGeom>
          <a:noFill/>
        </p:spPr>
        <p:txBody>
          <a:bodyPr wrap="square" rtlCol="0">
            <a:spAutoFit/>
          </a:bodyPr>
          <a:lstStyle/>
          <a:p>
            <a:r>
              <a:rPr lang="en-GB" sz="2000" b="1" kern="100" dirty="0">
                <a:latin typeface="Aptos" panose="020B0004020202020204" pitchFamily="34" charset="0"/>
                <a:ea typeface="DengXian" panose="02010600030101010101" pitchFamily="2" charset="-122"/>
                <a:cs typeface="Times New Roman" panose="02020603050405020304" pitchFamily="18" charset="0"/>
              </a:rPr>
              <a:t>Q1) </a:t>
            </a:r>
            <a:r>
              <a:rPr lang="en-GB" sz="2000" kern="100" dirty="0">
                <a:latin typeface="Aptos" panose="020B0004020202020204" pitchFamily="34" charset="0"/>
                <a:ea typeface="DengXian" panose="02010600030101010101" pitchFamily="2" charset="-122"/>
                <a:cs typeface="Times New Roman" panose="02020603050405020304" pitchFamily="18" charset="0"/>
              </a:rPr>
              <a:t>An air compressor compresses </a:t>
            </a:r>
            <a:r>
              <a:rPr lang="en-GB" sz="2000" kern="100" dirty="0">
                <a:solidFill>
                  <a:srgbClr val="FF0000"/>
                </a:solidFill>
                <a:latin typeface="Aptos" panose="020B0004020202020204" pitchFamily="34" charset="0"/>
                <a:ea typeface="DengXian" panose="02010600030101010101" pitchFamily="2" charset="-122"/>
                <a:cs typeface="Times New Roman" panose="02020603050405020304" pitchFamily="18" charset="0"/>
              </a:rPr>
              <a:t>6 L</a:t>
            </a:r>
            <a:r>
              <a:rPr lang="en-GB" sz="2000" kern="100" dirty="0">
                <a:latin typeface="Aptos" panose="020B0004020202020204" pitchFamily="34" charset="0"/>
                <a:ea typeface="DengXian" panose="02010600030101010101" pitchFamily="2" charset="-122"/>
                <a:cs typeface="Times New Roman" panose="02020603050405020304" pitchFamily="18" charset="0"/>
              </a:rPr>
              <a:t> of </a:t>
            </a:r>
            <a:r>
              <a:rPr lang="en-GB" sz="2000" kern="100" dirty="0">
                <a:solidFill>
                  <a:srgbClr val="FF0000"/>
                </a:solidFill>
                <a:highlight>
                  <a:srgbClr val="FFFF00"/>
                </a:highlight>
                <a:latin typeface="Aptos" panose="020B0004020202020204" pitchFamily="34" charset="0"/>
                <a:ea typeface="DengXian" panose="02010600030101010101" pitchFamily="2" charset="-122"/>
                <a:cs typeface="Times New Roman" panose="02020603050405020304" pitchFamily="18" charset="0"/>
              </a:rPr>
              <a:t>air</a:t>
            </a:r>
            <a:r>
              <a:rPr lang="en-GB" sz="2000" kern="100" dirty="0">
                <a:latin typeface="Aptos" panose="020B0004020202020204" pitchFamily="34" charset="0"/>
                <a:ea typeface="DengXian" panose="02010600030101010101" pitchFamily="2" charset="-122"/>
                <a:cs typeface="Times New Roman" panose="02020603050405020304" pitchFamily="18" charset="0"/>
              </a:rPr>
              <a:t> at </a:t>
            </a:r>
            <a:r>
              <a:rPr lang="en-GB" sz="2000" kern="100" dirty="0">
                <a:solidFill>
                  <a:srgbClr val="FF0000"/>
                </a:solidFill>
                <a:latin typeface="Aptos" panose="020B0004020202020204" pitchFamily="34" charset="0"/>
                <a:ea typeface="DengXian" panose="02010600030101010101" pitchFamily="2" charset="-122"/>
                <a:cs typeface="Times New Roman" panose="02020603050405020304" pitchFamily="18" charset="0"/>
              </a:rPr>
              <a:t>120 kPa </a:t>
            </a:r>
            <a:r>
              <a:rPr lang="en-GB" sz="2000" kern="100" dirty="0">
                <a:latin typeface="Aptos" panose="020B0004020202020204" pitchFamily="34" charset="0"/>
                <a:ea typeface="DengXian" panose="02010600030101010101" pitchFamily="2" charset="-122"/>
                <a:cs typeface="Times New Roman" panose="02020603050405020304" pitchFamily="18" charset="0"/>
              </a:rPr>
              <a:t>and </a:t>
            </a:r>
            <a:r>
              <a:rPr lang="en-GB" sz="2000" kern="100" dirty="0">
                <a:solidFill>
                  <a:srgbClr val="FF0000"/>
                </a:solidFill>
                <a:latin typeface="Aptos" panose="020B0004020202020204" pitchFamily="34" charset="0"/>
                <a:ea typeface="DengXian" panose="02010600030101010101" pitchFamily="2" charset="-122"/>
                <a:cs typeface="Times New Roman" panose="02020603050405020304" pitchFamily="18" charset="0"/>
              </a:rPr>
              <a:t>20°C </a:t>
            </a:r>
            <a:r>
              <a:rPr lang="en-GB" sz="2000" kern="100" dirty="0">
                <a:latin typeface="Aptos" panose="020B0004020202020204" pitchFamily="34" charset="0"/>
                <a:ea typeface="DengXian" panose="02010600030101010101" pitchFamily="2" charset="-122"/>
                <a:cs typeface="Times New Roman" panose="02020603050405020304" pitchFamily="18" charset="0"/>
              </a:rPr>
              <a:t>to </a:t>
            </a:r>
            <a:r>
              <a:rPr lang="en-GB" sz="2000" kern="100" dirty="0">
                <a:solidFill>
                  <a:srgbClr val="FF0000"/>
                </a:solidFill>
                <a:latin typeface="Aptos" panose="020B0004020202020204" pitchFamily="34" charset="0"/>
                <a:ea typeface="DengXian" panose="02010600030101010101" pitchFamily="2" charset="-122"/>
                <a:cs typeface="Times New Roman" panose="02020603050405020304" pitchFamily="18" charset="0"/>
              </a:rPr>
              <a:t>1000 kPa </a:t>
            </a:r>
            <a:r>
              <a:rPr lang="en-GB" sz="2000" kern="100" dirty="0">
                <a:latin typeface="Aptos" panose="020B0004020202020204" pitchFamily="34" charset="0"/>
                <a:ea typeface="DengXian" panose="02010600030101010101" pitchFamily="2" charset="-122"/>
                <a:cs typeface="Times New Roman" panose="02020603050405020304" pitchFamily="18" charset="0"/>
              </a:rPr>
              <a:t>and </a:t>
            </a:r>
            <a:r>
              <a:rPr lang="en-GB" sz="2000" kern="100" dirty="0">
                <a:solidFill>
                  <a:srgbClr val="FF0000"/>
                </a:solidFill>
                <a:latin typeface="Aptos" panose="020B0004020202020204" pitchFamily="34" charset="0"/>
                <a:ea typeface="DengXian" panose="02010600030101010101" pitchFamily="2" charset="-122"/>
                <a:cs typeface="Times New Roman" panose="02020603050405020304" pitchFamily="18" charset="0"/>
              </a:rPr>
              <a:t>400°C</a:t>
            </a:r>
            <a:r>
              <a:rPr lang="en-GB" sz="2000" kern="100" dirty="0">
                <a:latin typeface="Aptos" panose="020B0004020202020204" pitchFamily="34" charset="0"/>
                <a:ea typeface="DengXian" panose="02010600030101010101" pitchFamily="2" charset="-122"/>
                <a:cs typeface="Times New Roman" panose="02020603050405020304" pitchFamily="18" charset="0"/>
              </a:rPr>
              <a:t>. Determine the </a:t>
            </a:r>
            <a:r>
              <a:rPr lang="en-GB" sz="2000" kern="100" dirty="0">
                <a:highlight>
                  <a:srgbClr val="FFFF00"/>
                </a:highlight>
                <a:latin typeface="Aptos" panose="020B0004020202020204" pitchFamily="34" charset="0"/>
                <a:ea typeface="DengXian" panose="02010600030101010101" pitchFamily="2" charset="-122"/>
                <a:cs typeface="Times New Roman" panose="02020603050405020304" pitchFamily="18" charset="0"/>
              </a:rPr>
              <a:t>flow work</a:t>
            </a:r>
            <a:r>
              <a:rPr lang="en-GB" sz="2000" kern="100" dirty="0">
                <a:latin typeface="Aptos" panose="020B0004020202020204" pitchFamily="34" charset="0"/>
                <a:ea typeface="DengXian" panose="02010600030101010101" pitchFamily="2" charset="-122"/>
                <a:cs typeface="Times New Roman" panose="02020603050405020304" pitchFamily="18" charset="0"/>
              </a:rPr>
              <a:t>, in kJ/kg, required by the compressor.</a:t>
            </a:r>
          </a:p>
        </p:txBody>
      </p:sp>
      <p:grpSp>
        <p:nvGrpSpPr>
          <p:cNvPr id="10" name="Group 9">
            <a:extLst>
              <a:ext uri="{FF2B5EF4-FFF2-40B4-BE49-F238E27FC236}">
                <a16:creationId xmlns:a16="http://schemas.microsoft.com/office/drawing/2014/main" id="{557573C7-3629-B717-D2F4-C962CD97AE1C}"/>
              </a:ext>
            </a:extLst>
          </p:cNvPr>
          <p:cNvGrpSpPr/>
          <p:nvPr/>
        </p:nvGrpSpPr>
        <p:grpSpPr>
          <a:xfrm>
            <a:off x="2514600" y="3886200"/>
            <a:ext cx="7713127" cy="1083114"/>
            <a:chOff x="2131913" y="1976287"/>
            <a:chExt cx="7713127" cy="1083114"/>
          </a:xfrm>
        </p:grpSpPr>
        <p:sp>
          <p:nvSpPr>
            <p:cNvPr id="8" name="TextBox 7">
              <a:extLst>
                <a:ext uri="{FF2B5EF4-FFF2-40B4-BE49-F238E27FC236}">
                  <a16:creationId xmlns:a16="http://schemas.microsoft.com/office/drawing/2014/main" id="{FEFA3D4B-B3F6-9316-343F-725985C24E2D}"/>
                </a:ext>
              </a:extLst>
            </p:cNvPr>
            <p:cNvSpPr txBox="1"/>
            <p:nvPr/>
          </p:nvSpPr>
          <p:spPr>
            <a:xfrm>
              <a:off x="2131913" y="1976287"/>
              <a:ext cx="7697887" cy="523220"/>
            </a:xfrm>
            <a:prstGeom prst="rect">
              <a:avLst/>
            </a:prstGeom>
            <a:noFill/>
          </p:spPr>
          <p:txBody>
            <a:bodyPr wrap="square" rtlCol="0">
              <a:spAutoFit/>
            </a:bodyPr>
            <a:lstStyle/>
            <a:p>
              <a:pPr algn="ctr"/>
              <a:r>
                <a:rPr lang="en-NZ" sz="2800" dirty="0"/>
                <a:t>Required flow work = change in flow work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B0BD91F-2D10-086D-17ED-709940D9FEF3}"/>
                    </a:ext>
                  </a:extLst>
                </p:cNvPr>
                <p:cNvSpPr txBox="1"/>
                <p:nvPr/>
              </p:nvSpPr>
              <p:spPr>
                <a:xfrm>
                  <a:off x="2147153" y="2501684"/>
                  <a:ext cx="7697887" cy="55771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𝑤</m:t>
                            </m:r>
                          </m:e>
                          <m:sub>
                            <m:r>
                              <a:rPr lang="en-US" sz="2800" b="0" i="1" dirty="0" smtClean="0">
                                <a:latin typeface="Cambria Math" panose="02040503050406030204" pitchFamily="18" charset="0"/>
                              </a:rPr>
                              <m:t>𝑓𝑙𝑜𝑤</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𝑤</m:t>
                            </m:r>
                          </m:e>
                          <m:sub>
                            <m:r>
                              <a:rPr lang="en-US" sz="2800" b="0" i="1" dirty="0" smtClean="0">
                                <a:latin typeface="Cambria Math" panose="02040503050406030204" pitchFamily="18" charset="0"/>
                              </a:rPr>
                              <m:t>𝑜𝑢𝑡</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𝑤</m:t>
                            </m:r>
                          </m:e>
                          <m:sub>
                            <m:r>
                              <a:rPr lang="en-US" sz="2800" b="0" i="1" dirty="0" smtClean="0">
                                <a:latin typeface="Cambria Math" panose="02040503050406030204" pitchFamily="18" charset="0"/>
                              </a:rPr>
                              <m:t>𝑖𝑛</m:t>
                            </m:r>
                          </m:sub>
                        </m:sSub>
                      </m:oMath>
                    </m:oMathPara>
                  </a14:m>
                  <a:endParaRPr/>
                </a:p>
              </p:txBody>
            </p:sp>
          </mc:Choice>
          <mc:Fallback xmlns="">
            <p:sp>
              <p:nvSpPr>
                <p:cNvPr id="6" name="TextBox 5">
                  <a:extLst>
                    <a:ext uri="{FF2B5EF4-FFF2-40B4-BE49-F238E27FC236}">
                      <a16:creationId xmlns:a16="http://schemas.microsoft.com/office/drawing/2014/main" id="{9B0BD91F-2D10-086D-17ED-709940D9FEF3}"/>
                    </a:ext>
                  </a:extLst>
                </p:cNvPr>
                <p:cNvSpPr txBox="1">
                  <a:spLocks noRot="1" noChangeAspect="1" noMove="1" noResize="1" noEditPoints="1" noAdjustHandles="1" noChangeArrowheads="1" noChangeShapeType="1" noTextEdit="1"/>
                </p:cNvSpPr>
                <p:nvPr/>
              </p:nvSpPr>
              <p:spPr>
                <a:xfrm>
                  <a:off x="2147153" y="2501684"/>
                  <a:ext cx="7697887" cy="557717"/>
                </a:xfrm>
                <a:prstGeom prst="rect">
                  <a:avLst/>
                </a:prstGeom>
                <a:blipFill>
                  <a:blip r:embed="rId2"/>
                  <a:stretch>
                    <a:fillRect t="-8889" b="-24444"/>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0E0FCDD-46A4-D7E7-5B1D-39295AD4CDC5}"/>
                  </a:ext>
                </a:extLst>
              </p:cNvPr>
              <p:cNvSpPr txBox="1"/>
              <p:nvPr/>
            </p:nvSpPr>
            <p:spPr>
              <a:xfrm>
                <a:off x="1907177" y="2325098"/>
                <a:ext cx="8604287" cy="988604"/>
              </a:xfrm>
              <a:prstGeom prst="rect">
                <a:avLst/>
              </a:prstGeom>
              <a:noFill/>
            </p:spPr>
            <p:txBody>
              <a:bodyPr wrap="square" rtlCol="0">
                <a:spAutoFit/>
              </a:bodyPr>
              <a:lstStyle/>
              <a:p>
                <a:pPr algn="ctr"/>
                <a:r>
                  <a:rPr lang="en-NZ" sz="2800" dirty="0"/>
                  <a:t>The energy to push the fluid into a control volume</a:t>
                </a:r>
              </a:p>
              <a:p>
                <a:pPr algn="ct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𝑊</m:t>
                      </m:r>
                      <m:r>
                        <a:rPr lang="en-US" sz="2800" b="0" i="1" smtClean="0">
                          <a:latin typeface="Cambria Math" panose="02040503050406030204" pitchFamily="18" charset="0"/>
                        </a:rPr>
                        <m:t>=</m:t>
                      </m:r>
                      <m:r>
                        <a:rPr lang="en-US" sz="2800" b="0" i="1" smtClean="0">
                          <a:latin typeface="Cambria Math" panose="02040503050406030204" pitchFamily="18" charset="0"/>
                        </a:rPr>
                        <m:t>𝑃𝑉</m:t>
                      </m:r>
                      <m:r>
                        <a:rPr lang="en-US" sz="2800" b="0" i="1" smtClean="0">
                          <a:latin typeface="Cambria Math" panose="02040503050406030204" pitchFamily="18" charset="0"/>
                        </a:rPr>
                        <m:t> (</m:t>
                      </m:r>
                      <m:r>
                        <a:rPr lang="en-US" sz="2800" b="0" i="1" smtClean="0">
                          <a:latin typeface="Cambria Math" panose="02040503050406030204" pitchFamily="18" charset="0"/>
                        </a:rPr>
                        <m:t>𝑘𝐽</m:t>
                      </m:r>
                      <m:r>
                        <a:rPr lang="en-US" sz="2800" b="0" i="1" smtClean="0">
                          <a:latin typeface="Cambria Math" panose="02040503050406030204" pitchFamily="18" charset="0"/>
                        </a:rPr>
                        <m:t>)</m:t>
                      </m:r>
                    </m:oMath>
                  </m:oMathPara>
                </a14:m>
                <a:endParaRPr lang="en-NZ" sz="2800" dirty="0"/>
              </a:p>
            </p:txBody>
          </p:sp>
        </mc:Choice>
        <mc:Fallback xmlns="">
          <p:sp>
            <p:nvSpPr>
              <p:cNvPr id="9" name="TextBox 8">
                <a:extLst>
                  <a:ext uri="{FF2B5EF4-FFF2-40B4-BE49-F238E27FC236}">
                    <a16:creationId xmlns:a16="http://schemas.microsoft.com/office/drawing/2014/main" id="{10E0FCDD-46A4-D7E7-5B1D-39295AD4CDC5}"/>
                  </a:ext>
                </a:extLst>
              </p:cNvPr>
              <p:cNvSpPr txBox="1">
                <a:spLocks noRot="1" noChangeAspect="1" noMove="1" noResize="1" noEditPoints="1" noAdjustHandles="1" noChangeArrowheads="1" noChangeShapeType="1" noTextEdit="1"/>
              </p:cNvSpPr>
              <p:nvPr/>
            </p:nvSpPr>
            <p:spPr>
              <a:xfrm>
                <a:off x="1907177" y="2325098"/>
                <a:ext cx="8604287" cy="988604"/>
              </a:xfrm>
              <a:prstGeom prst="rect">
                <a:avLst/>
              </a:prstGeom>
              <a:blipFill>
                <a:blip r:embed="rId3"/>
                <a:stretch>
                  <a:fillRect t="-5000" b="-8750"/>
                </a:stretch>
              </a:blipFill>
            </p:spPr>
            <p:txBody>
              <a:bodyPr/>
              <a:lstStyle/>
              <a:p>
                <a:r>
                  <a:rPr lang="en-GB">
                    <a:noFill/>
                  </a:rPr>
                  <a:t> </a:t>
                </a:r>
              </a:p>
            </p:txBody>
          </p:sp>
        </mc:Fallback>
      </mc:AlternateContent>
    </p:spTree>
    <p:extLst>
      <p:ext uri="{BB962C8B-B14F-4D97-AF65-F5344CB8AC3E}">
        <p14:creationId xmlns:p14="http://schemas.microsoft.com/office/powerpoint/2010/main" val="3394341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D7D3-E0E6-F0B6-79B3-EDE7F7A51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792C7-3694-0A16-6DA3-8A5CDF1E7297}"/>
              </a:ext>
            </a:extLst>
          </p:cNvPr>
          <p:cNvSpPr>
            <a:spLocks noGrp="1"/>
          </p:cNvSpPr>
          <p:nvPr>
            <p:ph type="title"/>
          </p:nvPr>
        </p:nvSpPr>
        <p:spPr>
          <a:xfrm>
            <a:off x="1432941" y="220802"/>
            <a:ext cx="7871459" cy="492443"/>
          </a:xfrm>
        </p:spPr>
        <p:txBody>
          <a:bodyPr/>
          <a:lstStyle/>
          <a:p>
            <a:r>
              <a:rPr lang="en-NZ" dirty="0"/>
              <a:t>Tutorial Question Q2</a:t>
            </a:r>
          </a:p>
        </p:txBody>
      </p:sp>
      <p:sp>
        <p:nvSpPr>
          <p:cNvPr id="4" name="TextBox 3">
            <a:extLst>
              <a:ext uri="{FF2B5EF4-FFF2-40B4-BE49-F238E27FC236}">
                <a16:creationId xmlns:a16="http://schemas.microsoft.com/office/drawing/2014/main" id="{68F577A8-C87C-69EC-AF39-5214AC60C0E7}"/>
              </a:ext>
            </a:extLst>
          </p:cNvPr>
          <p:cNvSpPr txBox="1"/>
          <p:nvPr/>
        </p:nvSpPr>
        <p:spPr>
          <a:xfrm>
            <a:off x="1295400" y="1143000"/>
            <a:ext cx="10454259" cy="1136721"/>
          </a:xfrm>
          <a:prstGeom prst="rect">
            <a:avLst/>
          </a:prstGeom>
          <a:noFill/>
        </p:spPr>
        <p:txBody>
          <a:bodyPr wrap="square">
            <a:spAutoFit/>
          </a:bodyPr>
          <a:lstStyle/>
          <a:p>
            <a:pPr algn="l">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Q2)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Air enters the 1-m</a:t>
            </a:r>
            <a:r>
              <a:rPr lang="en-NZ" sz="2000" kern="100" baseline="30000" dirty="0">
                <a:effectLst/>
                <a:latin typeface="Aptos" panose="020B0004020202020204" pitchFamily="34" charset="0"/>
                <a:ea typeface="DengXian" panose="02010600030101010101" pitchFamily="2" charset="-122"/>
                <a:cs typeface="Times New Roman" panose="02020603050405020304" pitchFamily="18" charset="0"/>
              </a:rPr>
              <a:t>2</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inlet of an aircraft engine at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100 kPa</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and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20°C</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with a velocity of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180 m/s</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Determine the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volume flow rate, in m</a:t>
            </a:r>
            <a:r>
              <a:rPr lang="en-NZ" sz="2000" kern="100" baseline="300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3</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/s</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at the engine’s inlet and </a:t>
            </a:r>
            <a:r>
              <a:rPr lang="en-NZ" sz="20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rPr>
              <a:t>the</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 mass flow rate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in kg/s, at the engine’s exit.</a:t>
            </a:r>
          </a:p>
        </p:txBody>
      </p:sp>
      <p:sp>
        <p:nvSpPr>
          <p:cNvPr id="3" name="TextBox 2">
            <a:extLst>
              <a:ext uri="{FF2B5EF4-FFF2-40B4-BE49-F238E27FC236}">
                <a16:creationId xmlns:a16="http://schemas.microsoft.com/office/drawing/2014/main" id="{FE7ABBEF-592C-224A-6554-13CA3F5E2772}"/>
              </a:ext>
            </a:extLst>
          </p:cNvPr>
          <p:cNvSpPr txBox="1"/>
          <p:nvPr/>
        </p:nvSpPr>
        <p:spPr>
          <a:xfrm>
            <a:off x="1898523" y="3048000"/>
            <a:ext cx="9829800" cy="1685846"/>
          </a:xfrm>
          <a:prstGeom prst="rect">
            <a:avLst/>
          </a:prstGeom>
          <a:noFill/>
        </p:spPr>
        <p:txBody>
          <a:bodyPr wrap="square" rtlCol="0">
            <a:spAutoFit/>
          </a:bodyPr>
          <a:lstStyle/>
          <a:p>
            <a:pPr>
              <a:lnSpc>
                <a:spcPct val="150000"/>
              </a:lnSpc>
            </a:pPr>
            <a:r>
              <a:rPr lang="en-GB" sz="2400" dirty="0"/>
              <a:t>Under steady-flow conditions, the </a:t>
            </a:r>
            <a:r>
              <a:rPr lang="en-GB" sz="2400" b="1" dirty="0">
                <a:highlight>
                  <a:srgbClr val="FFFF00"/>
                </a:highlight>
              </a:rPr>
              <a:t>principle of conservation of mass</a:t>
            </a:r>
            <a:r>
              <a:rPr lang="en-GB" sz="2400" dirty="0"/>
              <a:t> indicates that the mass flow rate at the inlet equals the mass flow rate at the exit.</a:t>
            </a:r>
          </a:p>
        </p:txBody>
      </p:sp>
    </p:spTree>
    <p:extLst>
      <p:ext uri="{BB962C8B-B14F-4D97-AF65-F5344CB8AC3E}">
        <p14:creationId xmlns:p14="http://schemas.microsoft.com/office/powerpoint/2010/main" val="16285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2ECA5-2A94-EE81-8263-7EAE389A9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9ED07-D455-4696-CE50-264D26B83812}"/>
              </a:ext>
            </a:extLst>
          </p:cNvPr>
          <p:cNvSpPr>
            <a:spLocks noGrp="1"/>
          </p:cNvSpPr>
          <p:nvPr>
            <p:ph type="title"/>
          </p:nvPr>
        </p:nvSpPr>
        <p:spPr>
          <a:xfrm>
            <a:off x="1432941" y="220802"/>
            <a:ext cx="7871459" cy="492443"/>
          </a:xfrm>
        </p:spPr>
        <p:txBody>
          <a:bodyPr/>
          <a:lstStyle/>
          <a:p>
            <a:r>
              <a:rPr lang="en-NZ" dirty="0"/>
              <a:t>Tutorial Question Q3</a:t>
            </a:r>
          </a:p>
        </p:txBody>
      </p:sp>
      <p:sp>
        <p:nvSpPr>
          <p:cNvPr id="4" name="TextBox 3">
            <a:extLst>
              <a:ext uri="{FF2B5EF4-FFF2-40B4-BE49-F238E27FC236}">
                <a16:creationId xmlns:a16="http://schemas.microsoft.com/office/drawing/2014/main" id="{9F1AFCC6-59E0-3194-B41C-76C28FD504DF}"/>
              </a:ext>
            </a:extLst>
          </p:cNvPr>
          <p:cNvSpPr txBox="1"/>
          <p:nvPr/>
        </p:nvSpPr>
        <p:spPr>
          <a:xfrm>
            <a:off x="1411604" y="1143000"/>
            <a:ext cx="10627995" cy="1798441"/>
          </a:xfrm>
          <a:prstGeom prst="rect">
            <a:avLst/>
          </a:prstGeom>
          <a:noFill/>
        </p:spPr>
        <p:txBody>
          <a:bodyPr wrap="square">
            <a:spAutoFit/>
          </a:bodyPr>
          <a:lstStyle/>
          <a:p>
            <a:pPr algn="l">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Q3) </a:t>
            </a:r>
            <a:r>
              <a:rPr lang="en-NZ" sz="2000" b="1" kern="100" dirty="0">
                <a:effectLst/>
                <a:highlight>
                  <a:srgbClr val="FFFF00"/>
                </a:highlight>
                <a:latin typeface="Aptos" panose="020B0004020202020204" pitchFamily="34" charset="0"/>
                <a:ea typeface="DengXian" panose="02010600030101010101" pitchFamily="2" charset="-122"/>
                <a:cs typeface="Times New Roman" panose="02020603050405020304" pitchFamily="18" charset="0"/>
              </a:rPr>
              <a:t>Refrigerant-134a</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enters the compressor of a refrigeration system as </a:t>
            </a:r>
            <a:r>
              <a:rPr lang="en-NZ" sz="2000" kern="100" dirty="0">
                <a:solidFill>
                  <a:srgbClr val="C00000"/>
                </a:solidFill>
                <a:effectLst/>
                <a:latin typeface="Aptos" panose="020B0004020202020204" pitchFamily="34" charset="0"/>
                <a:ea typeface="DengXian" panose="02010600030101010101" pitchFamily="2" charset="-122"/>
                <a:cs typeface="Times New Roman" panose="02020603050405020304" pitchFamily="18" charset="0"/>
              </a:rPr>
              <a:t>saturated vapor</a:t>
            </a:r>
          </a:p>
          <a:p>
            <a:pPr algn="l">
              <a:lnSpc>
                <a:spcPct val="115000"/>
              </a:lnSpc>
              <a:spcAft>
                <a:spcPts val="800"/>
              </a:spcAft>
              <a:buNone/>
            </a:pP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at </a:t>
            </a:r>
            <a:r>
              <a:rPr lang="en-NZ" sz="2000" kern="100" dirty="0">
                <a:solidFill>
                  <a:srgbClr val="C00000"/>
                </a:solidFill>
                <a:effectLst/>
                <a:latin typeface="Aptos" panose="020B0004020202020204" pitchFamily="34" charset="0"/>
                <a:ea typeface="DengXian" panose="02010600030101010101" pitchFamily="2" charset="-122"/>
                <a:cs typeface="Times New Roman" panose="02020603050405020304" pitchFamily="18" charset="0"/>
              </a:rPr>
              <a:t>0.14 MPa</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and leaves as </a:t>
            </a:r>
            <a:r>
              <a:rPr lang="en-NZ" sz="2000" kern="100" dirty="0">
                <a:solidFill>
                  <a:srgbClr val="C00000"/>
                </a:solidFill>
                <a:effectLst/>
                <a:latin typeface="Aptos" panose="020B0004020202020204" pitchFamily="34" charset="0"/>
                <a:ea typeface="DengXian" panose="02010600030101010101" pitchFamily="2" charset="-122"/>
                <a:cs typeface="Times New Roman" panose="02020603050405020304" pitchFamily="18" charset="0"/>
              </a:rPr>
              <a:t>superheated vapor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at </a:t>
            </a:r>
            <a:r>
              <a:rPr lang="en-NZ" sz="2000" kern="100" dirty="0">
                <a:solidFill>
                  <a:srgbClr val="C00000"/>
                </a:solidFill>
                <a:effectLst/>
                <a:latin typeface="Aptos" panose="020B0004020202020204" pitchFamily="34" charset="0"/>
                <a:ea typeface="DengXian" panose="02010600030101010101" pitchFamily="2" charset="-122"/>
                <a:cs typeface="Times New Roman" panose="02020603050405020304" pitchFamily="18" charset="0"/>
              </a:rPr>
              <a:t>0.8 MPa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and </a:t>
            </a:r>
            <a:r>
              <a:rPr lang="en-NZ" sz="2000" kern="100" dirty="0">
                <a:solidFill>
                  <a:srgbClr val="C00000"/>
                </a:solidFill>
                <a:effectLst/>
                <a:latin typeface="Aptos" panose="020B0004020202020204" pitchFamily="34" charset="0"/>
                <a:ea typeface="DengXian" panose="02010600030101010101" pitchFamily="2" charset="-122"/>
                <a:cs typeface="Times New Roman" panose="02020603050405020304" pitchFamily="18" charset="0"/>
              </a:rPr>
              <a:t>60°C</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at a rate of </a:t>
            </a:r>
            <a:r>
              <a:rPr lang="en-NZ" sz="2000" kern="100" dirty="0">
                <a:solidFill>
                  <a:srgbClr val="C00000"/>
                </a:solidFill>
                <a:effectLst/>
                <a:latin typeface="Aptos" panose="020B0004020202020204" pitchFamily="34" charset="0"/>
                <a:ea typeface="DengXian" panose="02010600030101010101" pitchFamily="2" charset="-122"/>
                <a:cs typeface="Times New Roman" panose="02020603050405020304" pitchFamily="18" charset="0"/>
              </a:rPr>
              <a:t>0.06 kg/s.</a:t>
            </a:r>
          </a:p>
          <a:p>
            <a:pPr algn="l">
              <a:lnSpc>
                <a:spcPct val="115000"/>
              </a:lnSpc>
              <a:spcAft>
                <a:spcPts val="800"/>
              </a:spcAft>
              <a:buNone/>
            </a:pP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Determine the rates of energy transfers by mass into and out of the compressor.</a:t>
            </a:r>
          </a:p>
          <a:p>
            <a:pPr algn="l">
              <a:lnSpc>
                <a:spcPct val="115000"/>
              </a:lnSpc>
              <a:spcAft>
                <a:spcPts val="800"/>
              </a:spcAft>
              <a:buNone/>
            </a:pP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Assume the kinetic and potential energies to be negligible.</a:t>
            </a:r>
          </a:p>
        </p:txBody>
      </p:sp>
      <p:grpSp>
        <p:nvGrpSpPr>
          <p:cNvPr id="8" name="Group 7">
            <a:extLst>
              <a:ext uri="{FF2B5EF4-FFF2-40B4-BE49-F238E27FC236}">
                <a16:creationId xmlns:a16="http://schemas.microsoft.com/office/drawing/2014/main" id="{84B84C2A-474B-5B0E-AADA-0F91A8D7B31B}"/>
              </a:ext>
            </a:extLst>
          </p:cNvPr>
          <p:cNvGrpSpPr/>
          <p:nvPr/>
        </p:nvGrpSpPr>
        <p:grpSpPr>
          <a:xfrm>
            <a:off x="4009531" y="3762554"/>
            <a:ext cx="4519186" cy="1574101"/>
            <a:chOff x="4009531" y="3762554"/>
            <a:chExt cx="4519186" cy="1574101"/>
          </a:xfrm>
        </p:grpSpPr>
        <p:sp>
          <p:nvSpPr>
            <p:cNvPr id="3" name="TextBox 2">
              <a:extLst>
                <a:ext uri="{FF2B5EF4-FFF2-40B4-BE49-F238E27FC236}">
                  <a16:creationId xmlns:a16="http://schemas.microsoft.com/office/drawing/2014/main" id="{EA99C061-6635-C555-ED67-7333A6FEF451}"/>
                </a:ext>
              </a:extLst>
            </p:cNvPr>
            <p:cNvSpPr txBox="1"/>
            <p:nvPr/>
          </p:nvSpPr>
          <p:spPr>
            <a:xfrm>
              <a:off x="4009531" y="3762554"/>
              <a:ext cx="4519186" cy="369332"/>
            </a:xfrm>
            <a:prstGeom prst="rect">
              <a:avLst/>
            </a:prstGeom>
            <a:noFill/>
          </p:spPr>
          <p:txBody>
            <a:bodyPr wrap="none" rtlCol="0">
              <a:spAutoFit/>
            </a:bodyPr>
            <a:lstStyle/>
            <a:p>
              <a:r>
                <a:rPr lang="en-NZ" b="1" dirty="0"/>
                <a:t>Identify the properties at the inlet</a:t>
              </a:r>
              <a:r>
                <a:rPr lang="en-GB" b="1" dirty="0"/>
                <a:t> &amp; exit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3DB5607-6280-CE9D-ABFB-DB5EBF5CB874}"/>
                    </a:ext>
                  </a:extLst>
                </p:cNvPr>
                <p:cNvSpPr txBox="1"/>
                <p:nvPr/>
              </p:nvSpPr>
              <p:spPr>
                <a:xfrm>
                  <a:off x="5423412" y="4272457"/>
                  <a:ext cx="1691425"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FF0000"/>
                            </a:solidFill>
                            <a:latin typeface="Cambria Math" panose="02040503050406030204" pitchFamily="18" charset="0"/>
                          </a:rPr>
                          <m:t>𝐸</m:t>
                        </m:r>
                        <m:r>
                          <a:rPr lang="en-US" sz="3200" b="0" i="1" smtClean="0">
                            <a:solidFill>
                              <a:srgbClr val="FF0000"/>
                            </a:solidFill>
                            <a:latin typeface="Cambria Math" panose="02040503050406030204" pitchFamily="18" charset="0"/>
                          </a:rPr>
                          <m:t>=</m:t>
                        </m:r>
                        <m:acc>
                          <m:accPr>
                            <m:chr m:val="̇"/>
                            <m:ctrlPr>
                              <a:rPr lang="en-US" sz="3200" b="0" i="1" smtClean="0">
                                <a:solidFill>
                                  <a:srgbClr val="FF0000"/>
                                </a:solidFill>
                                <a:latin typeface="Cambria Math" panose="02040503050406030204" pitchFamily="18" charset="0"/>
                              </a:rPr>
                            </m:ctrlPr>
                          </m:accPr>
                          <m:e>
                            <m:r>
                              <a:rPr lang="en-US" sz="3200" b="0" i="1" smtClean="0">
                                <a:solidFill>
                                  <a:srgbClr val="FF0000"/>
                                </a:solidFill>
                                <a:latin typeface="Cambria Math" panose="02040503050406030204" pitchFamily="18" charset="0"/>
                              </a:rPr>
                              <m:t>𝑚</m:t>
                            </m:r>
                          </m:e>
                        </m:acc>
                        <m:r>
                          <a:rPr lang="en-US" sz="3200" b="0" i="1" smtClean="0">
                            <a:solidFill>
                              <a:srgbClr val="FF0000"/>
                            </a:solidFill>
                            <a:latin typeface="Cambria Math" panose="02040503050406030204" pitchFamily="18" charset="0"/>
                          </a:rPr>
                          <m:t>h</m:t>
                        </m:r>
                      </m:oMath>
                    </m:oMathPara>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13DB5607-6280-CE9D-ABFB-DB5EBF5CB874}"/>
                    </a:ext>
                  </a:extLst>
                </p:cNvPr>
                <p:cNvSpPr txBox="1">
                  <a:spLocks noRot="1" noChangeAspect="1" noMove="1" noResize="1" noEditPoints="1" noAdjustHandles="1" noChangeArrowheads="1" noChangeShapeType="1" noTextEdit="1"/>
                </p:cNvSpPr>
                <p:nvPr/>
              </p:nvSpPr>
              <p:spPr>
                <a:xfrm>
                  <a:off x="5423412" y="4272457"/>
                  <a:ext cx="1691425" cy="584775"/>
                </a:xfrm>
                <a:prstGeom prst="rect">
                  <a:avLst/>
                </a:prstGeom>
                <a:blipFill>
                  <a:blip r:embed="rId2"/>
                  <a:stretch>
                    <a:fillRect/>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59994C46-4119-2A2F-83C1-A9629C190B18}"/>
                </a:ext>
              </a:extLst>
            </p:cNvPr>
            <p:cNvSpPr txBox="1"/>
            <p:nvPr/>
          </p:nvSpPr>
          <p:spPr>
            <a:xfrm>
              <a:off x="4953000" y="4967323"/>
              <a:ext cx="2800767" cy="369332"/>
            </a:xfrm>
            <a:prstGeom prst="rect">
              <a:avLst/>
            </a:prstGeom>
            <a:noFill/>
          </p:spPr>
          <p:txBody>
            <a:bodyPr wrap="none" rtlCol="0">
              <a:spAutoFit/>
            </a:bodyPr>
            <a:lstStyle/>
            <a:p>
              <a:r>
                <a:rPr lang="en-GB" b="1" dirty="0"/>
                <a:t>Use Table A-12 and A13</a:t>
              </a:r>
            </a:p>
          </p:txBody>
        </p:sp>
      </p:grpSp>
    </p:spTree>
    <p:extLst>
      <p:ext uri="{BB962C8B-B14F-4D97-AF65-F5344CB8AC3E}">
        <p14:creationId xmlns:p14="http://schemas.microsoft.com/office/powerpoint/2010/main" val="3577618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A56E4-E7B3-ED67-731F-0B716636E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06BD0-B83D-6344-D5F8-F1D88573A275}"/>
              </a:ext>
            </a:extLst>
          </p:cNvPr>
          <p:cNvSpPr>
            <a:spLocks noGrp="1"/>
          </p:cNvSpPr>
          <p:nvPr>
            <p:ph type="title"/>
          </p:nvPr>
        </p:nvSpPr>
        <p:spPr>
          <a:xfrm>
            <a:off x="1432941" y="220802"/>
            <a:ext cx="7871459" cy="492443"/>
          </a:xfrm>
        </p:spPr>
        <p:txBody>
          <a:bodyPr/>
          <a:lstStyle/>
          <a:p>
            <a:r>
              <a:rPr lang="en-NZ" dirty="0"/>
              <a:t>Tutorial Question Q4</a:t>
            </a:r>
          </a:p>
        </p:txBody>
      </p:sp>
      <p:sp>
        <p:nvSpPr>
          <p:cNvPr id="4" name="TextBox 3">
            <a:extLst>
              <a:ext uri="{FF2B5EF4-FFF2-40B4-BE49-F238E27FC236}">
                <a16:creationId xmlns:a16="http://schemas.microsoft.com/office/drawing/2014/main" id="{DA381A7E-FF40-466A-F4D5-D0605EAA1112}"/>
              </a:ext>
            </a:extLst>
          </p:cNvPr>
          <p:cNvSpPr txBox="1"/>
          <p:nvPr/>
        </p:nvSpPr>
        <p:spPr>
          <a:xfrm>
            <a:off x="1442084" y="990600"/>
            <a:ext cx="10521315" cy="1490664"/>
          </a:xfrm>
          <a:prstGeom prst="rect">
            <a:avLst/>
          </a:prstGeom>
          <a:noFill/>
        </p:spPr>
        <p:txBody>
          <a:bodyPr wrap="square">
            <a:spAutoFit/>
          </a:bodyPr>
          <a:lstStyle/>
          <a:p>
            <a:pPr algn="l">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Q4)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Air enters a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16-cm</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-diameter pipe steadily at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200 kPa</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and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20°C</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with a velocity of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5 m/s</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t>
            </a:r>
            <a:r>
              <a:rPr lang="en-NZ" sz="2000" kern="100" dirty="0">
                <a:effectLst/>
                <a:highlight>
                  <a:srgbClr val="FFFF00"/>
                </a:highlight>
                <a:latin typeface="Aptos" panose="020B0004020202020204" pitchFamily="34" charset="0"/>
                <a:ea typeface="DengXian" panose="02010600030101010101" pitchFamily="2" charset="-122"/>
                <a:cs typeface="Times New Roman" panose="02020603050405020304" pitchFamily="18" charset="0"/>
              </a:rPr>
              <a:t>Air</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is heated as it flows, and it leaves the pipe at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180 kPa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and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40°C</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Determine (a) the volume flow rate of air at the inlet, (b) the mass flow rate of air, and (c) the velocity and volume flow rate at the exit.</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92462C9-C5B7-D747-CECE-AD94E3176F66}"/>
                  </a:ext>
                </a:extLst>
              </p:cNvPr>
              <p:cNvSpPr txBox="1"/>
              <p:nvPr/>
            </p:nvSpPr>
            <p:spPr>
              <a:xfrm>
                <a:off x="2438400" y="3352800"/>
                <a:ext cx="7871459" cy="1911870"/>
              </a:xfrm>
              <a:prstGeom prst="rect">
                <a:avLst/>
              </a:prstGeom>
              <a:noFill/>
              <a:ln w="19050">
                <a:solidFill>
                  <a:srgbClr val="C00000"/>
                </a:solidFill>
              </a:ln>
            </p:spPr>
            <p:txBody>
              <a:bodyPr wrap="square" rtlCol="0">
                <a:spAutoFit/>
              </a:bodyPr>
              <a:lstStyle/>
              <a:p>
                <a:pPr marL="285750" indent="-285750">
                  <a:lnSpc>
                    <a:spcPct val="150000"/>
                  </a:lnSpc>
                  <a:buFont typeface="Arial" panose="020B0604020202020204" pitchFamily="34" charset="0"/>
                  <a:buChar char="•"/>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𝑚</m:t>
                        </m:r>
                      </m:e>
                    </m:ac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r>
                      <a:rPr lang="en-NZ" b="0" i="1" smtClean="0">
                        <a:latin typeface="Cambria Math" panose="02040503050406030204" pitchFamily="18" charset="0"/>
                        <a:ea typeface="Cambria Math" panose="02040503050406030204" pitchFamily="18" charset="0"/>
                      </a:rPr>
                      <m:t>=</m:t>
                    </m:r>
                    <m:f>
                      <m:fPr>
                        <m:ctrlPr>
                          <a:rPr lang="en-NZ" b="0" i="1" smtClean="0">
                            <a:latin typeface="Cambria Math" panose="02040503050406030204" pitchFamily="18" charset="0"/>
                            <a:ea typeface="Cambria Math" panose="02040503050406030204" pitchFamily="18" charset="0"/>
                          </a:rPr>
                        </m:ctrlPr>
                      </m:fPr>
                      <m:num>
                        <m:r>
                          <a:rPr lang="en-NZ" b="0" i="1" smtClean="0">
                            <a:latin typeface="Cambria Math" panose="02040503050406030204" pitchFamily="18" charset="0"/>
                            <a:ea typeface="Cambria Math" panose="02040503050406030204" pitchFamily="18" charset="0"/>
                          </a:rPr>
                          <m:t>𝑃</m:t>
                        </m:r>
                      </m:num>
                      <m:den>
                        <m:r>
                          <a:rPr lang="en-NZ" b="0" i="1" smtClean="0">
                            <a:latin typeface="Cambria Math" panose="02040503050406030204" pitchFamily="18" charset="0"/>
                            <a:ea typeface="Cambria Math" panose="02040503050406030204" pitchFamily="18" charset="0"/>
                          </a:rPr>
                          <m:t>𝑅𝑇</m:t>
                        </m:r>
                      </m:den>
                    </m:f>
                    <m:acc>
                      <m:accPr>
                        <m:chr m:val="̇"/>
                        <m:ctrlPr>
                          <a:rPr lang="en-NZ" b="0" i="1" smtClean="0">
                            <a:latin typeface="Cambria Math" panose="02040503050406030204" pitchFamily="18" charset="0"/>
                            <a:ea typeface="Cambria Math" panose="02040503050406030204" pitchFamily="18" charset="0"/>
                          </a:rPr>
                        </m:ctrlPr>
                      </m:accPr>
                      <m:e>
                        <m:r>
                          <a:rPr lang="en-NZ" b="0" i="1" smtClean="0">
                            <a:latin typeface="Cambria Math" panose="02040503050406030204" pitchFamily="18" charset="0"/>
                            <a:ea typeface="Cambria Math" panose="02040503050406030204" pitchFamily="18" charset="0"/>
                          </a:rPr>
                          <m:t>𝑣</m:t>
                        </m:r>
                      </m:e>
                    </m:acc>
                  </m:oMath>
                </a14:m>
                <a:r>
                  <a:rPr lang="en-NZ" dirty="0"/>
                  <a:t>                           since </a:t>
                </a:r>
                <a14:m>
                  <m:oMath xmlns:m="http://schemas.openxmlformats.org/officeDocument/2006/math">
                    <m:r>
                      <a:rPr lang="en-NZ" i="1" smtClean="0">
                        <a:latin typeface="Cambria Math" panose="02040503050406030204" pitchFamily="18" charset="0"/>
                        <a:ea typeface="Cambria Math" panose="02040503050406030204" pitchFamily="18" charset="0"/>
                      </a:rPr>
                      <m:t>𝜌</m:t>
                    </m:r>
                    <m:r>
                      <a:rPr lang="en-NZ" b="0" i="1" smtClean="0">
                        <a:latin typeface="Cambria Math" panose="02040503050406030204" pitchFamily="18" charset="0"/>
                        <a:ea typeface="Cambria Math" panose="02040503050406030204" pitchFamily="18" charset="0"/>
                      </a:rPr>
                      <m:t>=</m:t>
                    </m:r>
                    <m:f>
                      <m:fPr>
                        <m:ctrlPr>
                          <a:rPr lang="en-NZ" b="0" i="1" smtClean="0">
                            <a:latin typeface="Cambria Math" panose="02040503050406030204" pitchFamily="18" charset="0"/>
                            <a:ea typeface="Cambria Math" panose="02040503050406030204" pitchFamily="18" charset="0"/>
                          </a:rPr>
                        </m:ctrlPr>
                      </m:fPr>
                      <m:num>
                        <m:r>
                          <a:rPr lang="en-NZ" b="0" i="1" smtClean="0">
                            <a:latin typeface="Cambria Math" panose="02040503050406030204" pitchFamily="18" charset="0"/>
                            <a:ea typeface="Cambria Math" panose="02040503050406030204" pitchFamily="18" charset="0"/>
                          </a:rPr>
                          <m:t>1</m:t>
                        </m:r>
                      </m:num>
                      <m:den>
                        <m:r>
                          <a:rPr lang="en-NZ" b="0" i="1" smtClean="0">
                            <a:latin typeface="Cambria Math" panose="02040503050406030204" pitchFamily="18" charset="0"/>
                            <a:ea typeface="Cambria Math" panose="02040503050406030204" pitchFamily="18" charset="0"/>
                          </a:rPr>
                          <m:t>𝑣</m:t>
                        </m:r>
                      </m:den>
                    </m:f>
                    <m:r>
                      <a:rPr lang="en-NZ" b="0" i="1" smtClean="0">
                        <a:latin typeface="Cambria Math" panose="02040503050406030204" pitchFamily="18" charset="0"/>
                        <a:ea typeface="Cambria Math" panose="02040503050406030204" pitchFamily="18" charset="0"/>
                      </a:rPr>
                      <m:t>=</m:t>
                    </m:r>
                    <m:f>
                      <m:fPr>
                        <m:ctrlPr>
                          <a:rPr lang="en-NZ" b="0" i="1" smtClean="0">
                            <a:latin typeface="Cambria Math" panose="02040503050406030204" pitchFamily="18" charset="0"/>
                            <a:ea typeface="Cambria Math" panose="02040503050406030204" pitchFamily="18" charset="0"/>
                          </a:rPr>
                        </m:ctrlPr>
                      </m:fPr>
                      <m:num>
                        <m:r>
                          <a:rPr lang="en-NZ" b="0" i="1" smtClean="0">
                            <a:latin typeface="Cambria Math" panose="02040503050406030204" pitchFamily="18" charset="0"/>
                            <a:ea typeface="Cambria Math" panose="02040503050406030204" pitchFamily="18" charset="0"/>
                          </a:rPr>
                          <m:t>𝑃</m:t>
                        </m:r>
                      </m:num>
                      <m:den>
                        <m:r>
                          <a:rPr lang="en-NZ" b="0" i="1" smtClean="0">
                            <a:latin typeface="Cambria Math" panose="02040503050406030204" pitchFamily="18" charset="0"/>
                            <a:ea typeface="Cambria Math" panose="02040503050406030204" pitchFamily="18" charset="0"/>
                          </a:rPr>
                          <m:t>𝑅𝑇</m:t>
                        </m:r>
                      </m:den>
                    </m:f>
                  </m:oMath>
                </a14:m>
                <a:endParaRPr lang="en-NZ" dirty="0"/>
              </a:p>
              <a:p>
                <a:pPr marL="285750" indent="-285750">
                  <a:lnSpc>
                    <a:spcPct val="150000"/>
                  </a:lnSpc>
                  <a:buFont typeface="Arial" panose="020B0604020202020204" pitchFamily="34" charset="0"/>
                  <a:buChar char="•"/>
                </a:pPr>
                <a:r>
                  <a:rPr lang="en-NZ" dirty="0"/>
                  <a:t>Air is an </a:t>
                </a:r>
                <a:r>
                  <a:rPr lang="en-NZ" b="1" dirty="0"/>
                  <a:t>ideal gas </a:t>
                </a:r>
                <a:r>
                  <a:rPr lang="en-NZ" dirty="0"/>
                  <a:t>– Use table A-1 to find gas constant.</a:t>
                </a:r>
              </a:p>
              <a:p>
                <a:pPr marL="285750" indent="-285750">
                  <a:lnSpc>
                    <a:spcPct val="150000"/>
                  </a:lnSpc>
                  <a:buFont typeface="Arial" panose="020B0604020202020204" pitchFamily="34" charset="0"/>
                  <a:buChar char="•"/>
                </a:pPr>
                <a:r>
                  <a:rPr lang="en-NZ" sz="1800" dirty="0"/>
                  <a:t>For any open system, the rate at which </a:t>
                </a:r>
                <a:r>
                  <a:rPr lang="en-NZ" sz="1800" dirty="0">
                    <a:highlight>
                      <a:srgbClr val="FFFF00"/>
                    </a:highlight>
                  </a:rPr>
                  <a:t>mass enters the system </a:t>
                </a:r>
                <a:r>
                  <a:rPr lang="en-NZ" sz="1800" dirty="0"/>
                  <a:t>must be the same as the rate at which </a:t>
                </a:r>
                <a:r>
                  <a:rPr lang="en-NZ" sz="1800" dirty="0">
                    <a:highlight>
                      <a:srgbClr val="FFFF00"/>
                    </a:highlight>
                  </a:rPr>
                  <a:t>mass exits the system</a:t>
                </a:r>
                <a:r>
                  <a:rPr lang="en-NZ" sz="1800" dirty="0"/>
                  <a:t>. </a:t>
                </a:r>
              </a:p>
            </p:txBody>
          </p:sp>
        </mc:Choice>
        <mc:Fallback>
          <p:sp>
            <p:nvSpPr>
              <p:cNvPr id="3" name="TextBox 2">
                <a:extLst>
                  <a:ext uri="{FF2B5EF4-FFF2-40B4-BE49-F238E27FC236}">
                    <a16:creationId xmlns:a16="http://schemas.microsoft.com/office/drawing/2014/main" id="{C92462C9-C5B7-D747-CECE-AD94E3176F66}"/>
                  </a:ext>
                </a:extLst>
              </p:cNvPr>
              <p:cNvSpPr txBox="1">
                <a:spLocks noRot="1" noChangeAspect="1" noMove="1" noResize="1" noEditPoints="1" noAdjustHandles="1" noChangeArrowheads="1" noChangeShapeType="1" noTextEdit="1"/>
              </p:cNvSpPr>
              <p:nvPr/>
            </p:nvSpPr>
            <p:spPr>
              <a:xfrm>
                <a:off x="2438400" y="3352800"/>
                <a:ext cx="7871459" cy="1911870"/>
              </a:xfrm>
              <a:prstGeom prst="rect">
                <a:avLst/>
              </a:prstGeom>
              <a:blipFill>
                <a:blip r:embed="rId2"/>
                <a:stretch>
                  <a:fillRect l="-386" b="-1577"/>
                </a:stretch>
              </a:blipFill>
              <a:ln w="19050">
                <a:solidFill>
                  <a:srgbClr val="C00000"/>
                </a:solidFill>
              </a:ln>
            </p:spPr>
            <p:txBody>
              <a:bodyPr/>
              <a:lstStyle/>
              <a:p>
                <a:r>
                  <a:rPr lang="en-NZ">
                    <a:noFill/>
                  </a:rPr>
                  <a:t> </a:t>
                </a:r>
              </a:p>
            </p:txBody>
          </p:sp>
        </mc:Fallback>
      </mc:AlternateContent>
    </p:spTree>
    <p:extLst>
      <p:ext uri="{BB962C8B-B14F-4D97-AF65-F5344CB8AC3E}">
        <p14:creationId xmlns:p14="http://schemas.microsoft.com/office/powerpoint/2010/main" val="3265693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5704A-36C9-D6A7-0506-1000A8EF0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DCA07-E689-9B59-A492-E5B5081317DF}"/>
              </a:ext>
            </a:extLst>
          </p:cNvPr>
          <p:cNvSpPr>
            <a:spLocks noGrp="1"/>
          </p:cNvSpPr>
          <p:nvPr>
            <p:ph type="title"/>
          </p:nvPr>
        </p:nvSpPr>
        <p:spPr>
          <a:xfrm>
            <a:off x="1432941" y="220802"/>
            <a:ext cx="7871459" cy="492443"/>
          </a:xfrm>
        </p:spPr>
        <p:txBody>
          <a:bodyPr/>
          <a:lstStyle/>
          <a:p>
            <a:r>
              <a:rPr lang="en-NZ" dirty="0"/>
              <a:t>Tutorial Question Q5</a:t>
            </a:r>
          </a:p>
        </p:txBody>
      </p:sp>
      <p:sp>
        <p:nvSpPr>
          <p:cNvPr id="4" name="TextBox 3">
            <a:extLst>
              <a:ext uri="{FF2B5EF4-FFF2-40B4-BE49-F238E27FC236}">
                <a16:creationId xmlns:a16="http://schemas.microsoft.com/office/drawing/2014/main" id="{A967FAF3-9D0C-C586-34BC-8D27FE385334}"/>
              </a:ext>
            </a:extLst>
          </p:cNvPr>
          <p:cNvSpPr txBox="1"/>
          <p:nvPr/>
        </p:nvSpPr>
        <p:spPr>
          <a:xfrm>
            <a:off x="1219200" y="1066800"/>
            <a:ext cx="10820400" cy="1844544"/>
          </a:xfrm>
          <a:prstGeom prst="rect">
            <a:avLst/>
          </a:prstGeom>
          <a:noFill/>
        </p:spPr>
        <p:txBody>
          <a:bodyPr wrap="square">
            <a:spAutoFit/>
          </a:bodyPr>
          <a:lstStyle/>
          <a:p>
            <a:pPr algn="l">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Q5)</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 spherical hot-air balloon is initially filled with </a:t>
            </a:r>
            <a:r>
              <a:rPr lang="en-NZ" sz="2000" kern="100" dirty="0">
                <a:effectLst/>
                <a:highlight>
                  <a:srgbClr val="FFFF00"/>
                </a:highlight>
                <a:latin typeface="Aptos" panose="020B0004020202020204" pitchFamily="34" charset="0"/>
                <a:ea typeface="DengXian" panose="02010600030101010101" pitchFamily="2" charset="-122"/>
                <a:cs typeface="Times New Roman" panose="02020603050405020304" pitchFamily="18" charset="0"/>
              </a:rPr>
              <a:t>air</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at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120 kPa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and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20°C</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with an initial diameter of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5 m</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Air enters this balloon at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120 kPa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and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20°C</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with a velocity of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3 m/s</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through a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1-m-diameter</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opening. How many minutes will it take to inflate this balloon to a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17-m diameter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when the pressure and temperature of the air in the balloon </a:t>
            </a:r>
            <a:r>
              <a:rPr lang="en-NZ" sz="20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rPr>
              <a:t>remain the same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as the air entering the balloon.</a:t>
            </a:r>
          </a:p>
        </p:txBody>
      </p:sp>
      <p:sp>
        <p:nvSpPr>
          <p:cNvPr id="3" name="TextBox 2">
            <a:extLst>
              <a:ext uri="{FF2B5EF4-FFF2-40B4-BE49-F238E27FC236}">
                <a16:creationId xmlns:a16="http://schemas.microsoft.com/office/drawing/2014/main" id="{C8089156-6013-4E8B-E77B-12BB6C159203}"/>
              </a:ext>
            </a:extLst>
          </p:cNvPr>
          <p:cNvSpPr txBox="1"/>
          <p:nvPr/>
        </p:nvSpPr>
        <p:spPr>
          <a:xfrm>
            <a:off x="1905000" y="3438825"/>
            <a:ext cx="8901279" cy="1631216"/>
          </a:xfrm>
          <a:prstGeom prst="rect">
            <a:avLst/>
          </a:prstGeom>
          <a:noFill/>
        </p:spPr>
        <p:txBody>
          <a:bodyPr wrap="square" rtlCol="0">
            <a:spAutoFit/>
          </a:bodyPr>
          <a:lstStyle/>
          <a:p>
            <a:r>
              <a:rPr lang="en-GB" sz="2000" b="1" dirty="0"/>
              <a:t>Assuming that the flow rate of air into the balloon is steady (doesn't vary with time), the volume flow rate can be defined to be the change in volume divided by the change in time.</a:t>
            </a:r>
          </a:p>
          <a:p>
            <a:endParaRPr lang="en-GB" sz="2000" b="1" dirty="0"/>
          </a:p>
          <a:p>
            <a:r>
              <a:rPr lang="en-GB" sz="2000" b="1" dirty="0"/>
              <a:t>Find out the initial and final volume and calculate the volume flow rate.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A259A3E-59CB-04DF-834D-B88557E7DB9E}"/>
                  </a:ext>
                </a:extLst>
              </p:cNvPr>
              <p:cNvSpPr txBox="1"/>
              <p:nvPr/>
            </p:nvSpPr>
            <p:spPr>
              <a:xfrm>
                <a:off x="4641139" y="5265604"/>
                <a:ext cx="3429000" cy="663836"/>
              </a:xfrm>
              <a:prstGeom prst="rect">
                <a:avLst/>
              </a:prstGeom>
              <a:noFill/>
            </p:spPr>
            <p:txBody>
              <a:bodyPr wrap="square">
                <a:spAutoFit/>
              </a:bodyPr>
              <a:lstStyle/>
              <a:p>
                <a14:m>
                  <m:oMath xmlns:m="http://schemas.openxmlformats.org/officeDocument/2006/math">
                    <m:r>
                      <a:rPr lang="en-GB"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𝑉</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𝑡</m:t>
                    </m:r>
                    <m:r>
                      <a:rPr lang="en-US" sz="3600" b="0" i="1" smtClean="0">
                        <a:latin typeface="Cambria Math" panose="02040503050406030204" pitchFamily="18" charset="0"/>
                        <a:ea typeface="Cambria Math" panose="02040503050406030204" pitchFamily="18" charset="0"/>
                      </a:rPr>
                      <m:t>×</m:t>
                    </m:r>
                    <m:acc>
                      <m:accPr>
                        <m:chr m:val="̇"/>
                        <m:ctrlPr>
                          <a:rPr lang="en-US" sz="3600" b="0" i="1" smtClean="0">
                            <a:latin typeface="Cambria Math" panose="02040503050406030204" pitchFamily="18" charset="0"/>
                            <a:ea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𝑉</m:t>
                        </m:r>
                      </m:e>
                    </m:acc>
                  </m:oMath>
                </a14:m>
                <a:r>
                  <a:rPr lang="en-GB" sz="3600" dirty="0"/>
                  <a:t> </a:t>
                </a:r>
              </a:p>
            </p:txBody>
          </p:sp>
        </mc:Choice>
        <mc:Fallback xmlns="">
          <p:sp>
            <p:nvSpPr>
              <p:cNvPr id="8" name="TextBox 7">
                <a:extLst>
                  <a:ext uri="{FF2B5EF4-FFF2-40B4-BE49-F238E27FC236}">
                    <a16:creationId xmlns:a16="http://schemas.microsoft.com/office/drawing/2014/main" id="{3A259A3E-59CB-04DF-834D-B88557E7DB9E}"/>
                  </a:ext>
                </a:extLst>
              </p:cNvPr>
              <p:cNvSpPr txBox="1">
                <a:spLocks noRot="1" noChangeAspect="1" noMove="1" noResize="1" noEditPoints="1" noAdjustHandles="1" noChangeArrowheads="1" noChangeShapeType="1" noTextEdit="1"/>
              </p:cNvSpPr>
              <p:nvPr/>
            </p:nvSpPr>
            <p:spPr>
              <a:xfrm>
                <a:off x="4641139" y="5265604"/>
                <a:ext cx="3429000" cy="663836"/>
              </a:xfrm>
              <a:prstGeom prst="rect">
                <a:avLst/>
              </a:prstGeom>
              <a:blipFill>
                <a:blip r:embed="rId2"/>
                <a:stretch>
                  <a:fillRect l="-1845" t="-1852"/>
                </a:stretch>
              </a:blipFill>
            </p:spPr>
            <p:txBody>
              <a:bodyPr/>
              <a:lstStyle/>
              <a:p>
                <a:r>
                  <a:rPr lang="en-GB">
                    <a:noFill/>
                  </a:rPr>
                  <a:t> </a:t>
                </a:r>
              </a:p>
            </p:txBody>
          </p:sp>
        </mc:Fallback>
      </mc:AlternateContent>
    </p:spTree>
    <p:extLst>
      <p:ext uri="{BB962C8B-B14F-4D97-AF65-F5344CB8AC3E}">
        <p14:creationId xmlns:p14="http://schemas.microsoft.com/office/powerpoint/2010/main" val="1340111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70F0-A94E-9447-0F87-54D61CE49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FC22B-F27D-CF6E-FE11-CB031C6B5E67}"/>
              </a:ext>
            </a:extLst>
          </p:cNvPr>
          <p:cNvSpPr>
            <a:spLocks noGrp="1"/>
          </p:cNvSpPr>
          <p:nvPr>
            <p:ph type="title"/>
          </p:nvPr>
        </p:nvSpPr>
        <p:spPr>
          <a:xfrm>
            <a:off x="1432941" y="220802"/>
            <a:ext cx="7871459" cy="492443"/>
          </a:xfrm>
        </p:spPr>
        <p:txBody>
          <a:bodyPr/>
          <a:lstStyle/>
          <a:p>
            <a:r>
              <a:rPr lang="en-NZ" dirty="0"/>
              <a:t>Tutorial Question Q6</a:t>
            </a:r>
          </a:p>
        </p:txBody>
      </p:sp>
      <p:sp>
        <p:nvSpPr>
          <p:cNvPr id="4" name="TextBox 3">
            <a:extLst>
              <a:ext uri="{FF2B5EF4-FFF2-40B4-BE49-F238E27FC236}">
                <a16:creationId xmlns:a16="http://schemas.microsoft.com/office/drawing/2014/main" id="{591BAA85-ED19-FDA4-0FDF-93BB918D7F9B}"/>
              </a:ext>
            </a:extLst>
          </p:cNvPr>
          <p:cNvSpPr txBox="1"/>
          <p:nvPr/>
        </p:nvSpPr>
        <p:spPr>
          <a:xfrm>
            <a:off x="1432940" y="990600"/>
            <a:ext cx="10682859" cy="1490664"/>
          </a:xfrm>
          <a:prstGeom prst="rect">
            <a:avLst/>
          </a:prstGeom>
          <a:noFill/>
        </p:spPr>
        <p:txBody>
          <a:bodyPr wrap="square">
            <a:spAutoFit/>
          </a:bodyPr>
          <a:lstStyle/>
          <a:p>
            <a:pPr algn="l">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Q6)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 2m</a:t>
            </a:r>
            <a:r>
              <a:rPr lang="en-NZ" sz="2000" kern="100" baseline="30000" dirty="0">
                <a:effectLst/>
                <a:latin typeface="Aptos" panose="020B0004020202020204" pitchFamily="34" charset="0"/>
                <a:ea typeface="DengXian" panose="02010600030101010101" pitchFamily="2" charset="-122"/>
                <a:cs typeface="Times New Roman" panose="02020603050405020304" pitchFamily="18" charset="0"/>
              </a:rPr>
              <a:t>3</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rigid tank initially contains air whose density is 1.18 kg/m</a:t>
            </a:r>
            <a:r>
              <a:rPr lang="en-NZ" sz="2000" kern="100" baseline="30000" dirty="0">
                <a:effectLst/>
                <a:latin typeface="Aptos" panose="020B0004020202020204" pitchFamily="34" charset="0"/>
                <a:ea typeface="DengXian" panose="02010600030101010101" pitchFamily="2" charset="-122"/>
                <a:cs typeface="Times New Roman" panose="02020603050405020304" pitchFamily="18" charset="0"/>
              </a:rPr>
              <a:t>3</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The tank is connected to a high-pressure supply line through a valve. The valve is opened, and air is allowed to enter the tank until the density in the tank rises to 5.30 kg/m</a:t>
            </a:r>
            <a:r>
              <a:rPr lang="en-NZ" sz="2000" kern="100" baseline="30000" dirty="0">
                <a:effectLst/>
                <a:latin typeface="Aptos" panose="020B0004020202020204" pitchFamily="34" charset="0"/>
                <a:ea typeface="DengXian" panose="02010600030101010101" pitchFamily="2" charset="-122"/>
                <a:cs typeface="Times New Roman" panose="02020603050405020304" pitchFamily="18" charset="0"/>
              </a:rPr>
              <a:t>3</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Determine the mass of air that has entered the tank. </a:t>
            </a:r>
          </a:p>
        </p:txBody>
      </p:sp>
      <p:sp>
        <p:nvSpPr>
          <p:cNvPr id="3" name="TextBox 2">
            <a:extLst>
              <a:ext uri="{FF2B5EF4-FFF2-40B4-BE49-F238E27FC236}">
                <a16:creationId xmlns:a16="http://schemas.microsoft.com/office/drawing/2014/main" id="{341F973B-1DA9-8E53-E686-85B412876373}"/>
              </a:ext>
            </a:extLst>
          </p:cNvPr>
          <p:cNvSpPr txBox="1"/>
          <p:nvPr/>
        </p:nvSpPr>
        <p:spPr>
          <a:xfrm>
            <a:off x="4114800" y="3352800"/>
            <a:ext cx="4464684" cy="584775"/>
          </a:xfrm>
          <a:prstGeom prst="rect">
            <a:avLst/>
          </a:prstGeom>
          <a:noFill/>
        </p:spPr>
        <p:txBody>
          <a:bodyPr wrap="none" rtlCol="0">
            <a:spAutoFit/>
          </a:bodyPr>
          <a:lstStyle/>
          <a:p>
            <a:r>
              <a:rPr lang="en-GB" sz="3200" b="1" dirty="0"/>
              <a:t>Conservation of mass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7827806D-A53A-CEE1-E25E-70B3482497BE}"/>
                  </a:ext>
                </a:extLst>
              </p:cNvPr>
              <p:cNvSpPr txBox="1"/>
              <p:nvPr/>
            </p:nvSpPr>
            <p:spPr>
              <a:xfrm>
                <a:off x="4876800" y="4162780"/>
                <a:ext cx="3404778"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NZ" sz="3600" i="1" smtClean="0">
                              <a:latin typeface="Cambria Math" panose="02040503050406030204" pitchFamily="18" charset="0"/>
                            </a:rPr>
                          </m:ctrlPr>
                        </m:sSubPr>
                        <m:e>
                          <m:r>
                            <a:rPr lang="en-NZ" sz="3600" b="0" i="1" smtClean="0">
                              <a:latin typeface="Cambria Math" panose="02040503050406030204" pitchFamily="18" charset="0"/>
                            </a:rPr>
                            <m:t>𝑚</m:t>
                          </m:r>
                        </m:e>
                        <m:sub>
                          <m:r>
                            <a:rPr lang="en-NZ" sz="3600" b="0" i="1" smtClean="0">
                              <a:latin typeface="Cambria Math" panose="02040503050406030204" pitchFamily="18" charset="0"/>
                            </a:rPr>
                            <m:t>0</m:t>
                          </m:r>
                        </m:sub>
                      </m:sSub>
                      <m:r>
                        <a:rPr lang="en-NZ" sz="3600" b="0" i="1" smtClean="0">
                          <a:latin typeface="Cambria Math" panose="02040503050406030204" pitchFamily="18" charset="0"/>
                        </a:rPr>
                        <m:t>+</m:t>
                      </m:r>
                      <m:sSub>
                        <m:sSubPr>
                          <m:ctrlPr>
                            <a:rPr lang="en-NZ" sz="3600" b="0" i="1" smtClean="0">
                              <a:latin typeface="Cambria Math" panose="02040503050406030204" pitchFamily="18" charset="0"/>
                            </a:rPr>
                          </m:ctrlPr>
                        </m:sSubPr>
                        <m:e>
                          <m:r>
                            <a:rPr lang="en-NZ" sz="3600" b="0" i="1" smtClean="0">
                              <a:latin typeface="Cambria Math" panose="02040503050406030204" pitchFamily="18" charset="0"/>
                            </a:rPr>
                            <m:t>𝑚</m:t>
                          </m:r>
                        </m:e>
                        <m:sub>
                          <m:r>
                            <a:rPr lang="en-NZ" sz="3600" b="0" i="1" smtClean="0">
                              <a:latin typeface="Cambria Math" panose="02040503050406030204" pitchFamily="18" charset="0"/>
                            </a:rPr>
                            <m:t>𝑖𝑛</m:t>
                          </m:r>
                        </m:sub>
                      </m:sSub>
                      <m:r>
                        <a:rPr lang="en-NZ" sz="3600" b="0" i="1" smtClean="0">
                          <a:latin typeface="Cambria Math" panose="02040503050406030204" pitchFamily="18" charset="0"/>
                        </a:rPr>
                        <m:t>=</m:t>
                      </m:r>
                      <m:sSub>
                        <m:sSubPr>
                          <m:ctrlPr>
                            <a:rPr lang="en-NZ" sz="3600" b="0" i="1" smtClean="0">
                              <a:latin typeface="Cambria Math" panose="02040503050406030204" pitchFamily="18" charset="0"/>
                            </a:rPr>
                          </m:ctrlPr>
                        </m:sSubPr>
                        <m:e>
                          <m:r>
                            <a:rPr lang="en-NZ" sz="3600" b="0" i="1" smtClean="0">
                              <a:latin typeface="Cambria Math" panose="02040503050406030204" pitchFamily="18" charset="0"/>
                            </a:rPr>
                            <m:t>𝑚</m:t>
                          </m:r>
                        </m:e>
                        <m:sub>
                          <m:r>
                            <a:rPr lang="en-NZ" sz="3600" b="0" i="1" smtClean="0">
                              <a:latin typeface="Cambria Math" panose="02040503050406030204" pitchFamily="18" charset="0"/>
                            </a:rPr>
                            <m:t>1</m:t>
                          </m:r>
                        </m:sub>
                      </m:sSub>
                    </m:oMath>
                  </m:oMathPara>
                </a14:m>
                <a:endParaRPr lang="en-NZ" sz="3600" dirty="0"/>
              </a:p>
            </p:txBody>
          </p:sp>
        </mc:Choice>
        <mc:Fallback>
          <p:sp>
            <p:nvSpPr>
              <p:cNvPr id="8" name="TextBox 7">
                <a:extLst>
                  <a:ext uri="{FF2B5EF4-FFF2-40B4-BE49-F238E27FC236}">
                    <a16:creationId xmlns:a16="http://schemas.microsoft.com/office/drawing/2014/main" id="{7827806D-A53A-CEE1-E25E-70B3482497BE}"/>
                  </a:ext>
                </a:extLst>
              </p:cNvPr>
              <p:cNvSpPr txBox="1">
                <a:spLocks noRot="1" noChangeAspect="1" noMove="1" noResize="1" noEditPoints="1" noAdjustHandles="1" noChangeArrowheads="1" noChangeShapeType="1" noTextEdit="1"/>
              </p:cNvSpPr>
              <p:nvPr/>
            </p:nvSpPr>
            <p:spPr>
              <a:xfrm>
                <a:off x="4876800" y="4162780"/>
                <a:ext cx="3404778" cy="646331"/>
              </a:xfrm>
              <a:prstGeom prst="rect">
                <a:avLst/>
              </a:prstGeom>
              <a:blipFill>
                <a:blip r:embed="rId2"/>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699063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36305-E634-98D4-F777-59561DC8F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BC496-26E4-D019-CED1-1554075F5BCC}"/>
              </a:ext>
            </a:extLst>
          </p:cNvPr>
          <p:cNvSpPr>
            <a:spLocks noGrp="1"/>
          </p:cNvSpPr>
          <p:nvPr>
            <p:ph type="title"/>
          </p:nvPr>
        </p:nvSpPr>
        <p:spPr>
          <a:xfrm>
            <a:off x="1432941" y="220802"/>
            <a:ext cx="7871459" cy="492443"/>
          </a:xfrm>
        </p:spPr>
        <p:txBody>
          <a:bodyPr/>
          <a:lstStyle/>
          <a:p>
            <a:r>
              <a:rPr lang="en-NZ" dirty="0"/>
              <a:t>Tutorial Question Q7</a:t>
            </a:r>
          </a:p>
        </p:txBody>
      </p:sp>
      <p:sp>
        <p:nvSpPr>
          <p:cNvPr id="4" name="TextBox 3">
            <a:extLst>
              <a:ext uri="{FF2B5EF4-FFF2-40B4-BE49-F238E27FC236}">
                <a16:creationId xmlns:a16="http://schemas.microsoft.com/office/drawing/2014/main" id="{DDE7B03D-DB7E-8B3A-FEFC-991390176A40}"/>
              </a:ext>
            </a:extLst>
          </p:cNvPr>
          <p:cNvSpPr txBox="1"/>
          <p:nvPr/>
        </p:nvSpPr>
        <p:spPr>
          <a:xfrm>
            <a:off x="1371600" y="967324"/>
            <a:ext cx="10515600" cy="1136721"/>
          </a:xfrm>
          <a:prstGeom prst="rect">
            <a:avLst/>
          </a:prstGeom>
          <a:noFill/>
        </p:spPr>
        <p:txBody>
          <a:bodyPr wrap="square">
            <a:spAutoFit/>
          </a:bodyPr>
          <a:lstStyle/>
          <a:p>
            <a:pPr algn="just">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Q7)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Air at 600 kPa and 500 K enters an adiabatic nozzle that has an inlet-to-exit area ratio of 2:1 with a velocity of 120 m/s and leaves with a velocity of 380 m/s. Determine (a) the exit temperature and (b) the exit pressure of the air. </a:t>
            </a:r>
          </a:p>
        </p:txBody>
      </p:sp>
      <p:sp>
        <p:nvSpPr>
          <p:cNvPr id="3" name="TextBox 2">
            <a:extLst>
              <a:ext uri="{FF2B5EF4-FFF2-40B4-BE49-F238E27FC236}">
                <a16:creationId xmlns:a16="http://schemas.microsoft.com/office/drawing/2014/main" id="{AAEA1F07-BB68-1A12-B669-FA54B4D0899C}"/>
              </a:ext>
            </a:extLst>
          </p:cNvPr>
          <p:cNvSpPr txBox="1"/>
          <p:nvPr/>
        </p:nvSpPr>
        <p:spPr>
          <a:xfrm>
            <a:off x="2110555" y="2532675"/>
            <a:ext cx="7430239" cy="646331"/>
          </a:xfrm>
          <a:prstGeom prst="rect">
            <a:avLst/>
          </a:prstGeom>
          <a:noFill/>
        </p:spPr>
        <p:txBody>
          <a:bodyPr wrap="none" rtlCol="0">
            <a:spAutoFit/>
          </a:bodyPr>
          <a:lstStyle/>
          <a:p>
            <a:r>
              <a:rPr lang="en-NZ" b="1" dirty="0"/>
              <a:t>Apply the steady-flow energy balance to find the exit temperature:</a:t>
            </a:r>
          </a:p>
          <a:p>
            <a:endParaRPr lang="en-GB" b="1"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5F2C79B-4B6B-1054-9E8A-6F380077D355}"/>
                  </a:ext>
                </a:extLst>
              </p:cNvPr>
              <p:cNvSpPr txBox="1"/>
              <p:nvPr/>
            </p:nvSpPr>
            <p:spPr>
              <a:xfrm>
                <a:off x="3025566" y="3179006"/>
                <a:ext cx="6100354" cy="8368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NZ" sz="2400" i="1" smtClean="0">
                          <a:latin typeface="Cambria Math" panose="02040503050406030204" pitchFamily="18" charset="0"/>
                        </a:rPr>
                        <m:t>0</m:t>
                      </m:r>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𝑚</m:t>
                          </m:r>
                        </m:e>
                      </m:acc>
                      <m:r>
                        <a:rPr lang="en-US" sz="2400" b="0" i="1" smtClean="0">
                          <a:latin typeface="Cambria Math" panose="02040503050406030204" pitchFamily="18" charset="0"/>
                        </a:rPr>
                        <m:t>[</m:t>
                      </m:r>
                      <m:d>
                        <m:dPr>
                          <m:ctrlPr>
                            <a:rPr lang="en-US" sz="240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1</m:t>
                              </m:r>
                            </m:sub>
                          </m:sSub>
                        </m:e>
                      </m:d>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𝑣</m:t>
                              </m:r>
                            </m:e>
                            <m:sub>
                              <m:r>
                                <a:rPr lang="en-US" sz="2400" b="0" i="1" smtClean="0">
                                  <a:latin typeface="Cambria Math" panose="02040503050406030204" pitchFamily="18" charset="0"/>
                                </a:rPr>
                                <m:t>2</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𝑣</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oMath>
                  </m:oMathPara>
                </a14:m>
                <a:endParaRPr lang="en-GB" sz="2400" dirty="0"/>
              </a:p>
            </p:txBody>
          </p:sp>
        </mc:Choice>
        <mc:Fallback>
          <p:sp>
            <p:nvSpPr>
              <p:cNvPr id="7" name="TextBox 6">
                <a:extLst>
                  <a:ext uri="{FF2B5EF4-FFF2-40B4-BE49-F238E27FC236}">
                    <a16:creationId xmlns:a16="http://schemas.microsoft.com/office/drawing/2014/main" id="{25F2C79B-4B6B-1054-9E8A-6F380077D355}"/>
                  </a:ext>
                </a:extLst>
              </p:cNvPr>
              <p:cNvSpPr txBox="1">
                <a:spLocks noRot="1" noChangeAspect="1" noMove="1" noResize="1" noEditPoints="1" noAdjustHandles="1" noChangeArrowheads="1" noChangeShapeType="1" noTextEdit="1"/>
              </p:cNvSpPr>
              <p:nvPr/>
            </p:nvSpPr>
            <p:spPr>
              <a:xfrm>
                <a:off x="3025566" y="3179006"/>
                <a:ext cx="6100354" cy="836832"/>
              </a:xfrm>
              <a:prstGeom prst="rect">
                <a:avLst/>
              </a:prstGeom>
              <a:blipFill>
                <a:blip r:embed="rId2"/>
                <a:stretch>
                  <a:fillRect/>
                </a:stretch>
              </a:blipFill>
            </p:spPr>
            <p:txBody>
              <a:bodyPr/>
              <a:lstStyle/>
              <a:p>
                <a:r>
                  <a:rPr lang="en-NZ">
                    <a:noFill/>
                  </a:rPr>
                  <a:t> </a:t>
                </a:r>
              </a:p>
            </p:txBody>
          </p:sp>
        </mc:Fallback>
      </mc:AlternateContent>
      <p:sp>
        <p:nvSpPr>
          <p:cNvPr id="8" name="TextBox 7">
            <a:extLst>
              <a:ext uri="{FF2B5EF4-FFF2-40B4-BE49-F238E27FC236}">
                <a16:creationId xmlns:a16="http://schemas.microsoft.com/office/drawing/2014/main" id="{A5717B72-6E3D-9D26-9AE3-1D9972A3801E}"/>
              </a:ext>
            </a:extLst>
          </p:cNvPr>
          <p:cNvSpPr txBox="1"/>
          <p:nvPr/>
        </p:nvSpPr>
        <p:spPr>
          <a:xfrm>
            <a:off x="2110555" y="4269917"/>
            <a:ext cx="7930376" cy="1477328"/>
          </a:xfrm>
          <a:prstGeom prst="rect">
            <a:avLst/>
          </a:prstGeom>
          <a:noFill/>
        </p:spPr>
        <p:txBody>
          <a:bodyPr wrap="none" rtlCol="0">
            <a:spAutoFit/>
          </a:bodyPr>
          <a:lstStyle/>
          <a:p>
            <a:r>
              <a:rPr lang="en-NZ" b="1" dirty="0"/>
              <a:t>Use Table A-17 to find properties of air</a:t>
            </a:r>
          </a:p>
          <a:p>
            <a:endParaRPr lang="en-NZ" b="1" dirty="0"/>
          </a:p>
          <a:p>
            <a:r>
              <a:rPr lang="en-NZ" b="1" dirty="0"/>
              <a:t>Use ideal gas equation to determine the air densities at inlet and outlet</a:t>
            </a:r>
          </a:p>
          <a:p>
            <a:endParaRPr lang="en-NZ" b="1" dirty="0"/>
          </a:p>
          <a:p>
            <a:r>
              <a:rPr lang="en-NZ" b="1" dirty="0"/>
              <a:t>Then apply the conversation of mass for pressure calculation.</a:t>
            </a:r>
            <a:endParaRPr lang="en-GB" b="1" dirty="0"/>
          </a:p>
        </p:txBody>
      </p:sp>
    </p:spTree>
    <p:extLst>
      <p:ext uri="{BB962C8B-B14F-4D97-AF65-F5344CB8AC3E}">
        <p14:creationId xmlns:p14="http://schemas.microsoft.com/office/powerpoint/2010/main" val="3443300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D0967-2507-B4DF-753A-0E629B633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0659C-EEC8-E22F-B963-09969280B29B}"/>
              </a:ext>
            </a:extLst>
          </p:cNvPr>
          <p:cNvSpPr>
            <a:spLocks noGrp="1"/>
          </p:cNvSpPr>
          <p:nvPr>
            <p:ph type="title"/>
          </p:nvPr>
        </p:nvSpPr>
        <p:spPr>
          <a:xfrm>
            <a:off x="1432941" y="220802"/>
            <a:ext cx="7871459" cy="492443"/>
          </a:xfrm>
        </p:spPr>
        <p:txBody>
          <a:bodyPr/>
          <a:lstStyle/>
          <a:p>
            <a:r>
              <a:rPr lang="en-NZ" dirty="0"/>
              <a:t>Tutorial Question Q8</a:t>
            </a:r>
          </a:p>
        </p:txBody>
      </p:sp>
      <p:sp>
        <p:nvSpPr>
          <p:cNvPr id="4" name="TextBox 3">
            <a:extLst>
              <a:ext uri="{FF2B5EF4-FFF2-40B4-BE49-F238E27FC236}">
                <a16:creationId xmlns:a16="http://schemas.microsoft.com/office/drawing/2014/main" id="{D12AA842-3CD6-2DC0-3065-593DE0E6851B}"/>
              </a:ext>
            </a:extLst>
          </p:cNvPr>
          <p:cNvSpPr txBox="1"/>
          <p:nvPr/>
        </p:nvSpPr>
        <p:spPr>
          <a:xfrm>
            <a:off x="1402460" y="914400"/>
            <a:ext cx="10789539" cy="1136721"/>
          </a:xfrm>
          <a:prstGeom prst="rect">
            <a:avLst/>
          </a:prstGeom>
          <a:noFill/>
        </p:spPr>
        <p:txBody>
          <a:bodyPr wrap="square">
            <a:spAutoFit/>
          </a:bodyPr>
          <a:lstStyle/>
          <a:p>
            <a:pPr algn="just">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Q8)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An adiabatic air compressor compresses </a:t>
            </a:r>
            <a:r>
              <a:rPr lang="en-NZ" sz="2000" kern="100" dirty="0">
                <a:effectLst/>
                <a:highlight>
                  <a:srgbClr val="FFFF00"/>
                </a:highlight>
                <a:latin typeface="Aptos" panose="020B0004020202020204" pitchFamily="34" charset="0"/>
                <a:ea typeface="DengXian" panose="02010600030101010101" pitchFamily="2" charset="-122"/>
                <a:cs typeface="Times New Roman" panose="02020603050405020304" pitchFamily="18" charset="0"/>
              </a:rPr>
              <a:t>10 L/s of air at 120 kPa and 20°C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to </a:t>
            </a:r>
            <a:r>
              <a:rPr lang="en-NZ" sz="2000" kern="100" dirty="0">
                <a:effectLst/>
                <a:highlight>
                  <a:srgbClr val="FFFF00"/>
                </a:highlight>
                <a:latin typeface="Aptos" panose="020B0004020202020204" pitchFamily="34" charset="0"/>
                <a:ea typeface="DengXian" panose="02010600030101010101" pitchFamily="2" charset="-122"/>
                <a:cs typeface="Times New Roman" panose="02020603050405020304" pitchFamily="18" charset="0"/>
              </a:rPr>
              <a:t>1000 kPa and 300°C.</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 Determine (a) the work required by the compressor, in kJ/kg, and (b) the  power required to drive the air compressor, in kW. </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6D87666-F9AA-1BBD-F47E-FBEA5277A9D9}"/>
                  </a:ext>
                </a:extLst>
              </p:cNvPr>
              <p:cNvSpPr txBox="1"/>
              <p:nvPr/>
            </p:nvSpPr>
            <p:spPr>
              <a:xfrm>
                <a:off x="1467220" y="2452709"/>
                <a:ext cx="10660018" cy="2354171"/>
              </a:xfrm>
              <a:prstGeom prst="rect">
                <a:avLst/>
              </a:prstGeom>
              <a:noFill/>
            </p:spPr>
            <p:txBody>
              <a:bodyPr wrap="square" rtlCol="0">
                <a:spAutoFit/>
              </a:bodyPr>
              <a:lstStyle/>
              <a:p>
                <a:r>
                  <a:rPr lang="en-GB" sz="2400" dirty="0"/>
                  <a:t>Apply energy balance: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𝑒</m:t>
                        </m:r>
                      </m:e>
                      <m:sub>
                        <m:r>
                          <a:rPr lang="en-US" sz="2400" b="0" i="1" smtClean="0">
                            <a:latin typeface="Cambria Math" panose="02040503050406030204" pitchFamily="18" charset="0"/>
                          </a:rPr>
                          <m:t>𝑖𝑛</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𝑒</m:t>
                        </m:r>
                      </m:e>
                      <m:sub>
                        <m:r>
                          <a:rPr lang="en-US" sz="2400" b="0" i="1" smtClean="0">
                            <a:latin typeface="Cambria Math" panose="02040503050406030204" pitchFamily="18" charset="0"/>
                          </a:rPr>
                          <m:t>𝑜𝑢𝑡</m:t>
                        </m:r>
                      </m:sub>
                    </m:sSub>
                  </m:oMath>
                </a14:m>
                <a:r>
                  <a:rPr lang="en-US" sz="2400" b="0" dirty="0"/>
                  <a:t> </a:t>
                </a:r>
              </a:p>
              <a:p>
                <a:r>
                  <a:rPr lang="en-US" sz="2400" b="0" dirty="0"/>
                  <a:t>(</a:t>
                </a:r>
                <a:r>
                  <a:rPr lang="en-US" sz="2400" dirty="0"/>
                  <a:t>steady-flow, and changes in kinetic and potential energies are negligible</a:t>
                </a:r>
                <a:r>
                  <a:rPr lang="en-US" sz="2400" b="0" dirty="0"/>
                  <a:t>)</a:t>
                </a:r>
              </a:p>
              <a:p>
                <a:endParaRPr lang="en-GB" sz="2400" dirty="0"/>
              </a:p>
              <a:p>
                <a:r>
                  <a:rPr lang="en-GB" sz="2400" dirty="0"/>
                  <a:t>Work required by the compressor: </a:t>
                </a:r>
                <a:r>
                  <a:rPr lang="en-NZ" sz="2400" i="1" dirty="0"/>
                  <a:t>w</a:t>
                </a:r>
                <a:r>
                  <a:rPr lang="en-NZ" sz="2400" i="1" baseline="-25000" dirty="0"/>
                  <a:t>in</a:t>
                </a:r>
                <a:r>
                  <a:rPr lang="en-NZ" sz="2400" i="1" dirty="0"/>
                  <a:t> ​=h</a:t>
                </a:r>
                <a:r>
                  <a:rPr lang="en-NZ" sz="2400" i="1" baseline="-25000" dirty="0"/>
                  <a:t>2</a:t>
                </a:r>
                <a:r>
                  <a:rPr lang="en-NZ" sz="2400" i="1" dirty="0"/>
                  <a:t>​−h</a:t>
                </a:r>
                <a:r>
                  <a:rPr lang="en-NZ" sz="2400" i="1" baseline="-25000" dirty="0"/>
                  <a:t>1 </a:t>
                </a:r>
                <a:r>
                  <a:rPr lang="en-NZ" sz="2400" dirty="0"/>
                  <a:t>​</a:t>
                </a:r>
                <a:r>
                  <a:rPr lang="en-GB" sz="2400" dirty="0"/>
                  <a:t>(Use table A-17)</a:t>
                </a:r>
              </a:p>
              <a:p>
                <a:endParaRPr lang="en-GB" sz="2400" dirty="0"/>
              </a:p>
              <a:p>
                <a:r>
                  <a:rPr lang="en-GB" sz="2400" dirty="0"/>
                  <a:t>Power required to drive the compressor: </a:t>
                </a:r>
                <a14:m>
                  <m:oMath xmlns:m="http://schemas.openxmlformats.org/officeDocument/2006/math">
                    <m:r>
                      <a:rPr lang="en-US" sz="2400" b="0" i="1" smtClean="0">
                        <a:latin typeface="Cambria Math" panose="02040503050406030204" pitchFamily="18" charset="0"/>
                      </a:rPr>
                      <m:t>𝑊</m:t>
                    </m:r>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𝑚</m:t>
                        </m:r>
                      </m:e>
                    </m:acc>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𝑐</m:t>
                        </m:r>
                      </m:sub>
                    </m:sSub>
                  </m:oMath>
                </a14:m>
                <a:endParaRPr lang="en-GB" sz="2400" dirty="0"/>
              </a:p>
            </p:txBody>
          </p:sp>
        </mc:Choice>
        <mc:Fallback>
          <p:sp>
            <p:nvSpPr>
              <p:cNvPr id="3" name="TextBox 2">
                <a:extLst>
                  <a:ext uri="{FF2B5EF4-FFF2-40B4-BE49-F238E27FC236}">
                    <a16:creationId xmlns:a16="http://schemas.microsoft.com/office/drawing/2014/main" id="{06D87666-F9AA-1BBD-F47E-FBEA5277A9D9}"/>
                  </a:ext>
                </a:extLst>
              </p:cNvPr>
              <p:cNvSpPr txBox="1">
                <a:spLocks noRot="1" noChangeAspect="1" noMove="1" noResize="1" noEditPoints="1" noAdjustHandles="1" noChangeArrowheads="1" noChangeShapeType="1" noTextEdit="1"/>
              </p:cNvSpPr>
              <p:nvPr/>
            </p:nvSpPr>
            <p:spPr>
              <a:xfrm>
                <a:off x="1467220" y="2452709"/>
                <a:ext cx="10660018" cy="2354171"/>
              </a:xfrm>
              <a:prstGeom prst="rect">
                <a:avLst/>
              </a:prstGeom>
              <a:blipFill>
                <a:blip r:embed="rId2"/>
                <a:stretch>
                  <a:fillRect l="-915" t="-1809" b="-3101"/>
                </a:stretch>
              </a:blipFill>
            </p:spPr>
            <p:txBody>
              <a:bodyPr/>
              <a:lstStyle/>
              <a:p>
                <a:r>
                  <a:rPr lang="en-NZ">
                    <a:noFill/>
                  </a:rPr>
                  <a:t> </a:t>
                </a:r>
              </a:p>
            </p:txBody>
          </p:sp>
        </mc:Fallback>
      </mc:AlternateContent>
    </p:spTree>
    <p:extLst>
      <p:ext uri="{BB962C8B-B14F-4D97-AF65-F5344CB8AC3E}">
        <p14:creationId xmlns:p14="http://schemas.microsoft.com/office/powerpoint/2010/main" val="885900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BCCA1-F00F-8E4F-0251-9C89E391B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CEFD6-6B99-CBBD-96CD-1D955E8A1927}"/>
              </a:ext>
            </a:extLst>
          </p:cNvPr>
          <p:cNvSpPr>
            <a:spLocks noGrp="1"/>
          </p:cNvSpPr>
          <p:nvPr>
            <p:ph type="title"/>
          </p:nvPr>
        </p:nvSpPr>
        <p:spPr>
          <a:xfrm>
            <a:off x="1432941" y="220802"/>
            <a:ext cx="7871459" cy="492443"/>
          </a:xfrm>
        </p:spPr>
        <p:txBody>
          <a:bodyPr/>
          <a:lstStyle/>
          <a:p>
            <a:r>
              <a:rPr lang="en-NZ" dirty="0"/>
              <a:t>Tutorial Question Q9</a:t>
            </a:r>
          </a:p>
        </p:txBody>
      </p:sp>
      <p:sp>
        <p:nvSpPr>
          <p:cNvPr id="4" name="TextBox 3">
            <a:extLst>
              <a:ext uri="{FF2B5EF4-FFF2-40B4-BE49-F238E27FC236}">
                <a16:creationId xmlns:a16="http://schemas.microsoft.com/office/drawing/2014/main" id="{0F73674E-3CD4-1F69-400B-B1E16CE18ECF}"/>
              </a:ext>
            </a:extLst>
          </p:cNvPr>
          <p:cNvSpPr txBox="1"/>
          <p:nvPr/>
        </p:nvSpPr>
        <p:spPr>
          <a:xfrm>
            <a:off x="1402460" y="914400"/>
            <a:ext cx="10789539" cy="1136721"/>
          </a:xfrm>
          <a:prstGeom prst="rect">
            <a:avLst/>
          </a:prstGeom>
          <a:noFill/>
        </p:spPr>
        <p:txBody>
          <a:bodyPr wrap="square">
            <a:spAutoFit/>
          </a:bodyPr>
          <a:lstStyle/>
          <a:p>
            <a:pPr algn="l">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Q9)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Refrigerant-134a </a:t>
            </a:r>
            <a:r>
              <a:rPr lang="en-NZ" sz="2000" kern="100" dirty="0">
                <a:effectLst/>
                <a:highlight>
                  <a:srgbClr val="FFFF00"/>
                </a:highlight>
                <a:latin typeface="Aptos" panose="020B0004020202020204" pitchFamily="34" charset="0"/>
                <a:ea typeface="DengXian" panose="02010600030101010101" pitchFamily="2" charset="-122"/>
                <a:cs typeface="Times New Roman" panose="02020603050405020304" pitchFamily="18" charset="0"/>
              </a:rPr>
              <a:t>is throttled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from the saturated liquid state at 700 kPa to a pressure of 160 kPa. Determine the temperature drop during this process and the final specific volume of the refrigerant. </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0D3CCC0-B89D-9809-5F78-D171F9A5CDE1}"/>
                  </a:ext>
                </a:extLst>
              </p:cNvPr>
              <p:cNvSpPr txBox="1"/>
              <p:nvPr/>
            </p:nvSpPr>
            <p:spPr>
              <a:xfrm>
                <a:off x="1467220" y="2438400"/>
                <a:ext cx="10660018" cy="3046988"/>
              </a:xfrm>
              <a:prstGeom prst="rect">
                <a:avLst/>
              </a:prstGeom>
              <a:noFill/>
            </p:spPr>
            <p:txBody>
              <a:bodyPr wrap="square" rtlCol="0">
                <a:spAutoFit/>
              </a:bodyPr>
              <a:lstStyle/>
              <a:p>
                <a:r>
                  <a:rPr lang="en-GB" sz="2400" dirty="0"/>
                  <a:t>A throttling valve is typically adiabatic and involves no work. </a:t>
                </a:r>
                <a:r>
                  <a:rPr lang="en-US" sz="2400" dirty="0"/>
                  <a:t>Changes in kinetic and potential energies are negligible. </a:t>
                </a:r>
                <a:endParaRPr lang="en-US" sz="2400" b="0" dirty="0"/>
              </a:p>
              <a:p>
                <a:endParaRPr lang="en-GB" sz="2400" dirty="0"/>
              </a:p>
              <a:p>
                <a:r>
                  <a:rPr lang="en-US" sz="2400" dirty="0"/>
                  <a:t>Under these conditions, a throttling process is isenthalpic, meaning the initial and final enthalpies are equal,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2</m:t>
                        </m:r>
                      </m:sub>
                    </m:sSub>
                  </m:oMath>
                </a14:m>
                <a:endParaRPr lang="en-US" sz="2400" b="0" dirty="0"/>
              </a:p>
              <a:p>
                <a:endParaRPr lang="en-GB" sz="2400" dirty="0"/>
              </a:p>
              <a:p>
                <a:r>
                  <a:rPr lang="en-GB" sz="2400" dirty="0"/>
                  <a:t>Identify the properties at initial and final states and then calculate the temperature drop and the specific volume (Table A-12).</a:t>
                </a:r>
              </a:p>
            </p:txBody>
          </p:sp>
        </mc:Choice>
        <mc:Fallback>
          <p:sp>
            <p:nvSpPr>
              <p:cNvPr id="5" name="TextBox 4">
                <a:extLst>
                  <a:ext uri="{FF2B5EF4-FFF2-40B4-BE49-F238E27FC236}">
                    <a16:creationId xmlns:a16="http://schemas.microsoft.com/office/drawing/2014/main" id="{B0D3CCC0-B89D-9809-5F78-D171F9A5CDE1}"/>
                  </a:ext>
                </a:extLst>
              </p:cNvPr>
              <p:cNvSpPr txBox="1">
                <a:spLocks noRot="1" noChangeAspect="1" noMove="1" noResize="1" noEditPoints="1" noAdjustHandles="1" noChangeArrowheads="1" noChangeShapeType="1" noTextEdit="1"/>
              </p:cNvSpPr>
              <p:nvPr/>
            </p:nvSpPr>
            <p:spPr>
              <a:xfrm>
                <a:off x="1467220" y="2438400"/>
                <a:ext cx="10660018" cy="3046988"/>
              </a:xfrm>
              <a:prstGeom prst="rect">
                <a:avLst/>
              </a:prstGeom>
              <a:blipFill>
                <a:blip r:embed="rId2"/>
                <a:stretch>
                  <a:fillRect l="-915" t="-1400" r="-286" b="-3800"/>
                </a:stretch>
              </a:blipFill>
            </p:spPr>
            <p:txBody>
              <a:bodyPr/>
              <a:lstStyle/>
              <a:p>
                <a:r>
                  <a:rPr lang="en-NZ">
                    <a:noFill/>
                  </a:rPr>
                  <a:t> </a:t>
                </a:r>
              </a:p>
            </p:txBody>
          </p:sp>
        </mc:Fallback>
      </mc:AlternateContent>
    </p:spTree>
    <p:extLst>
      <p:ext uri="{BB962C8B-B14F-4D97-AF65-F5344CB8AC3E}">
        <p14:creationId xmlns:p14="http://schemas.microsoft.com/office/powerpoint/2010/main" val="559715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48367-6805-9797-38D4-57BA447CA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ACFB2-711F-B631-CCC2-A5021601C5C4}"/>
              </a:ext>
            </a:extLst>
          </p:cNvPr>
          <p:cNvSpPr>
            <a:spLocks noGrp="1"/>
          </p:cNvSpPr>
          <p:nvPr>
            <p:ph type="title"/>
          </p:nvPr>
        </p:nvSpPr>
        <p:spPr>
          <a:xfrm>
            <a:off x="1432941" y="220802"/>
            <a:ext cx="7871459" cy="492443"/>
          </a:xfrm>
        </p:spPr>
        <p:txBody>
          <a:bodyPr/>
          <a:lstStyle/>
          <a:p>
            <a:r>
              <a:rPr lang="en-NZ" dirty="0"/>
              <a:t>Tutorial Question Q10</a:t>
            </a:r>
          </a:p>
        </p:txBody>
      </p:sp>
      <p:sp>
        <p:nvSpPr>
          <p:cNvPr id="4" name="TextBox 3">
            <a:extLst>
              <a:ext uri="{FF2B5EF4-FFF2-40B4-BE49-F238E27FC236}">
                <a16:creationId xmlns:a16="http://schemas.microsoft.com/office/drawing/2014/main" id="{B6D2EEA3-78D1-8FA3-6D9C-0F34D113D64D}"/>
              </a:ext>
            </a:extLst>
          </p:cNvPr>
          <p:cNvSpPr txBox="1"/>
          <p:nvPr/>
        </p:nvSpPr>
        <p:spPr>
          <a:xfrm>
            <a:off x="1402460" y="914400"/>
            <a:ext cx="10789539" cy="1136721"/>
          </a:xfrm>
          <a:prstGeom prst="rect">
            <a:avLst/>
          </a:prstGeom>
          <a:noFill/>
        </p:spPr>
        <p:txBody>
          <a:bodyPr wrap="square">
            <a:spAutoFit/>
          </a:bodyPr>
          <a:lstStyle/>
          <a:p>
            <a:pPr algn="l">
              <a:lnSpc>
                <a:spcPct val="115000"/>
              </a:lnSpc>
              <a:spcAft>
                <a:spcPts val="800"/>
              </a:spcAft>
              <a:buNone/>
            </a:pPr>
            <a:r>
              <a:rPr lang="en-NZ" sz="2000" b="1" kern="100" dirty="0">
                <a:effectLst/>
                <a:latin typeface="Aptos" panose="020B0004020202020204" pitchFamily="34" charset="0"/>
                <a:ea typeface="DengXian" panose="02010600030101010101" pitchFamily="2" charset="-122"/>
                <a:cs typeface="Times New Roman" panose="02020603050405020304" pitchFamily="18" charset="0"/>
              </a:rPr>
              <a:t>Q10) </a:t>
            </a:r>
            <a:r>
              <a:rPr lang="en-NZ" sz="2000" kern="100" dirty="0">
                <a:effectLst/>
                <a:latin typeface="Aptos" panose="020B0004020202020204" pitchFamily="34" charset="0"/>
                <a:ea typeface="DengXian" panose="02010600030101010101" pitchFamily="2" charset="-122"/>
                <a:cs typeface="Times New Roman" panose="02020603050405020304" pitchFamily="18" charset="0"/>
              </a:rPr>
              <a:t>Refrigerant-134a at 1 MPa and 90°C is to be cooled to 1 MPa and 30°C in a condenser by air. The air enters at 100 kPa and 27°C with a volume flow rate of 600 m /min and leaves 3 at 95 kPa and 60°C. Determine the mass flow rate of the refrigerant. </a:t>
            </a:r>
          </a:p>
        </p:txBody>
      </p:sp>
      <p:sp>
        <p:nvSpPr>
          <p:cNvPr id="3" name="TextBox 2">
            <a:extLst>
              <a:ext uri="{FF2B5EF4-FFF2-40B4-BE49-F238E27FC236}">
                <a16:creationId xmlns:a16="http://schemas.microsoft.com/office/drawing/2014/main" id="{D983D84F-C090-821E-D911-927F5327BDE3}"/>
              </a:ext>
            </a:extLst>
          </p:cNvPr>
          <p:cNvSpPr txBox="1"/>
          <p:nvPr/>
        </p:nvSpPr>
        <p:spPr>
          <a:xfrm>
            <a:off x="1411169" y="2337185"/>
            <a:ext cx="5519460" cy="369332"/>
          </a:xfrm>
          <a:prstGeom prst="rect">
            <a:avLst/>
          </a:prstGeom>
          <a:noFill/>
        </p:spPr>
        <p:txBody>
          <a:bodyPr wrap="none" rtlCol="0">
            <a:spAutoFit/>
          </a:bodyPr>
          <a:lstStyle/>
          <a:p>
            <a:r>
              <a:rPr lang="en-GB" b="1" dirty="0"/>
              <a:t>Energy balance on a steady-flow heat exchanger</a:t>
            </a:r>
          </a:p>
        </p:txBody>
      </p:sp>
      <p:sp>
        <p:nvSpPr>
          <p:cNvPr id="5" name="TextBox 4">
            <a:extLst>
              <a:ext uri="{FF2B5EF4-FFF2-40B4-BE49-F238E27FC236}">
                <a16:creationId xmlns:a16="http://schemas.microsoft.com/office/drawing/2014/main" id="{4A9072C7-5F64-6594-458A-6BBB7102B8F5}"/>
              </a:ext>
            </a:extLst>
          </p:cNvPr>
          <p:cNvSpPr txBox="1"/>
          <p:nvPr/>
        </p:nvSpPr>
        <p:spPr>
          <a:xfrm>
            <a:off x="1432941" y="2992581"/>
            <a:ext cx="9969396" cy="2031325"/>
          </a:xfrm>
          <a:prstGeom prst="rect">
            <a:avLst/>
          </a:prstGeom>
          <a:noFill/>
        </p:spPr>
        <p:txBody>
          <a:bodyPr wrap="none" rtlCol="0">
            <a:spAutoFit/>
          </a:bodyPr>
          <a:lstStyle/>
          <a:p>
            <a:r>
              <a:rPr lang="en-GB" dirty="0"/>
              <a:t>Calculate the mass flow rate of air, using the properties of R-134a in Table A-12 and Table A-13</a:t>
            </a:r>
          </a:p>
          <a:p>
            <a:endParaRPr lang="en-GB" dirty="0"/>
          </a:p>
          <a:p>
            <a:r>
              <a:rPr lang="en-GB" dirty="0"/>
              <a:t>Calculate the mass flow rate of air, using Table A-17.</a:t>
            </a:r>
          </a:p>
          <a:p>
            <a:endParaRPr lang="en-GB" dirty="0"/>
          </a:p>
          <a:p>
            <a:r>
              <a:rPr lang="en-GB" dirty="0"/>
              <a:t>Calculate the heat transfer rate into air, i.e. the heat lost rate from R-134a</a:t>
            </a:r>
          </a:p>
          <a:p>
            <a:endParaRPr lang="en-GB" dirty="0"/>
          </a:p>
          <a:p>
            <a:r>
              <a:rPr lang="en-GB" dirty="0"/>
              <a:t>Find out the mass flow rate of R-134a.</a:t>
            </a:r>
          </a:p>
        </p:txBody>
      </p:sp>
    </p:spTree>
    <p:extLst>
      <p:ext uri="{BB962C8B-B14F-4D97-AF65-F5344CB8AC3E}">
        <p14:creationId xmlns:p14="http://schemas.microsoft.com/office/powerpoint/2010/main" val="1277820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1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2868</TotalTime>
  <Words>1085</Words>
  <Application>Microsoft Office PowerPoint</Application>
  <PresentationFormat>Widescreen</PresentationFormat>
  <Paragraphs>73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Times New Roman</vt:lpstr>
      <vt:lpstr>Cambria Math</vt:lpstr>
      <vt:lpstr>Arial</vt:lpstr>
      <vt:lpstr>Calibri</vt:lpstr>
      <vt:lpstr>Aptos</vt:lpstr>
      <vt:lpstr>Office Theme</vt:lpstr>
      <vt:lpstr>PowerPoint Presentation</vt:lpstr>
      <vt:lpstr>Tutorial Questions (Week 5) Q1-Q10 Guidelines </vt:lpstr>
      <vt:lpstr>Tutorial Question Q1</vt:lpstr>
      <vt:lpstr>Tutorial Question Q2</vt:lpstr>
      <vt:lpstr>Tutorial Question Q3</vt:lpstr>
      <vt:lpstr>Tutorial Question Q4</vt:lpstr>
      <vt:lpstr>Tutorial Question Q5</vt:lpstr>
      <vt:lpstr>Tutorial Question Q6</vt:lpstr>
      <vt:lpstr>Tutorial Question Q7</vt:lpstr>
      <vt:lpstr>Tutorial Question Q8</vt:lpstr>
      <vt:lpstr>Tutorial Question Q9</vt:lpstr>
      <vt:lpstr>Tutorial Question Q10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Remko de Jong</dc:creator>
  <cp:lastModifiedBy>Jay Wang</cp:lastModifiedBy>
  <cp:revision>98</cp:revision>
  <dcterms:created xsi:type="dcterms:W3CDTF">2026-07-25T12:49:27Z</dcterms:created>
  <dcterms:modified xsi:type="dcterms:W3CDTF">2026-08-12T08:37:42Z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2025-08-02T00:00:00Z</vt:filetime>
  </property>
  <property fmtid="{D5CDD505-2E9C-101B-9397-08002B2CF9AE}" pid="3" name="Creator">
    <vt:lpwstr>Microsoft® PowerPoint® for Microsoft 365</vt:lpwstr>
  </property>
  <property fmtid="{D5CDD505-2E9C-101B-9397-08002B2CF9AE}" pid="4" name="LastSaved">
    <vt:filetime>2026-07-25T00:00:00Z</vt:filetime>
  </property>
  <property fmtid="{D5CDD505-2E9C-101B-9397-08002B2CF9AE}" pid="5" name="Producer">
    <vt:lpwstr>Microsoft® PowerPoint® for Microsoft 365</vt:lpwstr>
  </property>
</Properties>
</file>