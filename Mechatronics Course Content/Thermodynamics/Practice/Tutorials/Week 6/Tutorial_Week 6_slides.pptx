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9"/>
  </p:notesMasterIdLst>
  <p:sldIdLst>
    <p:sldId id="256" r:id="rId2"/>
    <p:sldId id="361" r:id="rId3"/>
    <p:sldId id="346" r:id="rId4"/>
    <p:sldId id="347" r:id="rId5"/>
    <p:sldId id="348" r:id="rId6"/>
    <p:sldId id="349" r:id="rId7"/>
    <p:sldId id="350" r:id="rId8"/>
  </p:sldIdLst>
  <p:sldSz cx="12192000" cy="6858000"/>
  <p:notesSz cx="12192000" cy="6858000"/>
  <p:embeddedFontLst>
    <p:embeddedFont>
      <p:font typeface="Cambria Math" panose="02040503050406030204" pitchFamily="18" charset="0"/>
      <p:regular r:id="rId10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93"/>
  </p:normalViewPr>
  <p:slideViewPr>
    <p:cSldViewPr>
      <p:cViewPr varScale="1">
        <p:scale>
          <a:sx n="101" d="100"/>
          <a:sy n="101" d="100"/>
        </p:scale>
        <p:origin x="858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3B1CBA-4DA3-4AD8-A43B-05B50A750C44}" type="datetimeFigureOut">
              <a:rPr lang="en-NZ" smtClean="0"/>
              <a:t>19/08/2026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1B2AA-5DB1-498A-A072-8E62DBE9B283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12085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11" y="0"/>
            <a:ext cx="12183888" cy="684988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78492" y="0"/>
            <a:ext cx="2007616" cy="199504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F0632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2941" y="3036315"/>
            <a:ext cx="6759575" cy="3504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3340112"/>
            <a:ext cx="9182100" cy="2773045"/>
          </a:xfrm>
          <a:prstGeom prst="rect">
            <a:avLst/>
          </a:prstGeom>
          <a:solidFill>
            <a:srgbClr val="F06320">
              <a:alpha val="79998"/>
            </a:srgbClr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05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840740">
              <a:lnSpc>
                <a:spcPct val="100000"/>
              </a:lnSpc>
              <a:spcBef>
                <a:spcPts val="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ENME601</a:t>
            </a:r>
            <a:r>
              <a:rPr sz="2800" b="1" spc="-1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Thermodynamics</a:t>
            </a:r>
            <a:endParaRPr sz="2800" dirty="0">
              <a:latin typeface="Calibri"/>
              <a:cs typeface="Calibri"/>
            </a:endParaRPr>
          </a:p>
          <a:p>
            <a:pPr marL="840740">
              <a:lnSpc>
                <a:spcPct val="100000"/>
              </a:lnSpc>
              <a:spcBef>
                <a:spcPts val="530"/>
              </a:spcBef>
              <a:tabLst>
                <a:tab pos="2115185" algn="l"/>
              </a:tabLst>
            </a:pPr>
            <a:r>
              <a:rPr lang="en-NZ" sz="2400" dirty="0">
                <a:solidFill>
                  <a:srgbClr val="FFFFFF"/>
                </a:solidFill>
                <a:latin typeface="Calibri"/>
                <a:cs typeface="Calibri"/>
              </a:rPr>
              <a:t>Tutorial Session </a:t>
            </a:r>
            <a:endParaRPr sz="24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</a:pPr>
            <a:endParaRPr sz="2400" dirty="0">
              <a:latin typeface="Calibri"/>
              <a:cs typeface="Calibri"/>
            </a:endParaRPr>
          </a:p>
          <a:p>
            <a:pPr marL="840740">
              <a:lnSpc>
                <a:spcPct val="100000"/>
              </a:lnSpc>
            </a:pP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Presenter</a:t>
            </a:r>
            <a:r>
              <a:rPr sz="2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400" spc="3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Dr.</a:t>
            </a:r>
            <a:r>
              <a:rPr sz="2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FFFFFF"/>
                </a:solidFill>
                <a:latin typeface="Calibri"/>
                <a:cs typeface="Calibri"/>
              </a:rPr>
              <a:t>Jay</a:t>
            </a:r>
            <a:r>
              <a:rPr sz="2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FFFFFF"/>
                </a:solidFill>
                <a:latin typeface="Calibri"/>
                <a:cs typeface="Calibri"/>
              </a:rPr>
              <a:t>Wang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D482-5519-C5F2-4976-9A76F93EA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0" y="2667000"/>
            <a:ext cx="8534400" cy="492443"/>
          </a:xfrm>
        </p:spPr>
        <p:txBody>
          <a:bodyPr/>
          <a:lstStyle/>
          <a:p>
            <a:r>
              <a:rPr lang="en-NZ" dirty="0"/>
              <a:t>Tutorial Questions (Week 6) Q1-Q5 Guidelines </a:t>
            </a:r>
          </a:p>
        </p:txBody>
      </p:sp>
    </p:spTree>
    <p:extLst>
      <p:ext uri="{BB962C8B-B14F-4D97-AF65-F5344CB8AC3E}">
        <p14:creationId xmlns:p14="http://schemas.microsoft.com/office/powerpoint/2010/main" val="306509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0E739-6D56-1543-E908-AB59EFD49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A4C9C8-286D-0352-4119-3E6BD6246414}"/>
              </a:ext>
            </a:extLst>
          </p:cNvPr>
          <p:cNvSpPr txBox="1"/>
          <p:nvPr/>
        </p:nvSpPr>
        <p:spPr>
          <a:xfrm>
            <a:off x="1406815" y="856124"/>
            <a:ext cx="10728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Q1) </a:t>
            </a:r>
            <a:r>
              <a:rPr lang="en-NZ" sz="2000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steam power plant with a power output of 150 MW consumes coal at a rate of 60 tons/h. If the heating value of the coal is 30,000 kJ/kg, determine the overall efficiency of this plant. </a:t>
            </a:r>
            <a:endParaRPr lang="en-GB" sz="2000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0BD91F-2D10-086D-17ED-709940D9FEF3}"/>
                  </a:ext>
                </a:extLst>
              </p:cNvPr>
              <p:cNvSpPr txBox="1"/>
              <p:nvPr/>
            </p:nvSpPr>
            <p:spPr>
              <a:xfrm>
                <a:off x="2819400" y="2895600"/>
                <a:ext cx="7697887" cy="6834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N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𝑎𝑐𝑡𝑢𝑎𝑙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NZ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𝑒𝑜𝑟𝑒𝑡𝑖𝑐𝑎𝑙</m:t>
                              </m:r>
                            </m:sub>
                          </m:sSub>
                        </m:den>
                      </m:f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N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N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𝑀𝑊</m:t>
                          </m:r>
                        </m:num>
                        <m:den>
                          <m:r>
                            <a:rPr lang="en-NZ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𝑀𝑊</m:t>
                          </m:r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B0BD91F-2D10-086D-17ED-709940D9F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2895600"/>
                <a:ext cx="7697887" cy="68345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94341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D7D3-E0E6-F0B6-79B3-EDE7F7A51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792C7-3694-0A16-6DA3-8A5CDF1E7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577A8-C87C-69EC-AF39-5214AC60C0E7}"/>
              </a:ext>
            </a:extLst>
          </p:cNvPr>
          <p:cNvSpPr txBox="1"/>
          <p:nvPr/>
        </p:nvSpPr>
        <p:spPr>
          <a:xfrm>
            <a:off x="1295400" y="1143000"/>
            <a:ext cx="10454259" cy="1136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Q2)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heat pump that is used to heat a house has a COP of 2.5. That is, the heat pump delivers 2.5 kWh of energy to the house for each 1 kWh of electricity it consumes. Is this a violation of the ﬁrst law of thermodynamics? Explain.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2A73DA-08BE-569B-C7DA-14507FF77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2514600"/>
            <a:ext cx="5715000" cy="393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2ECA5-2A94-EE81-8263-7EAE389A9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9ED07-D455-4696-CE50-264D26B83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1AFCC6-59E0-3194-B41C-76C28FD504DF}"/>
              </a:ext>
            </a:extLst>
          </p:cNvPr>
          <p:cNvSpPr txBox="1"/>
          <p:nvPr/>
        </p:nvSpPr>
        <p:spPr>
          <a:xfrm>
            <a:off x="1411604" y="1143000"/>
            <a:ext cx="10627995" cy="149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Q3)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 household refrigerator that has a power input of 450 W and a COP of 1.5 is to cool 5 large watermelons, 10 kg each, to 8°C. If the watermelons are initially at 28°C, determine how long it will take for the refrigerator to cool them. The watermelons can be treated as water whose speciﬁc heat is 4.2 kJ/kg·°C.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99C061-6635-C555-ED67-7333A6FEF451}"/>
                  </a:ext>
                </a:extLst>
              </p:cNvPr>
              <p:cNvSpPr txBox="1"/>
              <p:nvPr/>
            </p:nvSpPr>
            <p:spPr>
              <a:xfrm>
                <a:off x="5486400" y="2865853"/>
                <a:ext cx="1919435" cy="7449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𝐶𝑂𝑃</m:t>
                          </m:r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𝑟𝑒</m:t>
                          </m:r>
                        </m:sub>
                      </m:sSub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NZ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𝑐𝑜𝑜𝑙𝑖𝑛𝑔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𝑖𝑛𝑝𝑢𝑡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A99C061-6635-C555-ED67-7333A6FEF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0" y="2865853"/>
                <a:ext cx="1919435" cy="74494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809EFE-56B8-E2FA-ED9B-81817771C466}"/>
                  </a:ext>
                </a:extLst>
              </p:cNvPr>
              <p:cNvSpPr txBox="1"/>
              <p:nvPr/>
            </p:nvSpPr>
            <p:spPr>
              <a:xfrm>
                <a:off x="4305300" y="3934126"/>
                <a:ext cx="4495800" cy="39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NZ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𝑙𝑜𝑎𝑑</m:t>
                          </m:r>
                        </m:sub>
                      </m:sSub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𝑚</m:t>
                      </m:r>
                      <m:sSub>
                        <m:sSub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NZ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7809EFE-56B8-E2FA-ED9B-81817771C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300" y="3934126"/>
                <a:ext cx="4495800" cy="390748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9A5CA2-5BB1-9EA1-7A80-A10FEFDFBDDB}"/>
                  </a:ext>
                </a:extLst>
              </p:cNvPr>
              <p:cNvSpPr txBox="1"/>
              <p:nvPr/>
            </p:nvSpPr>
            <p:spPr>
              <a:xfrm>
                <a:off x="3505200" y="4724400"/>
                <a:ext cx="6096000" cy="7137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NZ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NZ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l-G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𝛥</m:t>
                          </m:r>
                          <m:sSub>
                            <m:sSubPr>
                              <m:ctrlPr>
                                <a:rPr lang="en-NZ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𝑙𝑜𝑎𝑑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NZ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𝑐𝑜𝑜𝑙𝑖𝑛𝑔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NZ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9A5CA2-5BB1-9EA1-7A80-A10FEFDFBD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4724400"/>
                <a:ext cx="6096000" cy="71378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761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A56E4-E7B3-ED67-731F-0B716636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06BD0-B83D-6344-D5F8-F1D88573A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381A7E-FF40-466A-F4D5-D0605EAA1112}"/>
              </a:ext>
            </a:extLst>
          </p:cNvPr>
          <p:cNvSpPr txBox="1"/>
          <p:nvPr/>
        </p:nvSpPr>
        <p:spPr>
          <a:xfrm>
            <a:off x="1404366" y="836937"/>
            <a:ext cx="10521315" cy="149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Q4) 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Refrigerant-134a enters the condenser of a residential heat pump at 800 kPa and 35°C at a rate of 0.018 kg/s and leaves at 800 kPa as a saturated liquid. If the compressor consumes 1.2 kW of power, determine (a) the COP of the heat pump and (b) the rate of heat absorption from the outside air.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8C9548-2F53-5B71-E0E2-5D363E21D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9369" y="1981200"/>
            <a:ext cx="3964531" cy="3048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899F95-CCC2-94CF-BE9C-C191C98EA0A7}"/>
                  </a:ext>
                </a:extLst>
              </p:cNvPr>
              <p:cNvSpPr txBox="1"/>
              <p:nvPr/>
            </p:nvSpPr>
            <p:spPr>
              <a:xfrm>
                <a:off x="1483769" y="2349033"/>
                <a:ext cx="6705600" cy="777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𝐶𝑂𝑃</m:t>
                      </m:r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NZ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NZ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h𝑒𝑎𝑡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NZ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NZ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𝑖𝑛𝑝𝑢𝑡</m:t>
                              </m:r>
                            </m:sub>
                          </m:sSub>
                        </m:den>
                      </m:f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NZ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̇"/>
                                  <m:ctrlPr>
                                    <a:rPr lang="en-NZ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NZ" b="0" i="1" smtClean="0">
                                      <a:highlight>
                                        <a:srgbClr val="FF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NZ" b="0" i="1" smtClean="0"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𝑖𝑛𝑝𝑢𝑡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NZ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0899F95-CCC2-94CF-BE9C-C191C98EA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769" y="2349033"/>
                <a:ext cx="6705600" cy="7776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41CFBC1-BD45-B690-B3BA-9C23A67CC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3169546"/>
            <a:ext cx="6019800" cy="21977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01B09C-63A2-8BCA-3552-138995599827}"/>
                  </a:ext>
                </a:extLst>
              </p:cNvPr>
              <p:cNvSpPr txBox="1"/>
              <p:nvPr/>
            </p:nvSpPr>
            <p:spPr>
              <a:xfrm>
                <a:off x="1981200" y="5562600"/>
                <a:ext cx="64008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NZ" dirty="0"/>
                  <a:t>Table A-12 - Saturated refrigerant R134A</a:t>
                </a:r>
              </a:p>
              <a:p>
                <a:endParaRPr lang="en-NZ" dirty="0"/>
              </a:p>
              <a:p>
                <a:r>
                  <a:rPr lang="en-NZ" dirty="0"/>
                  <a:t>Table A-13 – Superheated refrigerant R134A </a:t>
                </a:r>
                <a:r>
                  <a:rPr lang="en-NZ" dirty="0">
                    <a:highlight>
                      <a:srgbClr val="FFFF00"/>
                    </a:highlight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NZ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NZ" b="0" i="1" smtClean="0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NZ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NZ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</a:rPr>
                          <m:t>𝑠𝑎𝑡</m:t>
                        </m:r>
                      </m:sub>
                    </m:sSub>
                  </m:oMath>
                </a14:m>
                <a:r>
                  <a:rPr lang="en-NZ" dirty="0">
                    <a:highlight>
                      <a:srgbClr val="FFFF00"/>
                    </a:highlight>
                  </a:rPr>
                  <a:t>)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01B09C-63A2-8BCA-3552-138995599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200" y="5562600"/>
                <a:ext cx="6400800" cy="923330"/>
              </a:xfrm>
              <a:prstGeom prst="rect">
                <a:avLst/>
              </a:prstGeom>
              <a:blipFill>
                <a:blip r:embed="rId5"/>
                <a:stretch>
                  <a:fillRect l="-762" t="-3974" b="-9272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04CDF2-DF78-34B5-05A3-0F2D6917828D}"/>
                  </a:ext>
                </a:extLst>
              </p:cNvPr>
              <p:cNvSpPr txBox="1"/>
              <p:nvPr/>
            </p:nvSpPr>
            <p:spPr>
              <a:xfrm>
                <a:off x="8610600" y="5562600"/>
                <a:ext cx="2743200" cy="4057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NZ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NZ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acc>
                      </m:e>
                      <m:sub>
                        <m:r>
                          <a:rPr lang="en-NZ" b="1" i="1" smtClean="0">
                            <a:latin typeface="Cambria Math" panose="02040503050406030204" pitchFamily="18" charset="0"/>
                          </a:rPr>
                          <m:t>𝒄𝒐𝒐𝒍</m:t>
                        </m:r>
                      </m:sub>
                    </m:sSub>
                    <m:r>
                      <a:rPr lang="en-NZ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NZ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NZ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b="1" i="1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acc>
                      </m:e>
                      <m:sub>
                        <m:r>
                          <a:rPr lang="en-NZ" b="1" i="1" smtClean="0">
                            <a:latin typeface="Cambria Math" panose="02040503050406030204" pitchFamily="18" charset="0"/>
                          </a:rPr>
                          <m:t>𝒉𝒆𝒂𝒕</m:t>
                        </m:r>
                      </m:sub>
                    </m:sSub>
                    <m:r>
                      <a:rPr lang="en-NZ" b="1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NZ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NZ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NZ" b="1" i="1" smtClean="0">
                                <a:latin typeface="Cambria Math" panose="02040503050406030204" pitchFamily="18" charset="0"/>
                              </a:rPr>
                              <m:t>𝑾</m:t>
                            </m:r>
                          </m:e>
                        </m:acc>
                      </m:e>
                      <m:sub>
                        <m:r>
                          <a:rPr lang="en-NZ" b="1" i="1" smtClean="0">
                            <a:latin typeface="Cambria Math" panose="02040503050406030204" pitchFamily="18" charset="0"/>
                          </a:rPr>
                          <m:t>𝒊𝒏𝒑𝒖𝒕</m:t>
                        </m:r>
                      </m:sub>
                    </m:sSub>
                  </m:oMath>
                </a14:m>
                <a:endParaRPr lang="en-NZ" b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304CDF2-DF78-34B5-05A3-0F2D69178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600" y="5562600"/>
                <a:ext cx="2743200" cy="405752"/>
              </a:xfrm>
              <a:prstGeom prst="rect">
                <a:avLst/>
              </a:prstGeom>
              <a:blipFill>
                <a:blip r:embed="rId6"/>
                <a:stretch>
                  <a:fillRect l="-444" t="-6061" b="-166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693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5704A-36C9-D6A7-0506-1000A8EF0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DCA07-E689-9B59-A492-E5B508131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2941" y="220802"/>
            <a:ext cx="7871459" cy="492443"/>
          </a:xfrm>
        </p:spPr>
        <p:txBody>
          <a:bodyPr/>
          <a:lstStyle/>
          <a:p>
            <a:r>
              <a:rPr lang="en-NZ" dirty="0"/>
              <a:t>Tutorial Question Q5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7FAF3-9D0C-C586-34BC-8D27FE385334}"/>
              </a:ext>
            </a:extLst>
          </p:cNvPr>
          <p:cNvSpPr txBox="1"/>
          <p:nvPr/>
        </p:nvSpPr>
        <p:spPr>
          <a:xfrm>
            <a:off x="1219200" y="1066800"/>
            <a:ext cx="10820400" cy="1136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lang="en-NZ" sz="2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Q5)</a:t>
            </a:r>
            <a:r>
              <a:rPr lang="en-NZ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 Carnot heat engine operates between a source at 1000 K and a sink at 300 K. If the heat engine is supplied with heat at a rate of 800 kJ/min, determine (a) the thermal efficiency and (b) the power output of this heat engine.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687F09-CE30-F934-572C-0C74C75C773F}"/>
                  </a:ext>
                </a:extLst>
              </p:cNvPr>
              <p:cNvSpPr txBox="1"/>
              <p:nvPr/>
            </p:nvSpPr>
            <p:spPr>
              <a:xfrm>
                <a:off x="5638800" y="2667000"/>
                <a:ext cx="1458926" cy="5638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NZ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687F09-CE30-F934-572C-0C74C75C7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2667000"/>
                <a:ext cx="1458926" cy="5638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6D1C33-1821-A213-7D0C-1EE41FA4E7D6}"/>
                  </a:ext>
                </a:extLst>
              </p:cNvPr>
              <p:cNvSpPr txBox="1"/>
              <p:nvPr/>
            </p:nvSpPr>
            <p:spPr>
              <a:xfrm>
                <a:off x="5458975" y="3810000"/>
                <a:ext cx="1818575" cy="2875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NZ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</m:acc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en-NZ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NZ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̇"/>
                              <m:ctrlP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NZ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NZ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NZ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en-NZ" b="0" i="1" smtClean="0">
                              <a:latin typeface="Cambria Math" panose="02040503050406030204" pitchFamily="18" charset="0"/>
                            </a:rPr>
                            <m:t>𝑟𝑒𝑣</m:t>
                          </m:r>
                        </m:sub>
                      </m:sSub>
                    </m:oMath>
                  </m:oMathPara>
                </a14:m>
                <a:endParaRPr lang="en-NZ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86D1C33-1821-A213-7D0C-1EE41FA4E7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8975" y="3810000"/>
                <a:ext cx="1818575" cy="287515"/>
              </a:xfrm>
              <a:prstGeom prst="rect">
                <a:avLst/>
              </a:prstGeom>
              <a:blipFill>
                <a:blip r:embed="rId3"/>
                <a:stretch>
                  <a:fillRect l="-2349" t="-10638" b="-31915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0111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1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2967</TotalTime>
  <Words>388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Cambria Math</vt:lpstr>
      <vt:lpstr>Times New Roman</vt:lpstr>
      <vt:lpstr>Calibri</vt:lpstr>
      <vt:lpstr>Aptos</vt:lpstr>
      <vt:lpstr>Office Theme</vt:lpstr>
      <vt:lpstr>PowerPoint Presentation</vt:lpstr>
      <vt:lpstr>Tutorial Questions (Week 6) Q1-Q5 Guidelines </vt:lpstr>
      <vt:lpstr>Tutorial Question Q1</vt:lpstr>
      <vt:lpstr>Tutorial Question Q2</vt:lpstr>
      <vt:lpstr>Tutorial Question Q3</vt:lpstr>
      <vt:lpstr>Tutorial Question Q4</vt:lpstr>
      <vt:lpstr>Tutorial Question Q5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</dc:title>
  <dc:creator>Remko de Jong</dc:creator>
  <cp:lastModifiedBy>jay wang</cp:lastModifiedBy>
  <cp:revision>107</cp:revision>
  <dcterms:created xsi:type="dcterms:W3CDTF">2026-07-25T12:49:27Z</dcterms:created>
  <dcterms:modified xsi:type="dcterms:W3CDTF">2026-08-19T12:30:14Z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2025-08-02T00:00:00Z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2026-07-25T00:00:00Z</vt:filetime>
  </property>
  <property fmtid="{D5CDD505-2E9C-101B-9397-08002B2CF9AE}" pid="5" name="Producer">
    <vt:lpwstr>Microsoft® PowerPoint® for Microsoft 365</vt:lpwstr>
  </property>
</Properties>
</file>